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 id="2147483663" r:id="rId5"/>
    <p:sldMasterId id="2147483668" r:id="rId6"/>
  </p:sldMasterIdLst>
  <p:notesMasterIdLst>
    <p:notesMasterId r:id="rId25"/>
  </p:notesMasterIdLst>
  <p:sldIdLst>
    <p:sldId id="494" r:id="rId7"/>
    <p:sldId id="495" r:id="rId8"/>
    <p:sldId id="500" r:id="rId9"/>
    <p:sldId id="501" r:id="rId10"/>
    <p:sldId id="502" r:id="rId11"/>
    <p:sldId id="503" r:id="rId12"/>
    <p:sldId id="505" r:id="rId13"/>
    <p:sldId id="506" r:id="rId14"/>
    <p:sldId id="507" r:id="rId15"/>
    <p:sldId id="508" r:id="rId16"/>
    <p:sldId id="509" r:id="rId17"/>
    <p:sldId id="510" r:id="rId18"/>
    <p:sldId id="511" r:id="rId19"/>
    <p:sldId id="513" r:id="rId20"/>
    <p:sldId id="514" r:id="rId21"/>
    <p:sldId id="515" r:id="rId22"/>
    <p:sldId id="516" r:id="rId23"/>
    <p:sldId id="517" r:id="rId24"/>
  </p:sldIdLst>
  <p:sldSz cx="9144000" cy="5143500" type="screen16x9"/>
  <p:notesSz cx="9144000" cy="6858000"/>
  <p:embeddedFontLst>
    <p:embeddedFont>
      <p:font typeface="Montserrat" panose="00000500000000000000" pitchFamily="2" charset="0"/>
      <p:regular r:id="rId26"/>
      <p:bold r:id="rId27"/>
      <p:italic r:id="rId28"/>
      <p:boldItalic r:id="rId29"/>
    </p:embeddedFont>
    <p:embeddedFont>
      <p:font typeface="Montserrat-Bold" panose="020B0604020202020204" charset="0"/>
      <p:bold r:id="rId30"/>
    </p:embeddedFont>
    <p:embeddedFont>
      <p:font typeface="Montserrat-Regular" panose="020B0604020202020204" charset="0"/>
      <p:regular r:id="rId31"/>
    </p:embeddedFont>
    <p:embeddedFont>
      <p:font typeface="Myriad Pro Cond" panose="020B0706030403020204" charset="0"/>
      <p:bold r:id="rId32"/>
    </p:embeddedFont>
  </p:embeddedFontLst>
  <p:defaultText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01DAFFF-1B7C-425E-AC88-7F064F3F8204}" v="40" dt="2026-04-14T12:18:28.110"/>
  </p1510:revLst>
</p1510:revInfo>
</file>

<file path=ppt/tableStyles.xml><?xml version="1.0" encoding="utf-8"?>
<a:tblStyleLst xmlns:a="http://schemas.openxmlformats.org/drawingml/2006/main" def="{5C22544A-7EE6-4342-B048-85BDC9FD1C3A}">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73" autoAdjust="0"/>
    <p:restoredTop sz="94732" autoAdjust="0"/>
  </p:normalViewPr>
  <p:slideViewPr>
    <p:cSldViewPr snapToGrid="0" snapToObjects="1">
      <p:cViewPr>
        <p:scale>
          <a:sx n="125" d="100"/>
          <a:sy n="125" d="100"/>
        </p:scale>
        <p:origin x="792" y="324"/>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1.fntdata"/><Relationship Id="rId21" Type="http://schemas.openxmlformats.org/officeDocument/2006/relationships/slide" Target="slides/slide15.xml"/><Relationship Id="rId34"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font" Target="fonts/font4.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font" Target="fonts/font7.fntdata"/><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6.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DD9ACDF3-80D7-4D22-BC7E-8E874E07A07B}" type="datetimeFigureOut">
              <a:rPr lang="fr-FR" smtClean="0"/>
              <a:t>14/04/2026</a:t>
            </a:fld>
            <a:endParaRPr lang="fr-FR"/>
          </a:p>
        </p:txBody>
      </p:sp>
      <p:sp>
        <p:nvSpPr>
          <p:cNvPr id="4" name="Espace réservé de l'image des diapositives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fr-FR"/>
              <a:t>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03AFD9FD-4244-4D2B-AE75-DF61B8E2CFA5}" type="slidenum">
              <a:rPr lang="fr-FR" smtClean="0"/>
              <a:t>‹N°›</a:t>
            </a:fld>
            <a:endParaRPr lang="fr-FR"/>
          </a:p>
        </p:txBody>
      </p:sp>
    </p:spTree>
    <p:extLst>
      <p:ext uri="{BB962C8B-B14F-4D97-AF65-F5344CB8AC3E}">
        <p14:creationId xmlns:p14="http://schemas.microsoft.com/office/powerpoint/2010/main" val="2036209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
    <p:spTree>
      <p:nvGrpSpPr>
        <p:cNvPr id="1" name=""/>
        <p:cNvGrpSpPr/>
        <p:nvPr/>
      </p:nvGrpSpPr>
      <p:grpSpPr>
        <a:xfrm>
          <a:off x="0" y="0"/>
          <a:ext cx="0" cy="0"/>
          <a:chOff x="0" y="0"/>
          <a:chExt cx="0" cy="0"/>
        </a:xfrm>
      </p:grpSpPr>
      <p:sp>
        <p:nvSpPr>
          <p:cNvPr id="3" name="Espace réservé du titre 1"/>
          <p:cNvSpPr>
            <a:spLocks noGrp="1"/>
          </p:cNvSpPr>
          <p:nvPr>
            <p:ph type="title" hasCustomPrompt="1"/>
          </p:nvPr>
        </p:nvSpPr>
        <p:spPr>
          <a:xfrm>
            <a:off x="3224172" y="2490390"/>
            <a:ext cx="5919837" cy="415498"/>
          </a:xfrm>
          <a:prstGeom prst="rect">
            <a:avLst/>
          </a:prstGeom>
          <a:noFill/>
        </p:spPr>
        <p:txBody>
          <a:bodyPr wrap="square" rtlCol="0">
            <a:spAutoFit/>
          </a:bodyPr>
          <a:lstStyle>
            <a:lvl1pPr>
              <a:defRPr/>
            </a:lvl1pPr>
          </a:lstStyle>
          <a:p>
            <a:pPr marL="0" lvl="0" algn="l" defTabSz="342900">
              <a:lnSpc>
                <a:spcPct val="70000"/>
              </a:lnSpc>
            </a:pPr>
            <a:r>
              <a:rPr lang="fr-FR" dirty="0"/>
              <a:t>Modifiez le style du titre</a:t>
            </a:r>
            <a:endParaRPr lang="en-US" dirty="0"/>
          </a:p>
        </p:txBody>
      </p:sp>
    </p:spTree>
    <p:extLst>
      <p:ext uri="{BB962C8B-B14F-4D97-AF65-F5344CB8AC3E}">
        <p14:creationId xmlns:p14="http://schemas.microsoft.com/office/powerpoint/2010/main" val="1370676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generique-chapitre-contenu texte">
    <p:spTree>
      <p:nvGrpSpPr>
        <p:cNvPr id="1" name=""/>
        <p:cNvGrpSpPr/>
        <p:nvPr/>
      </p:nvGrpSpPr>
      <p:grpSpPr>
        <a:xfrm>
          <a:off x="0" y="0"/>
          <a:ext cx="0" cy="0"/>
          <a:chOff x="0" y="0"/>
          <a:chExt cx="0" cy="0"/>
        </a:xfrm>
      </p:grpSpPr>
      <p:sp>
        <p:nvSpPr>
          <p:cNvPr id="6" name="Espace réservé du titre 1"/>
          <p:cNvSpPr>
            <a:spLocks noGrp="1"/>
          </p:cNvSpPr>
          <p:nvPr>
            <p:ph type="title"/>
          </p:nvPr>
        </p:nvSpPr>
        <p:spPr>
          <a:xfrm>
            <a:off x="3294622" y="1109431"/>
            <a:ext cx="5739898" cy="528606"/>
          </a:xfrm>
          <a:prstGeom prst="rect">
            <a:avLst/>
          </a:prstGeom>
          <a:noFill/>
        </p:spPr>
        <p:txBody>
          <a:bodyPr wrap="square" rtlCol="0">
            <a:spAutoFit/>
          </a:bodyPr>
          <a:lstStyle>
            <a:lvl1pPr>
              <a:defRPr sz="4050">
                <a:solidFill>
                  <a:schemeClr val="accent1"/>
                </a:solidFill>
              </a:defRPr>
            </a:lvl1pPr>
          </a:lstStyle>
          <a:p>
            <a:pPr marL="0" lvl="0" algn="l">
              <a:lnSpc>
                <a:spcPct val="70000"/>
              </a:lnSpc>
            </a:pPr>
            <a:r>
              <a:rPr lang="fr-FR" dirty="0"/>
              <a:t>Modifiez le style du titre</a:t>
            </a:r>
            <a:endParaRPr lang="en-US" dirty="0"/>
          </a:p>
        </p:txBody>
      </p:sp>
      <p:sp>
        <p:nvSpPr>
          <p:cNvPr id="11" name="Espace réservé du texte 10"/>
          <p:cNvSpPr>
            <a:spLocks noGrp="1"/>
          </p:cNvSpPr>
          <p:nvPr>
            <p:ph type="body" sz="quarter" idx="10"/>
          </p:nvPr>
        </p:nvSpPr>
        <p:spPr>
          <a:xfrm>
            <a:off x="4948238" y="1905000"/>
            <a:ext cx="4094162" cy="1357313"/>
          </a:xfrm>
          <a:prstGeom prst="rect">
            <a:avLst/>
          </a:prstGeom>
        </p:spPr>
        <p:txBody>
          <a:bodyPr vert="horz"/>
          <a:lstStyle>
            <a:lvl1pPr>
              <a:defRPr>
                <a:latin typeface="Montserrat-Bold"/>
              </a:defRPr>
            </a:lvl1pPr>
            <a:lvl2pPr>
              <a:defRPr>
                <a:latin typeface="Montserrat-Regular"/>
              </a:defRPr>
            </a:lvl2pPr>
            <a:lvl3pPr>
              <a:defRPr>
                <a:latin typeface="Montserrat-Regular"/>
              </a:defRPr>
            </a:lvl3pPr>
          </a:lstStyle>
          <a:p>
            <a:pPr lvl="0"/>
            <a:r>
              <a:rPr lang="fr-FR" dirty="0"/>
              <a:t>Cliquez pour modifier les styles du texte du masque</a:t>
            </a:r>
          </a:p>
          <a:p>
            <a:pPr lvl="1"/>
            <a:r>
              <a:rPr lang="fr-FR" dirty="0"/>
              <a:t>Deuxième niveau</a:t>
            </a:r>
          </a:p>
          <a:p>
            <a:pPr lvl="2"/>
            <a:r>
              <a:rPr lang="fr-FR" dirty="0"/>
              <a:t>Troisième niveau</a:t>
            </a:r>
          </a:p>
        </p:txBody>
      </p:sp>
    </p:spTree>
    <p:extLst>
      <p:ext uri="{BB962C8B-B14F-4D97-AF65-F5344CB8AC3E}">
        <p14:creationId xmlns:p14="http://schemas.microsoft.com/office/powerpoint/2010/main" val="12583617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ique-chapitre-contenu image">
    <p:spTree>
      <p:nvGrpSpPr>
        <p:cNvPr id="1" name=""/>
        <p:cNvGrpSpPr/>
        <p:nvPr/>
      </p:nvGrpSpPr>
      <p:grpSpPr>
        <a:xfrm>
          <a:off x="0" y="0"/>
          <a:ext cx="0" cy="0"/>
          <a:chOff x="0" y="0"/>
          <a:chExt cx="0" cy="0"/>
        </a:xfrm>
      </p:grpSpPr>
      <p:sp>
        <p:nvSpPr>
          <p:cNvPr id="6" name="Espace réservé pour une image  5"/>
          <p:cNvSpPr>
            <a:spLocks noGrp="1"/>
          </p:cNvSpPr>
          <p:nvPr>
            <p:ph type="pic" sz="quarter" idx="10"/>
          </p:nvPr>
        </p:nvSpPr>
        <p:spPr>
          <a:xfrm>
            <a:off x="5013325" y="1916113"/>
            <a:ext cx="4130675" cy="854075"/>
          </a:xfrm>
          <a:prstGeom prst="rect">
            <a:avLst/>
          </a:prstGeom>
        </p:spPr>
        <p:txBody>
          <a:bodyPr vert="horz"/>
          <a:lstStyle/>
          <a:p>
            <a:endParaRPr lang="fr-FR"/>
          </a:p>
        </p:txBody>
      </p:sp>
      <p:sp>
        <p:nvSpPr>
          <p:cNvPr id="9" name="Espace réservé du titre 1"/>
          <p:cNvSpPr>
            <a:spLocks noGrp="1"/>
          </p:cNvSpPr>
          <p:nvPr>
            <p:ph type="title"/>
          </p:nvPr>
        </p:nvSpPr>
        <p:spPr>
          <a:xfrm>
            <a:off x="3294622" y="1109431"/>
            <a:ext cx="5739898" cy="528606"/>
          </a:xfrm>
          <a:prstGeom prst="rect">
            <a:avLst/>
          </a:prstGeom>
          <a:noFill/>
        </p:spPr>
        <p:txBody>
          <a:bodyPr wrap="square" rtlCol="0">
            <a:spAutoFit/>
          </a:bodyPr>
          <a:lstStyle>
            <a:lvl1pPr>
              <a:defRPr sz="4050">
                <a:solidFill>
                  <a:schemeClr val="accent1"/>
                </a:solidFill>
              </a:defRPr>
            </a:lvl1pPr>
          </a:lstStyle>
          <a:p>
            <a:pPr marL="0" lvl="0" algn="l">
              <a:lnSpc>
                <a:spcPct val="70000"/>
              </a:lnSpc>
            </a:pPr>
            <a:r>
              <a:rPr lang="fr-FR" dirty="0"/>
              <a:t>Modifiez le style du titre</a:t>
            </a:r>
            <a:endParaRPr lang="en-US" dirty="0"/>
          </a:p>
        </p:txBody>
      </p:sp>
    </p:spTree>
    <p:extLst>
      <p:ext uri="{BB962C8B-B14F-4D97-AF65-F5344CB8AC3E}">
        <p14:creationId xmlns:p14="http://schemas.microsoft.com/office/powerpoint/2010/main" val="37810663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nerique-chapitre-contenu graphique">
    <p:spTree>
      <p:nvGrpSpPr>
        <p:cNvPr id="1" name=""/>
        <p:cNvGrpSpPr/>
        <p:nvPr/>
      </p:nvGrpSpPr>
      <p:grpSpPr>
        <a:xfrm>
          <a:off x="0" y="0"/>
          <a:ext cx="0" cy="0"/>
          <a:chOff x="0" y="0"/>
          <a:chExt cx="0" cy="0"/>
        </a:xfrm>
      </p:grpSpPr>
      <p:sp>
        <p:nvSpPr>
          <p:cNvPr id="5" name="Espace réservé du graphique 4"/>
          <p:cNvSpPr>
            <a:spLocks noGrp="1"/>
          </p:cNvSpPr>
          <p:nvPr>
            <p:ph type="chart" sz="quarter" idx="10"/>
          </p:nvPr>
        </p:nvSpPr>
        <p:spPr>
          <a:xfrm>
            <a:off x="5024438" y="1916113"/>
            <a:ext cx="3930650" cy="1084262"/>
          </a:xfrm>
          <a:prstGeom prst="rect">
            <a:avLst/>
          </a:prstGeom>
        </p:spPr>
        <p:txBody>
          <a:bodyPr vert="horz"/>
          <a:lstStyle/>
          <a:p>
            <a:endParaRPr lang="fr-FR"/>
          </a:p>
        </p:txBody>
      </p:sp>
      <p:sp>
        <p:nvSpPr>
          <p:cNvPr id="6" name="Espace réservé du titre 1"/>
          <p:cNvSpPr>
            <a:spLocks noGrp="1"/>
          </p:cNvSpPr>
          <p:nvPr>
            <p:ph type="title"/>
          </p:nvPr>
        </p:nvSpPr>
        <p:spPr>
          <a:xfrm>
            <a:off x="3294622" y="1109431"/>
            <a:ext cx="5739898" cy="528606"/>
          </a:xfrm>
          <a:prstGeom prst="rect">
            <a:avLst/>
          </a:prstGeom>
          <a:noFill/>
        </p:spPr>
        <p:txBody>
          <a:bodyPr wrap="square" rtlCol="0">
            <a:spAutoFit/>
          </a:bodyPr>
          <a:lstStyle>
            <a:lvl1pPr>
              <a:defRPr sz="4050">
                <a:solidFill>
                  <a:schemeClr val="accent1"/>
                </a:solidFill>
              </a:defRPr>
            </a:lvl1pPr>
          </a:lstStyle>
          <a:p>
            <a:pPr marL="0" lvl="0" algn="l">
              <a:lnSpc>
                <a:spcPct val="70000"/>
              </a:lnSpc>
            </a:pPr>
            <a:r>
              <a:rPr lang="fr-FR" dirty="0"/>
              <a:t>Modifiez le style du titre</a:t>
            </a:r>
            <a:endParaRPr lang="en-US" dirty="0"/>
          </a:p>
        </p:txBody>
      </p:sp>
    </p:spTree>
    <p:extLst>
      <p:ext uri="{BB962C8B-B14F-4D97-AF65-F5344CB8AC3E}">
        <p14:creationId xmlns:p14="http://schemas.microsoft.com/office/powerpoint/2010/main" val="26211087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generique-chapitre-contenu media">
    <p:spTree>
      <p:nvGrpSpPr>
        <p:cNvPr id="1" name=""/>
        <p:cNvGrpSpPr/>
        <p:nvPr/>
      </p:nvGrpSpPr>
      <p:grpSpPr>
        <a:xfrm>
          <a:off x="0" y="0"/>
          <a:ext cx="0" cy="0"/>
          <a:chOff x="0" y="0"/>
          <a:chExt cx="0" cy="0"/>
        </a:xfrm>
      </p:grpSpPr>
      <p:sp>
        <p:nvSpPr>
          <p:cNvPr id="3" name="Espace réservé du titre 1"/>
          <p:cNvSpPr>
            <a:spLocks noGrp="1"/>
          </p:cNvSpPr>
          <p:nvPr>
            <p:ph type="title"/>
          </p:nvPr>
        </p:nvSpPr>
        <p:spPr>
          <a:xfrm>
            <a:off x="3294622" y="1109431"/>
            <a:ext cx="5739898" cy="528606"/>
          </a:xfrm>
          <a:prstGeom prst="rect">
            <a:avLst/>
          </a:prstGeom>
          <a:noFill/>
        </p:spPr>
        <p:txBody>
          <a:bodyPr wrap="square" rtlCol="0">
            <a:spAutoFit/>
          </a:bodyPr>
          <a:lstStyle>
            <a:lvl1pPr>
              <a:defRPr sz="4050">
                <a:solidFill>
                  <a:schemeClr val="accent1"/>
                </a:solidFill>
              </a:defRPr>
            </a:lvl1pPr>
          </a:lstStyle>
          <a:p>
            <a:pPr marL="0" lvl="0" algn="l">
              <a:lnSpc>
                <a:spcPct val="70000"/>
              </a:lnSpc>
            </a:pPr>
            <a:r>
              <a:rPr lang="fr-FR" dirty="0"/>
              <a:t>Modifiez le style du titre</a:t>
            </a:r>
            <a:endParaRPr lang="en-US" dirty="0"/>
          </a:p>
        </p:txBody>
      </p:sp>
      <p:sp>
        <p:nvSpPr>
          <p:cNvPr id="5" name="Espace réservé de l'élément multimédia 4"/>
          <p:cNvSpPr>
            <a:spLocks noGrp="1"/>
          </p:cNvSpPr>
          <p:nvPr>
            <p:ph type="media" sz="quarter" idx="10"/>
          </p:nvPr>
        </p:nvSpPr>
        <p:spPr>
          <a:xfrm>
            <a:off x="4981575" y="1893888"/>
            <a:ext cx="4052888" cy="1665287"/>
          </a:xfrm>
          <a:prstGeom prst="rect">
            <a:avLst/>
          </a:prstGeom>
        </p:spPr>
        <p:txBody>
          <a:bodyPr vert="horz"/>
          <a:lstStyle/>
          <a:p>
            <a:endParaRPr lang="fr-FR"/>
          </a:p>
        </p:txBody>
      </p:sp>
    </p:spTree>
    <p:extLst>
      <p:ext uri="{BB962C8B-B14F-4D97-AF65-F5344CB8AC3E}">
        <p14:creationId xmlns:p14="http://schemas.microsoft.com/office/powerpoint/2010/main" val="2051984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generique-contenu texte">
    <p:spTree>
      <p:nvGrpSpPr>
        <p:cNvPr id="1" name=""/>
        <p:cNvGrpSpPr/>
        <p:nvPr/>
      </p:nvGrpSpPr>
      <p:grpSpPr>
        <a:xfrm>
          <a:off x="0" y="0"/>
          <a:ext cx="0" cy="0"/>
          <a:chOff x="0" y="0"/>
          <a:chExt cx="0" cy="0"/>
        </a:xfrm>
      </p:grpSpPr>
      <p:sp>
        <p:nvSpPr>
          <p:cNvPr id="5" name="Espace réservé du texte 2"/>
          <p:cNvSpPr>
            <a:spLocks noGrp="1"/>
          </p:cNvSpPr>
          <p:nvPr>
            <p:ph idx="1"/>
          </p:nvPr>
        </p:nvSpPr>
        <p:spPr>
          <a:xfrm>
            <a:off x="1692000" y="1620000"/>
            <a:ext cx="6852030" cy="840230"/>
          </a:xfrm>
          <a:prstGeom prst="rect">
            <a:avLst/>
          </a:prstGeom>
          <a:noFill/>
        </p:spPr>
        <p:txBody>
          <a:bodyPr wrap="square" rtlCol="0">
            <a:spAutoFit/>
          </a:bodyPr>
          <a:lstStyle/>
          <a:p>
            <a:pPr marL="0" lvl="0"/>
            <a:r>
              <a:rPr lang="fr-FR"/>
              <a:t>Modifier les styles du texte du masque</a:t>
            </a:r>
          </a:p>
          <a:p>
            <a:pPr marL="0" lvl="1"/>
            <a:r>
              <a:rPr lang="fr-FR"/>
              <a:t>Deuxième niveau</a:t>
            </a:r>
          </a:p>
          <a:p>
            <a:pPr marL="0" lvl="2"/>
            <a:r>
              <a:rPr lang="fr-FR"/>
              <a:t>Troisième niveau</a:t>
            </a:r>
          </a:p>
        </p:txBody>
      </p:sp>
      <p:sp>
        <p:nvSpPr>
          <p:cNvPr id="6" name="Espace réservé du titre 1"/>
          <p:cNvSpPr>
            <a:spLocks noGrp="1"/>
          </p:cNvSpPr>
          <p:nvPr>
            <p:ph type="title"/>
          </p:nvPr>
        </p:nvSpPr>
        <p:spPr>
          <a:xfrm>
            <a:off x="1692000" y="468000"/>
            <a:ext cx="6852031" cy="528606"/>
          </a:xfrm>
          <a:prstGeom prst="rect">
            <a:avLst/>
          </a:prstGeom>
          <a:noFill/>
        </p:spPr>
        <p:txBody>
          <a:bodyPr wrap="square" rtlCol="0">
            <a:spAutoFit/>
          </a:bodyPr>
          <a:lstStyle>
            <a:lvl1pPr algn="l">
              <a:defRPr/>
            </a:lvl1pPr>
          </a:lstStyle>
          <a:p>
            <a:pPr marL="0" lvl="0" algn="l">
              <a:lnSpc>
                <a:spcPct val="70000"/>
              </a:lnSpc>
            </a:pPr>
            <a:r>
              <a:rPr lang="fr-FR"/>
              <a:t>Modifiez le style du titre</a:t>
            </a:r>
            <a:endParaRPr lang="en-US" dirty="0"/>
          </a:p>
        </p:txBody>
      </p:sp>
    </p:spTree>
    <p:extLst>
      <p:ext uri="{BB962C8B-B14F-4D97-AF65-F5344CB8AC3E}">
        <p14:creationId xmlns:p14="http://schemas.microsoft.com/office/powerpoint/2010/main" val="31510132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ique-contenu texte et image">
    <p:spTree>
      <p:nvGrpSpPr>
        <p:cNvPr id="1" name=""/>
        <p:cNvGrpSpPr/>
        <p:nvPr/>
      </p:nvGrpSpPr>
      <p:grpSpPr>
        <a:xfrm>
          <a:off x="0" y="0"/>
          <a:ext cx="0" cy="0"/>
          <a:chOff x="0" y="0"/>
          <a:chExt cx="0" cy="0"/>
        </a:xfrm>
      </p:grpSpPr>
      <p:sp>
        <p:nvSpPr>
          <p:cNvPr id="3" name="Espace réservé pour une image  2"/>
          <p:cNvSpPr>
            <a:spLocks noGrp="1"/>
          </p:cNvSpPr>
          <p:nvPr>
            <p:ph type="pic" sz="quarter" idx="10" hasCustomPrompt="1"/>
          </p:nvPr>
        </p:nvSpPr>
        <p:spPr>
          <a:xfrm>
            <a:off x="5016370" y="1613532"/>
            <a:ext cx="3633218" cy="369332"/>
          </a:xfrm>
        </p:spPr>
        <p:txBody>
          <a:bodyPr/>
          <a:lstStyle/>
          <a:p>
            <a:r>
              <a:rPr lang="fr-FR" dirty="0"/>
              <a:t> Image</a:t>
            </a:r>
            <a:endParaRPr lang="en-US" dirty="0"/>
          </a:p>
        </p:txBody>
      </p:sp>
      <p:sp>
        <p:nvSpPr>
          <p:cNvPr id="5" name="Espace réservé du titre 1"/>
          <p:cNvSpPr>
            <a:spLocks noGrp="1"/>
          </p:cNvSpPr>
          <p:nvPr>
            <p:ph type="title"/>
          </p:nvPr>
        </p:nvSpPr>
        <p:spPr>
          <a:xfrm>
            <a:off x="1692000" y="468000"/>
            <a:ext cx="6957588" cy="528606"/>
          </a:xfrm>
          <a:prstGeom prst="rect">
            <a:avLst/>
          </a:prstGeom>
          <a:noFill/>
        </p:spPr>
        <p:txBody>
          <a:bodyPr wrap="square" rtlCol="0">
            <a:spAutoFit/>
          </a:bodyPr>
          <a:lstStyle>
            <a:lvl1pPr algn="l">
              <a:defRPr/>
            </a:lvl1pPr>
          </a:lstStyle>
          <a:p>
            <a:pPr marL="0" lvl="0" algn="l">
              <a:lnSpc>
                <a:spcPct val="70000"/>
              </a:lnSpc>
            </a:pPr>
            <a:r>
              <a:rPr lang="fr-FR"/>
              <a:t>Modifiez le style du titre</a:t>
            </a:r>
            <a:endParaRPr lang="en-US" dirty="0"/>
          </a:p>
        </p:txBody>
      </p:sp>
      <p:sp>
        <p:nvSpPr>
          <p:cNvPr id="6" name="Espace réservé du texte 2"/>
          <p:cNvSpPr>
            <a:spLocks noGrp="1"/>
          </p:cNvSpPr>
          <p:nvPr>
            <p:ph idx="1"/>
          </p:nvPr>
        </p:nvSpPr>
        <p:spPr>
          <a:xfrm>
            <a:off x="1692000" y="1620000"/>
            <a:ext cx="2922597" cy="1117229"/>
          </a:xfrm>
          <a:prstGeom prst="rect">
            <a:avLst/>
          </a:prstGeom>
          <a:noFill/>
        </p:spPr>
        <p:txBody>
          <a:bodyPr wrap="square" rtlCol="0">
            <a:spAutoFit/>
          </a:bodyPr>
          <a:lstStyle/>
          <a:p>
            <a:pPr marL="0" lvl="0"/>
            <a:r>
              <a:rPr lang="fr-FR"/>
              <a:t>Modifier les styles du texte du masque</a:t>
            </a:r>
          </a:p>
          <a:p>
            <a:pPr marL="0" lvl="1"/>
            <a:r>
              <a:rPr lang="fr-FR"/>
              <a:t>Deuxième niveau</a:t>
            </a:r>
          </a:p>
          <a:p>
            <a:pPr marL="0" lvl="2"/>
            <a:r>
              <a:rPr lang="fr-FR"/>
              <a:t>Troisième niveau</a:t>
            </a:r>
          </a:p>
        </p:txBody>
      </p:sp>
    </p:spTree>
    <p:extLst>
      <p:ext uri="{BB962C8B-B14F-4D97-AF65-F5344CB8AC3E}">
        <p14:creationId xmlns:p14="http://schemas.microsoft.com/office/powerpoint/2010/main" val="37957578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ique-contenu image">
    <p:spTree>
      <p:nvGrpSpPr>
        <p:cNvPr id="1" name=""/>
        <p:cNvGrpSpPr/>
        <p:nvPr/>
      </p:nvGrpSpPr>
      <p:grpSpPr>
        <a:xfrm>
          <a:off x="0" y="0"/>
          <a:ext cx="0" cy="0"/>
          <a:chOff x="0" y="0"/>
          <a:chExt cx="0" cy="0"/>
        </a:xfrm>
      </p:grpSpPr>
      <p:sp>
        <p:nvSpPr>
          <p:cNvPr id="3" name="Espace réservé pour une image  2"/>
          <p:cNvSpPr>
            <a:spLocks noGrp="1"/>
          </p:cNvSpPr>
          <p:nvPr>
            <p:ph type="pic" sz="quarter" idx="10" hasCustomPrompt="1"/>
          </p:nvPr>
        </p:nvSpPr>
        <p:spPr>
          <a:xfrm>
            <a:off x="1692000" y="1620000"/>
            <a:ext cx="6852032" cy="369332"/>
          </a:xfrm>
        </p:spPr>
        <p:txBody>
          <a:bodyPr/>
          <a:lstStyle/>
          <a:p>
            <a:r>
              <a:rPr lang="fr-FR" dirty="0"/>
              <a:t>Image</a:t>
            </a:r>
            <a:endParaRPr lang="en-US" dirty="0"/>
          </a:p>
        </p:txBody>
      </p:sp>
      <p:sp>
        <p:nvSpPr>
          <p:cNvPr id="7" name="Espace réservé du numéro de diapositive 5"/>
          <p:cNvSpPr>
            <a:spLocks noGrp="1"/>
          </p:cNvSpPr>
          <p:nvPr>
            <p:ph type="sldNum" sz="quarter" idx="12"/>
          </p:nvPr>
        </p:nvSpPr>
        <p:spPr>
          <a:xfrm>
            <a:off x="6997100" y="4846587"/>
            <a:ext cx="2133600" cy="201136"/>
          </a:xfrm>
          <a:prstGeom prst="rect">
            <a:avLst/>
          </a:prstGeom>
        </p:spPr>
        <p:txBody>
          <a:bodyPr/>
          <a:lstStyle/>
          <a:p>
            <a:fld id="{1D88F8A1-8C03-4B38-A18D-71255874367E}" type="slidenum">
              <a:rPr lang="en-US" smtClean="0"/>
              <a:pPr/>
              <a:t>‹N°›</a:t>
            </a:fld>
            <a:endParaRPr lang="en-US"/>
          </a:p>
        </p:txBody>
      </p:sp>
      <p:sp>
        <p:nvSpPr>
          <p:cNvPr id="5" name="Espace réservé du titre 1"/>
          <p:cNvSpPr>
            <a:spLocks noGrp="1"/>
          </p:cNvSpPr>
          <p:nvPr>
            <p:ph type="title"/>
          </p:nvPr>
        </p:nvSpPr>
        <p:spPr>
          <a:xfrm>
            <a:off x="1692000" y="468000"/>
            <a:ext cx="6852031" cy="528606"/>
          </a:xfrm>
          <a:prstGeom prst="rect">
            <a:avLst/>
          </a:prstGeom>
          <a:noFill/>
        </p:spPr>
        <p:txBody>
          <a:bodyPr wrap="square" rtlCol="0">
            <a:spAutoFit/>
          </a:bodyPr>
          <a:lstStyle>
            <a:lvl1pPr algn="l">
              <a:defRPr/>
            </a:lvl1pPr>
          </a:lstStyle>
          <a:p>
            <a:pPr marL="0" lvl="0" algn="l">
              <a:lnSpc>
                <a:spcPct val="70000"/>
              </a:lnSpc>
            </a:pPr>
            <a:r>
              <a:rPr lang="fr-FR"/>
              <a:t>Modifiez le style du titre</a:t>
            </a:r>
            <a:endParaRPr lang="en-US" dirty="0"/>
          </a:p>
        </p:txBody>
      </p:sp>
    </p:spTree>
    <p:extLst>
      <p:ext uri="{BB962C8B-B14F-4D97-AF65-F5344CB8AC3E}">
        <p14:creationId xmlns:p14="http://schemas.microsoft.com/office/powerpoint/2010/main" val="3853986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enerique-contenu graphique">
    <p:spTree>
      <p:nvGrpSpPr>
        <p:cNvPr id="1" name=""/>
        <p:cNvGrpSpPr/>
        <p:nvPr/>
      </p:nvGrpSpPr>
      <p:grpSpPr>
        <a:xfrm>
          <a:off x="0" y="0"/>
          <a:ext cx="0" cy="0"/>
          <a:chOff x="0" y="0"/>
          <a:chExt cx="0" cy="0"/>
        </a:xfrm>
      </p:grpSpPr>
      <p:sp>
        <p:nvSpPr>
          <p:cNvPr id="7" name="Espace réservé du graphique 6"/>
          <p:cNvSpPr>
            <a:spLocks noGrp="1"/>
          </p:cNvSpPr>
          <p:nvPr>
            <p:ph type="chart" sz="quarter" idx="10" hasCustomPrompt="1"/>
          </p:nvPr>
        </p:nvSpPr>
        <p:spPr>
          <a:xfrm>
            <a:off x="1692000" y="1620000"/>
            <a:ext cx="6852035" cy="369332"/>
          </a:xfrm>
        </p:spPr>
        <p:txBody>
          <a:bodyPr/>
          <a:lstStyle/>
          <a:p>
            <a:r>
              <a:rPr lang="fr-FR" dirty="0"/>
              <a:t>Graphique</a:t>
            </a:r>
            <a:endParaRPr lang="en-US" dirty="0"/>
          </a:p>
        </p:txBody>
      </p:sp>
      <p:sp>
        <p:nvSpPr>
          <p:cNvPr id="6" name="Espace réservé du titre 1"/>
          <p:cNvSpPr>
            <a:spLocks noGrp="1"/>
          </p:cNvSpPr>
          <p:nvPr>
            <p:ph type="title"/>
          </p:nvPr>
        </p:nvSpPr>
        <p:spPr>
          <a:xfrm>
            <a:off x="1692000" y="468000"/>
            <a:ext cx="6852031" cy="556947"/>
          </a:xfrm>
          <a:prstGeom prst="rect">
            <a:avLst/>
          </a:prstGeom>
          <a:noFill/>
        </p:spPr>
        <p:txBody>
          <a:bodyPr wrap="square" rtlCol="0">
            <a:spAutoFit/>
          </a:bodyPr>
          <a:lstStyle>
            <a:lvl1pPr algn="l">
              <a:defRPr/>
            </a:lvl1pPr>
          </a:lstStyle>
          <a:p>
            <a:pPr marL="0" lvl="0" algn="l">
              <a:lnSpc>
                <a:spcPct val="70000"/>
              </a:lnSpc>
            </a:pPr>
            <a:r>
              <a:rPr lang="fr-FR"/>
              <a:t>Modifiez le style du titre</a:t>
            </a:r>
            <a:endParaRPr lang="en-US" dirty="0"/>
          </a:p>
        </p:txBody>
      </p:sp>
    </p:spTree>
    <p:extLst>
      <p:ext uri="{BB962C8B-B14F-4D97-AF65-F5344CB8AC3E}">
        <p14:creationId xmlns:p14="http://schemas.microsoft.com/office/powerpoint/2010/main" val="2330783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generique-contenu media">
    <p:spTree>
      <p:nvGrpSpPr>
        <p:cNvPr id="1" name=""/>
        <p:cNvGrpSpPr/>
        <p:nvPr/>
      </p:nvGrpSpPr>
      <p:grpSpPr>
        <a:xfrm>
          <a:off x="0" y="0"/>
          <a:ext cx="0" cy="0"/>
          <a:chOff x="0" y="0"/>
          <a:chExt cx="0" cy="0"/>
        </a:xfrm>
      </p:grpSpPr>
      <p:sp>
        <p:nvSpPr>
          <p:cNvPr id="14" name="Espace réservé de l'élément multimédia 13"/>
          <p:cNvSpPr>
            <a:spLocks noGrp="1"/>
          </p:cNvSpPr>
          <p:nvPr>
            <p:ph type="media" sz="quarter" idx="13" hasCustomPrompt="1"/>
          </p:nvPr>
        </p:nvSpPr>
        <p:spPr>
          <a:xfrm>
            <a:off x="1692000" y="1620000"/>
            <a:ext cx="6852027" cy="369332"/>
          </a:xfrm>
        </p:spPr>
        <p:txBody>
          <a:bodyPr/>
          <a:lstStyle/>
          <a:p>
            <a:r>
              <a:rPr lang="fr-FR" dirty="0"/>
              <a:t>Média</a:t>
            </a:r>
            <a:endParaRPr lang="en-US" dirty="0"/>
          </a:p>
        </p:txBody>
      </p:sp>
      <p:sp>
        <p:nvSpPr>
          <p:cNvPr id="5" name="Espace réservé du titre 1"/>
          <p:cNvSpPr>
            <a:spLocks noGrp="1"/>
          </p:cNvSpPr>
          <p:nvPr>
            <p:ph type="title"/>
          </p:nvPr>
        </p:nvSpPr>
        <p:spPr>
          <a:xfrm>
            <a:off x="1692000" y="466941"/>
            <a:ext cx="6852031" cy="528606"/>
          </a:xfrm>
          <a:prstGeom prst="rect">
            <a:avLst/>
          </a:prstGeom>
          <a:noFill/>
        </p:spPr>
        <p:txBody>
          <a:bodyPr wrap="square" rtlCol="0">
            <a:spAutoFit/>
          </a:bodyPr>
          <a:lstStyle>
            <a:lvl1pPr algn="l">
              <a:defRPr/>
            </a:lvl1pPr>
          </a:lstStyle>
          <a:p>
            <a:pPr marL="0" lvl="0" algn="l">
              <a:lnSpc>
                <a:spcPct val="70000"/>
              </a:lnSpc>
            </a:pPr>
            <a:r>
              <a:rPr lang="fr-FR" dirty="0"/>
              <a:t>Modifiez le style du titre</a:t>
            </a:r>
            <a:endParaRPr lang="en-US" dirty="0"/>
          </a:p>
        </p:txBody>
      </p:sp>
    </p:spTree>
    <p:extLst>
      <p:ext uri="{BB962C8B-B14F-4D97-AF65-F5344CB8AC3E}">
        <p14:creationId xmlns:p14="http://schemas.microsoft.com/office/powerpoint/2010/main" val="3866418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generique-chapitre-contenu texte">
    <p:spTree>
      <p:nvGrpSpPr>
        <p:cNvPr id="1" name=""/>
        <p:cNvGrpSpPr/>
        <p:nvPr/>
      </p:nvGrpSpPr>
      <p:grpSpPr>
        <a:xfrm>
          <a:off x="0" y="0"/>
          <a:ext cx="0" cy="0"/>
          <a:chOff x="0" y="0"/>
          <a:chExt cx="0" cy="0"/>
        </a:xfrm>
      </p:grpSpPr>
      <p:sp>
        <p:nvSpPr>
          <p:cNvPr id="6" name="Espace réservé du titre 1"/>
          <p:cNvSpPr>
            <a:spLocks noGrp="1"/>
          </p:cNvSpPr>
          <p:nvPr>
            <p:ph type="title"/>
          </p:nvPr>
        </p:nvSpPr>
        <p:spPr>
          <a:xfrm>
            <a:off x="3294622" y="1109431"/>
            <a:ext cx="5739898" cy="528606"/>
          </a:xfrm>
          <a:prstGeom prst="rect">
            <a:avLst/>
          </a:prstGeom>
          <a:noFill/>
        </p:spPr>
        <p:txBody>
          <a:bodyPr wrap="square" rtlCol="0">
            <a:spAutoFit/>
          </a:bodyPr>
          <a:lstStyle>
            <a:lvl1pPr>
              <a:defRPr sz="4050">
                <a:solidFill>
                  <a:schemeClr val="accent1"/>
                </a:solidFill>
              </a:defRPr>
            </a:lvl1pPr>
          </a:lstStyle>
          <a:p>
            <a:pPr marL="0" lvl="0" algn="l">
              <a:lnSpc>
                <a:spcPct val="70000"/>
              </a:lnSpc>
            </a:pPr>
            <a:r>
              <a:rPr lang="fr-FR" dirty="0"/>
              <a:t>Modifiez le style du titre</a:t>
            </a:r>
            <a:endParaRPr lang="en-US" dirty="0"/>
          </a:p>
        </p:txBody>
      </p:sp>
      <p:sp>
        <p:nvSpPr>
          <p:cNvPr id="11" name="Espace réservé du texte 10"/>
          <p:cNvSpPr>
            <a:spLocks noGrp="1"/>
          </p:cNvSpPr>
          <p:nvPr>
            <p:ph type="body" sz="quarter" idx="10"/>
          </p:nvPr>
        </p:nvSpPr>
        <p:spPr>
          <a:xfrm>
            <a:off x="4948238" y="1905000"/>
            <a:ext cx="4094162" cy="1357313"/>
          </a:xfrm>
          <a:prstGeom prst="rect">
            <a:avLst/>
          </a:prstGeom>
        </p:spPr>
        <p:txBody>
          <a:bodyPr vert="horz"/>
          <a:lstStyle>
            <a:lvl1pPr>
              <a:defRPr>
                <a:latin typeface="Montserrat-Bold"/>
              </a:defRPr>
            </a:lvl1pPr>
            <a:lvl2pPr>
              <a:defRPr>
                <a:latin typeface="Montserrat-Regular"/>
              </a:defRPr>
            </a:lvl2pPr>
            <a:lvl3pPr>
              <a:defRPr>
                <a:latin typeface="Montserrat-Regular"/>
              </a:defRPr>
            </a:lvl3pPr>
          </a:lstStyle>
          <a:p>
            <a:pPr lvl="0"/>
            <a:r>
              <a:rPr lang="fr-FR" dirty="0"/>
              <a:t>Cliquez pour modifier les styles du texte du masque</a:t>
            </a:r>
          </a:p>
          <a:p>
            <a:pPr lvl="1"/>
            <a:r>
              <a:rPr lang="fr-FR" dirty="0"/>
              <a:t>Deuxième niveau</a:t>
            </a:r>
          </a:p>
          <a:p>
            <a:pPr lvl="2"/>
            <a:r>
              <a:rPr lang="fr-FR" dirty="0"/>
              <a:t>Troisième niveau</a:t>
            </a:r>
          </a:p>
        </p:txBody>
      </p:sp>
    </p:spTree>
    <p:extLst>
      <p:ext uri="{BB962C8B-B14F-4D97-AF65-F5344CB8AC3E}">
        <p14:creationId xmlns:p14="http://schemas.microsoft.com/office/powerpoint/2010/main" val="22517878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7"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theme" Target="../theme/theme2.xml"/><Relationship Id="rId4" Type="http://schemas.openxmlformats.org/officeDocument/2006/relationships/slideLayout" Target="../slideLayouts/slideLayout5.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8.xml"/><Relationship Id="rId7" Type="http://schemas.openxmlformats.org/officeDocument/2006/relationships/theme" Target="../theme/theme3.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5143500"/>
          </a:xfrm>
          <a:prstGeom prst="rect">
            <a:avLst/>
          </a:prstGeom>
          <a:solidFill>
            <a:srgbClr val="7E003F"/>
          </a:solidFill>
          <a:ln w="9525" cap="flat" cmpd="sng" algn="ctr">
            <a:solidFill>
              <a:srgbClr val="7E003F">
                <a:shade val="95000"/>
                <a:satMod val="105000"/>
              </a:srgbClr>
            </a:solidFill>
            <a:prstDash val="solid"/>
          </a:ln>
          <a:effectLst>
            <a:outerShdw blurRad="40000" dist="23000" dir="5400000" rotWithShape="0">
              <a:srgbClr val="000000">
                <a:alpha val="35000"/>
              </a:srgbClr>
            </a:outerShdw>
          </a:effectLst>
        </p:spPr>
        <p:txBody>
          <a:bodyPr rtlCol="0" anchor="ctr"/>
          <a:lstStyle/>
          <a:p>
            <a:pPr marL="0" marR="0" lvl="0" indent="0" algn="ctr" defTabSz="685800" eaLnBrk="1" fontAlgn="auto" latinLnBrk="0" hangingPunct="1">
              <a:lnSpc>
                <a:spcPct val="100000"/>
              </a:lnSpc>
              <a:spcBef>
                <a:spcPts val="0"/>
              </a:spcBef>
              <a:spcAft>
                <a:spcPts val="0"/>
              </a:spcAft>
              <a:buClrTx/>
              <a:buSzTx/>
              <a:buFontTx/>
              <a:buNone/>
              <a:tabLst/>
              <a:defRPr/>
            </a:pPr>
            <a:endParaRPr kumimoji="0" lang="fr-FR" sz="1350" b="0" i="0" u="none" strike="noStrike" kern="0" cap="none" spc="0" normalizeH="0" baseline="0" noProof="0">
              <a:ln>
                <a:noFill/>
              </a:ln>
              <a:solidFill>
                <a:prstClr val="white"/>
              </a:solidFill>
              <a:effectLst/>
              <a:uLnTx/>
              <a:uFillTx/>
              <a:latin typeface="Calibri"/>
              <a:ea typeface="+mn-ea"/>
              <a:cs typeface="+mn-cs"/>
            </a:endParaRPr>
          </a:p>
        </p:txBody>
      </p:sp>
      <p:pic>
        <p:nvPicPr>
          <p:cNvPr id="2" name="Image 1" descr="Blast.jpg"/>
          <p:cNvPicPr>
            <a:picLocks noChangeAspect="1"/>
          </p:cNvPicPr>
          <p:nvPr/>
        </p:nvPicPr>
        <p:blipFill rotWithShape="1">
          <a:blip r:embed="rId3">
            <a:alphaModFix amt="50000"/>
            <a:duotone>
              <a:prstClr val="black"/>
              <a:schemeClr val="accent1">
                <a:tint val="45000"/>
                <a:satMod val="400000"/>
              </a:schemeClr>
            </a:duotone>
            <a:extLst>
              <a:ext uri="{28A0092B-C50C-407E-A947-70E740481C1C}">
                <a14:useLocalDpi xmlns:a14="http://schemas.microsoft.com/office/drawing/2010/main" val="0"/>
              </a:ext>
            </a:extLst>
          </a:blip>
          <a:srcRect l="9304" t="6130" r="8923" b="14542"/>
          <a:stretch/>
        </p:blipFill>
        <p:spPr>
          <a:xfrm>
            <a:off x="0" y="0"/>
            <a:ext cx="9163367" cy="5222884"/>
          </a:xfrm>
          <a:prstGeom prst="rect">
            <a:avLst/>
          </a:prstGeom>
          <a:solidFill>
            <a:schemeClr val="accent1"/>
          </a:solidFill>
        </p:spPr>
      </p:pic>
      <p:sp>
        <p:nvSpPr>
          <p:cNvPr id="7" name="ZoneTexte 6"/>
          <p:cNvSpPr txBox="1"/>
          <p:nvPr userDrawn="1"/>
        </p:nvSpPr>
        <p:spPr>
          <a:xfrm>
            <a:off x="3152914" y="4205900"/>
            <a:ext cx="1518364" cy="369332"/>
          </a:xfrm>
          <a:prstGeom prst="rect">
            <a:avLst/>
          </a:prstGeom>
          <a:noFill/>
        </p:spPr>
        <p:txBody>
          <a:bodyPr wrap="none" rtlCol="0">
            <a:spAutoFit/>
          </a:bodyPr>
          <a:lstStyle/>
          <a:p>
            <a:r>
              <a:rPr lang="fr-FR" sz="1800" b="1" i="0" dirty="0">
                <a:solidFill>
                  <a:schemeClr val="bg1"/>
                </a:solidFill>
                <a:latin typeface="Montserrat" pitchFamily="2" charset="77"/>
                <a:cs typeface="Montserrat-Bold"/>
              </a:rPr>
              <a:t>EPC France</a:t>
            </a:r>
          </a:p>
        </p:txBody>
      </p:sp>
      <p:sp>
        <p:nvSpPr>
          <p:cNvPr id="12" name="Rectangle 11"/>
          <p:cNvSpPr/>
          <p:nvPr/>
        </p:nvSpPr>
        <p:spPr>
          <a:xfrm>
            <a:off x="3180224" y="2353939"/>
            <a:ext cx="5963776" cy="67094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350"/>
          </a:p>
        </p:txBody>
      </p:sp>
      <p:sp>
        <p:nvSpPr>
          <p:cNvPr id="18" name="Espace réservé du titre 1"/>
          <p:cNvSpPr>
            <a:spLocks noGrp="1"/>
          </p:cNvSpPr>
          <p:nvPr>
            <p:ph type="title"/>
          </p:nvPr>
        </p:nvSpPr>
        <p:spPr>
          <a:xfrm>
            <a:off x="3224172" y="2477892"/>
            <a:ext cx="5919837" cy="415498"/>
          </a:xfrm>
          <a:prstGeom prst="rect">
            <a:avLst/>
          </a:prstGeom>
          <a:noFill/>
        </p:spPr>
        <p:txBody>
          <a:bodyPr wrap="square" rtlCol="0" anchor="ctr">
            <a:spAutoFit/>
          </a:bodyPr>
          <a:lstStyle/>
          <a:p>
            <a:pPr marL="0" lvl="0" algn="l" defTabSz="342900">
              <a:lnSpc>
                <a:spcPct val="70000"/>
              </a:lnSpc>
            </a:pPr>
            <a:r>
              <a:rPr lang="fr-FR" dirty="0"/>
              <a:t>Modifiez le style du titre</a:t>
            </a:r>
            <a:endParaRPr lang="en-US" dirty="0"/>
          </a:p>
        </p:txBody>
      </p:sp>
      <p:pic>
        <p:nvPicPr>
          <p:cNvPr id="11" name="Image 10" descr="logo-epcgroupe-W.png">
            <a:extLst>
              <a:ext uri="{FF2B5EF4-FFF2-40B4-BE49-F238E27FC236}">
                <a16:creationId xmlns:a16="http://schemas.microsoft.com/office/drawing/2014/main" id="{625C2753-62D9-724A-97EB-4DADDAEA6941}"/>
              </a:ext>
            </a:extLst>
          </p:cNvPr>
          <p:cNvPicPr preferRelativeResize="0">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796530" y="216871"/>
            <a:ext cx="1835756" cy="2160000"/>
          </a:xfrm>
          <a:prstGeom prst="rect">
            <a:avLst/>
          </a:prstGeom>
        </p:spPr>
      </p:pic>
    </p:spTree>
    <p:extLst>
      <p:ext uri="{BB962C8B-B14F-4D97-AF65-F5344CB8AC3E}">
        <p14:creationId xmlns:p14="http://schemas.microsoft.com/office/powerpoint/2010/main" val="1933860184"/>
      </p:ext>
    </p:extLst>
  </p:cSld>
  <p:clrMap bg1="lt1" tx1="dk1" bg2="lt2" tx2="dk2" accent1="accent1" accent2="accent2" accent3="accent3" accent4="accent4" accent5="accent5" accent6="accent6" hlink="hlink" folHlink="folHlink"/>
  <p:sldLayoutIdLst>
    <p:sldLayoutId id="2147483661" r:id="rId1"/>
  </p:sldLayoutIdLst>
  <p:txStyles>
    <p:titleStyle>
      <a:lvl1pPr algn="l" defTabSz="685800" rtl="0" eaLnBrk="1" latinLnBrk="0" hangingPunct="1">
        <a:spcBef>
          <a:spcPct val="0"/>
        </a:spcBef>
        <a:buNone/>
        <a:defRPr lang="en-US" sz="3000" b="1" kern="1200" dirty="0" smtClean="0">
          <a:solidFill>
            <a:srgbClr val="7E003F"/>
          </a:solidFill>
          <a:latin typeface="Myriad Pro Cond"/>
          <a:ea typeface="+mn-ea"/>
          <a:cs typeface="+mj-cs"/>
        </a:defRPr>
      </a:lvl1pPr>
    </p:titleStyle>
    <p:bodyStyle>
      <a:lvl1pPr marL="257175" indent="-257175" algn="l" defTabSz="6858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1pPr>
      <a:lvl2pPr marL="557213" indent="-214313" algn="l" defTabSz="685800" rtl="0" eaLnBrk="1" latinLnBrk="0" hangingPunct="1">
        <a:spcBef>
          <a:spcPct val="20000"/>
        </a:spcBef>
        <a:buFont typeface="Arial" panose="020B0604020202020204" pitchFamily="34" charset="0"/>
        <a:buChar char="–"/>
        <a:defRPr sz="2100" kern="1200">
          <a:solidFill>
            <a:schemeClr val="tx1"/>
          </a:solidFill>
          <a:latin typeface="+mn-lt"/>
          <a:ea typeface="+mn-ea"/>
          <a:cs typeface="+mn-cs"/>
        </a:defRPr>
      </a:lvl2pPr>
      <a:lvl3pPr marL="857250" indent="-171450" algn="l" defTabSz="685800" rtl="0" eaLnBrk="1" latinLnBrk="0" hangingPunct="1">
        <a:spcBef>
          <a:spcPct val="20000"/>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4pPr>
      <a:lvl5pPr marL="15430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0"/>
            <a:ext cx="4857750" cy="5143500"/>
          </a:xfrm>
          <a:prstGeom prst="rect">
            <a:avLst/>
          </a:prstGeom>
          <a:solidFill>
            <a:srgbClr val="7E0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350" dirty="0">
              <a:solidFill>
                <a:srgbClr val="A29920"/>
              </a:solidFill>
              <a:latin typeface="Calibri"/>
            </a:endParaRPr>
          </a:p>
        </p:txBody>
      </p:sp>
      <p:pic>
        <p:nvPicPr>
          <p:cNvPr id="17" name="Image 16" descr="Blast.jpg"/>
          <p:cNvPicPr>
            <a:picLocks noChangeAspect="1"/>
          </p:cNvPicPr>
          <p:nvPr/>
        </p:nvPicPr>
        <p:blipFill rotWithShape="1">
          <a:blip r:embed="rId6">
            <a:alphaModFix amt="50000"/>
            <a:duotone>
              <a:prstClr val="black"/>
              <a:schemeClr val="accent1">
                <a:tint val="45000"/>
                <a:satMod val="400000"/>
              </a:schemeClr>
            </a:duotone>
            <a:extLst>
              <a:ext uri="{28A0092B-C50C-407E-A947-70E740481C1C}">
                <a14:useLocalDpi xmlns:a14="http://schemas.microsoft.com/office/drawing/2010/main" val="0"/>
              </a:ext>
            </a:extLst>
          </a:blip>
          <a:srcRect l="8324" r="37489" b="1299"/>
          <a:stretch/>
        </p:blipFill>
        <p:spPr>
          <a:xfrm>
            <a:off x="0" y="13"/>
            <a:ext cx="4857750" cy="5143488"/>
          </a:xfrm>
          <a:prstGeom prst="rect">
            <a:avLst/>
          </a:prstGeom>
        </p:spPr>
      </p:pic>
      <p:sp>
        <p:nvSpPr>
          <p:cNvPr id="13" name="Rectangle 12"/>
          <p:cNvSpPr/>
          <p:nvPr/>
        </p:nvSpPr>
        <p:spPr>
          <a:xfrm>
            <a:off x="3180224" y="783200"/>
            <a:ext cx="5963776" cy="1094341"/>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sz="1350"/>
          </a:p>
        </p:txBody>
      </p:sp>
      <p:sp>
        <p:nvSpPr>
          <p:cNvPr id="2" name="Espace réservé du titre 1"/>
          <p:cNvSpPr>
            <a:spLocks noGrp="1"/>
          </p:cNvSpPr>
          <p:nvPr>
            <p:ph type="title"/>
          </p:nvPr>
        </p:nvSpPr>
        <p:spPr>
          <a:xfrm>
            <a:off x="3316518" y="1066065"/>
            <a:ext cx="5739898" cy="528606"/>
          </a:xfrm>
          <a:prstGeom prst="rect">
            <a:avLst/>
          </a:prstGeom>
          <a:noFill/>
        </p:spPr>
        <p:txBody>
          <a:bodyPr wrap="square" rtlCol="0" anchor="ctr">
            <a:spAutoFit/>
          </a:bodyPr>
          <a:lstStyle/>
          <a:p>
            <a:pPr marL="0" lvl="0" algn="l">
              <a:lnSpc>
                <a:spcPct val="70000"/>
              </a:lnSpc>
            </a:pPr>
            <a:r>
              <a:rPr lang="fr-FR" dirty="0"/>
              <a:t>Modifiez le style du titre</a:t>
            </a:r>
            <a:endParaRPr lang="en-US" dirty="0"/>
          </a:p>
        </p:txBody>
      </p:sp>
      <p:sp>
        <p:nvSpPr>
          <p:cNvPr id="16" name="Rectangle 15"/>
          <p:cNvSpPr/>
          <p:nvPr/>
        </p:nvSpPr>
        <p:spPr>
          <a:xfrm>
            <a:off x="5680766" y="4818805"/>
            <a:ext cx="3483152" cy="300082"/>
          </a:xfrm>
          <a:prstGeom prst="rect">
            <a:avLst/>
          </a:prstGeom>
          <a:noFill/>
        </p:spPr>
        <p:txBody>
          <a:bodyPr wrap="square">
            <a:spAutoFit/>
          </a:bodyPr>
          <a:lstStyle/>
          <a:p>
            <a:pPr marL="0" marR="0" indent="0" algn="r" defTabSz="342900" rtl="0" eaLnBrk="1" fontAlgn="auto" latinLnBrk="0" hangingPunct="1">
              <a:lnSpc>
                <a:spcPct val="100000"/>
              </a:lnSpc>
              <a:spcBef>
                <a:spcPts val="0"/>
              </a:spcBef>
              <a:spcAft>
                <a:spcPts val="0"/>
              </a:spcAft>
              <a:buClrTx/>
              <a:buSzTx/>
              <a:buFontTx/>
              <a:buNone/>
              <a:tabLst/>
              <a:defRPr/>
            </a:pPr>
            <a:r>
              <a:rPr lang="fr-FR" sz="1050" b="1" dirty="0">
                <a:solidFill>
                  <a:srgbClr val="ADAFAF"/>
                </a:solidFill>
                <a:latin typeface="Myriad Pro Cond"/>
                <a:cs typeface="Myriad Pro Cond"/>
              </a:rPr>
              <a:t>LES SYSTÈMES D’AMORCAGE   </a:t>
            </a:r>
            <a:fld id="{C358F803-5BFB-994A-8C5D-3DC80B331797}" type="slidenum">
              <a:rPr lang="en-US" sz="1350" smtClean="0">
                <a:solidFill>
                  <a:schemeClr val="tx2"/>
                </a:solidFill>
              </a:rPr>
              <a:pPr marL="0" marR="0" indent="0" algn="r" defTabSz="342900" rtl="0" eaLnBrk="1" fontAlgn="auto" latinLnBrk="0" hangingPunct="1">
                <a:lnSpc>
                  <a:spcPct val="100000"/>
                </a:lnSpc>
                <a:spcBef>
                  <a:spcPts val="0"/>
                </a:spcBef>
                <a:spcAft>
                  <a:spcPts val="0"/>
                </a:spcAft>
                <a:buClrTx/>
                <a:buSzTx/>
                <a:buFontTx/>
                <a:buNone/>
                <a:tabLst/>
                <a:defRPr/>
              </a:pPr>
              <a:t>‹N°›</a:t>
            </a:fld>
            <a:endParaRPr lang="en-US" sz="1350" dirty="0">
              <a:solidFill>
                <a:schemeClr val="tx2"/>
              </a:solidFill>
            </a:endParaRPr>
          </a:p>
        </p:txBody>
      </p:sp>
      <p:sp>
        <p:nvSpPr>
          <p:cNvPr id="19" name="ZoneTexte 18"/>
          <p:cNvSpPr txBox="1"/>
          <p:nvPr userDrawn="1"/>
        </p:nvSpPr>
        <p:spPr>
          <a:xfrm>
            <a:off x="240351" y="4205900"/>
            <a:ext cx="1518364" cy="369332"/>
          </a:xfrm>
          <a:prstGeom prst="rect">
            <a:avLst/>
          </a:prstGeom>
          <a:noFill/>
        </p:spPr>
        <p:txBody>
          <a:bodyPr wrap="none" rtlCol="0">
            <a:spAutoFit/>
          </a:bodyPr>
          <a:lstStyle/>
          <a:p>
            <a:r>
              <a:rPr lang="fr-FR" sz="1800" b="1" i="0" dirty="0">
                <a:solidFill>
                  <a:schemeClr val="bg1"/>
                </a:solidFill>
                <a:latin typeface="Montserrat" pitchFamily="2" charset="77"/>
                <a:cs typeface="Montserrat-Bold"/>
              </a:rPr>
              <a:t>EPC France</a:t>
            </a:r>
          </a:p>
        </p:txBody>
      </p:sp>
      <p:pic>
        <p:nvPicPr>
          <p:cNvPr id="15" name="Image 14" descr="logo-epcgroupe-W.png"/>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508000"/>
            <a:ext cx="1465144" cy="1676400"/>
          </a:xfrm>
          <a:prstGeom prst="rect">
            <a:avLst/>
          </a:prstGeom>
          <a:noFill/>
          <a:ln>
            <a:noFill/>
          </a:ln>
        </p:spPr>
      </p:pic>
    </p:spTree>
    <p:extLst>
      <p:ext uri="{BB962C8B-B14F-4D97-AF65-F5344CB8AC3E}">
        <p14:creationId xmlns:p14="http://schemas.microsoft.com/office/powerpoint/2010/main" val="861268013"/>
      </p:ext>
    </p:extLst>
  </p:cSld>
  <p:clrMap bg1="lt1" tx1="dk1" bg2="lt2" tx2="dk2" accent1="accent1" accent2="accent2" accent3="accent3" accent4="accent4" accent5="accent5" accent6="accent6" hlink="hlink" folHlink="folHlink"/>
  <p:sldLayoutIdLst>
    <p:sldLayoutId id="2147483665" r:id="rId1"/>
    <p:sldLayoutId id="2147483667" r:id="rId2"/>
    <p:sldLayoutId id="2147483757" r:id="rId3"/>
    <p:sldLayoutId id="2147483758" r:id="rId4"/>
  </p:sldLayoutIdLst>
  <p:txStyles>
    <p:titleStyle>
      <a:lvl1pPr algn="l" defTabSz="342900" rtl="0" eaLnBrk="1" latinLnBrk="0" hangingPunct="1">
        <a:spcBef>
          <a:spcPct val="0"/>
        </a:spcBef>
        <a:buNone/>
        <a:defRPr lang="en-US" sz="4050" b="1" kern="1200" smtClean="0">
          <a:solidFill>
            <a:schemeClr val="accent1"/>
          </a:solidFill>
          <a:latin typeface="Myriad Pro Cond"/>
          <a:ea typeface="+mn-ea"/>
          <a:cs typeface="+mj-cs"/>
        </a:defRPr>
      </a:lvl1pPr>
    </p:titleStyle>
    <p:bodyStyle>
      <a:lvl1pPr marL="214313" marR="0" indent="-214313" algn="l" defTabSz="342900" rtl="0" eaLnBrk="1" fontAlgn="auto" latinLnBrk="0" hangingPunct="1">
        <a:lnSpc>
          <a:spcPct val="100000"/>
        </a:lnSpc>
        <a:spcBef>
          <a:spcPct val="20000"/>
        </a:spcBef>
        <a:spcAft>
          <a:spcPts val="0"/>
        </a:spcAft>
        <a:buClr>
          <a:schemeClr val="accent1"/>
        </a:buClr>
        <a:buSzTx/>
        <a:buFont typeface="Wingdings" panose="05000000000000000000" pitchFamily="2" charset="2"/>
        <a:buChar char=""/>
        <a:tabLst/>
        <a:defRPr lang="fr-FR" sz="1350" b="1" i="0" kern="1200" dirty="0" smtClean="0">
          <a:solidFill>
            <a:prstClr val="white">
              <a:lumMod val="50000"/>
            </a:prstClr>
          </a:solidFill>
          <a:latin typeface="Montserrat" pitchFamily="2" charset="77"/>
          <a:ea typeface="+mn-ea"/>
          <a:cs typeface="Arial"/>
        </a:defRPr>
      </a:lvl1pPr>
      <a:lvl2pPr marL="342900" indent="-140494" algn="l" defTabSz="342900" rtl="0" eaLnBrk="1" latinLnBrk="0" hangingPunct="1">
        <a:spcBef>
          <a:spcPct val="20000"/>
        </a:spcBef>
        <a:buClr>
          <a:schemeClr val="accent1"/>
        </a:buClr>
        <a:buFont typeface="Arial" panose="020B0604020202020204" pitchFamily="34" charset="0"/>
        <a:buChar char="•"/>
        <a:defRPr lang="fr-FR" sz="1350" b="0" i="0" kern="1200" dirty="0" smtClean="0">
          <a:solidFill>
            <a:schemeClr val="tx1"/>
          </a:solidFill>
          <a:latin typeface="Montserrat" pitchFamily="2" charset="77"/>
          <a:ea typeface="+mn-ea"/>
          <a:cs typeface="Arial" panose="020B0604020202020204" pitchFamily="34" charset="0"/>
        </a:defRPr>
      </a:lvl2pPr>
      <a:lvl3pPr marL="900113" indent="-214313" algn="l" defTabSz="342900" rtl="0" eaLnBrk="1" latinLnBrk="0" hangingPunct="1">
        <a:spcBef>
          <a:spcPct val="20000"/>
        </a:spcBef>
        <a:buClr>
          <a:schemeClr val="accent1"/>
        </a:buClr>
        <a:buFont typeface="Wingdings" panose="05000000000000000000" pitchFamily="2" charset="2"/>
        <a:buChar char="Ø"/>
        <a:defRPr lang="fr-FR" sz="1350" b="0" i="0" kern="1200" dirty="0" smtClean="0">
          <a:solidFill>
            <a:schemeClr val="tx1"/>
          </a:solidFill>
          <a:latin typeface="Montserrat" pitchFamily="2" charset="77"/>
          <a:ea typeface="+mn-ea"/>
          <a:cs typeface="Arial" panose="020B0604020202020204" pitchFamily="34" charset="0"/>
        </a:defRPr>
      </a:lvl3pPr>
      <a:lvl4pPr marL="1200150" indent="-171450" algn="l" defTabSz="342900" rtl="0" eaLnBrk="1" latinLnBrk="0" hangingPunct="1">
        <a:spcBef>
          <a:spcPct val="20000"/>
        </a:spcBef>
        <a:buFont typeface="Arial"/>
        <a:buChar char="–"/>
        <a:defRPr lang="fr-FR" sz="1350" kern="1200" dirty="0" smtClean="0">
          <a:solidFill>
            <a:schemeClr val="tx1"/>
          </a:solidFill>
          <a:latin typeface="Arial" panose="020B0604020202020204" pitchFamily="34" charset="0"/>
          <a:ea typeface="+mn-ea"/>
          <a:cs typeface="Arial" panose="020B0604020202020204" pitchFamily="34" charset="0"/>
        </a:defRPr>
      </a:lvl4pPr>
      <a:lvl5pPr marL="1543050" indent="-171450" algn="l" defTabSz="342900" rtl="0" eaLnBrk="1" latinLnBrk="0" hangingPunct="1">
        <a:spcBef>
          <a:spcPct val="20000"/>
        </a:spcBef>
        <a:buFont typeface="Arial"/>
        <a:buChar char="»"/>
        <a:defRPr lang="en-US" sz="1350" kern="1200" dirty="0" smtClean="0">
          <a:solidFill>
            <a:schemeClr val="tx1"/>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fr-FR"/>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1" name="ZoneTexte 10"/>
          <p:cNvSpPr txBox="1"/>
          <p:nvPr/>
        </p:nvSpPr>
        <p:spPr>
          <a:xfrm>
            <a:off x="72000" y="4752000"/>
            <a:ext cx="1225015" cy="307777"/>
          </a:xfrm>
          <a:prstGeom prst="rect">
            <a:avLst/>
          </a:prstGeom>
          <a:noFill/>
        </p:spPr>
        <p:txBody>
          <a:bodyPr wrap="none" rtlCol="0">
            <a:spAutoFit/>
          </a:bodyPr>
          <a:lstStyle/>
          <a:p>
            <a:r>
              <a:rPr lang="fr-FR" sz="1400" b="1" i="0" dirty="0">
                <a:solidFill>
                  <a:schemeClr val="tx2"/>
                </a:solidFill>
                <a:latin typeface="Montserrat" pitchFamily="2" charset="77"/>
                <a:cs typeface="Montserrat-Bold"/>
              </a:rPr>
              <a:t>EPC France</a:t>
            </a:r>
          </a:p>
        </p:txBody>
      </p:sp>
      <p:sp>
        <p:nvSpPr>
          <p:cNvPr id="3" name="Espace réservé du texte 2"/>
          <p:cNvSpPr>
            <a:spLocks noGrp="1"/>
          </p:cNvSpPr>
          <p:nvPr>
            <p:ph type="body" idx="1"/>
          </p:nvPr>
        </p:nvSpPr>
        <p:spPr>
          <a:xfrm>
            <a:off x="1692000" y="1620000"/>
            <a:ext cx="6852030" cy="840230"/>
          </a:xfrm>
          <a:prstGeom prst="rect">
            <a:avLst/>
          </a:prstGeom>
          <a:noFill/>
        </p:spPr>
        <p:txBody>
          <a:bodyPr wrap="square" rtlCol="0">
            <a:spAutoFit/>
          </a:bodyPr>
          <a:lstStyle/>
          <a:p>
            <a:pPr marL="0" lvl="0"/>
            <a:r>
              <a:rPr lang="fr-FR" dirty="0"/>
              <a:t>Modifiez les styles du texte du masque</a:t>
            </a:r>
          </a:p>
          <a:p>
            <a:pPr marL="342900" lvl="1"/>
            <a:r>
              <a:rPr lang="fr-FR" dirty="0"/>
              <a:t>Deuxième niveau</a:t>
            </a:r>
          </a:p>
          <a:p>
            <a:pPr marL="685800" lvl="2"/>
            <a:r>
              <a:rPr lang="fr-FR" dirty="0"/>
              <a:t>Troisième niveau</a:t>
            </a:r>
          </a:p>
        </p:txBody>
      </p:sp>
      <p:sp>
        <p:nvSpPr>
          <p:cNvPr id="2" name="Espace réservé du titre 1"/>
          <p:cNvSpPr>
            <a:spLocks noGrp="1"/>
          </p:cNvSpPr>
          <p:nvPr>
            <p:ph type="title"/>
          </p:nvPr>
        </p:nvSpPr>
        <p:spPr>
          <a:xfrm>
            <a:off x="1692000" y="468000"/>
            <a:ext cx="6852031" cy="528606"/>
          </a:xfrm>
          <a:prstGeom prst="rect">
            <a:avLst/>
          </a:prstGeom>
          <a:noFill/>
        </p:spPr>
        <p:txBody>
          <a:bodyPr wrap="square" rtlCol="0" anchor="t">
            <a:spAutoFit/>
          </a:bodyPr>
          <a:lstStyle/>
          <a:p>
            <a:pPr marL="0" lvl="0" algn="l">
              <a:lnSpc>
                <a:spcPct val="70000"/>
              </a:lnSpc>
            </a:pPr>
            <a:r>
              <a:rPr lang="fr-FR" dirty="0"/>
              <a:t>Modifiez le style du titre</a:t>
            </a:r>
            <a:endParaRPr lang="en-US" dirty="0"/>
          </a:p>
        </p:txBody>
      </p:sp>
      <p:pic>
        <p:nvPicPr>
          <p:cNvPr id="10" name="Image 9" descr="logo-epcgroupe-W.png"/>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 y="0"/>
            <a:ext cx="1260000" cy="1441676"/>
          </a:xfrm>
          <a:prstGeom prst="rect">
            <a:avLst/>
          </a:prstGeom>
          <a:solidFill>
            <a:schemeClr val="accent1"/>
          </a:solidFill>
        </p:spPr>
      </p:pic>
      <p:sp>
        <p:nvSpPr>
          <p:cNvPr id="12" name="Rectangle 11"/>
          <p:cNvSpPr/>
          <p:nvPr/>
        </p:nvSpPr>
        <p:spPr>
          <a:xfrm>
            <a:off x="5680766" y="4818805"/>
            <a:ext cx="3483152" cy="300082"/>
          </a:xfrm>
          <a:prstGeom prst="rect">
            <a:avLst/>
          </a:prstGeom>
          <a:noFill/>
        </p:spPr>
        <p:txBody>
          <a:bodyPr wrap="square">
            <a:spAutoFit/>
          </a:bodyPr>
          <a:lstStyle/>
          <a:p>
            <a:pPr marL="0" marR="0" lvl="0" indent="0" algn="r" defTabSz="342900" rtl="0" eaLnBrk="1" fontAlgn="auto" latinLnBrk="0" hangingPunct="1">
              <a:lnSpc>
                <a:spcPct val="100000"/>
              </a:lnSpc>
              <a:spcBef>
                <a:spcPts val="0"/>
              </a:spcBef>
              <a:spcAft>
                <a:spcPts val="0"/>
              </a:spcAft>
              <a:buClrTx/>
              <a:buSzTx/>
              <a:buFontTx/>
              <a:buNone/>
              <a:tabLst/>
              <a:defRPr/>
            </a:pPr>
            <a:r>
              <a:rPr kumimoji="0" lang="fr-FR" sz="1050" b="1" i="0" u="none" strike="noStrike" kern="0" cap="none" spc="0" normalizeH="0" baseline="0" noProof="0" dirty="0">
                <a:ln>
                  <a:noFill/>
                </a:ln>
                <a:solidFill>
                  <a:srgbClr val="ADAFAF"/>
                </a:solidFill>
                <a:effectLst/>
                <a:uLnTx/>
                <a:uFillTx/>
                <a:latin typeface="Myriad Pro Cond"/>
                <a:cs typeface="Myriad Pro Cond"/>
              </a:rPr>
              <a:t>LES SYSTÈMES D’AMORCAGE   </a:t>
            </a:r>
            <a:fld id="{C358F803-5BFB-994A-8C5D-3DC80B331797}" type="slidenum">
              <a:rPr kumimoji="0" lang="en-US" sz="1350" b="0" i="0" u="none" strike="noStrike" kern="0" cap="none" spc="0" normalizeH="0" baseline="0" noProof="0" smtClean="0">
                <a:ln>
                  <a:noFill/>
                </a:ln>
                <a:solidFill>
                  <a:srgbClr val="BFBFBF"/>
                </a:solidFill>
                <a:effectLst/>
                <a:uLnTx/>
                <a:uFillTx/>
              </a:rPr>
              <a:pPr marL="0" marR="0" lvl="0" indent="0" algn="r" defTabSz="342900" rtl="0" eaLnBrk="1" fontAlgn="auto" latinLnBrk="0" hangingPunct="1">
                <a:lnSpc>
                  <a:spcPct val="100000"/>
                </a:lnSpc>
                <a:spcBef>
                  <a:spcPts val="0"/>
                </a:spcBef>
                <a:spcAft>
                  <a:spcPts val="0"/>
                </a:spcAft>
                <a:buClrTx/>
                <a:buSzTx/>
                <a:buFontTx/>
                <a:buNone/>
                <a:tabLst/>
                <a:defRPr/>
              </a:pPr>
              <a:t>‹N°›</a:t>
            </a:fld>
            <a:endParaRPr kumimoji="0" lang="en-US" sz="1350" b="0" i="0" u="none" strike="noStrike" kern="0" cap="none" spc="0" normalizeH="0" baseline="0" noProof="0" dirty="0">
              <a:ln>
                <a:noFill/>
              </a:ln>
              <a:solidFill>
                <a:srgbClr val="BFBFBF"/>
              </a:solidFill>
              <a:effectLst/>
              <a:uLnTx/>
              <a:uFillTx/>
            </a:endParaRPr>
          </a:p>
        </p:txBody>
      </p:sp>
    </p:spTree>
    <p:extLst>
      <p:ext uri="{BB962C8B-B14F-4D97-AF65-F5344CB8AC3E}">
        <p14:creationId xmlns:p14="http://schemas.microsoft.com/office/powerpoint/2010/main" val="428334100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773" r:id="rId6"/>
  </p:sldLayoutIdLst>
  <p:txStyles>
    <p:titleStyle>
      <a:lvl1pPr algn="l" defTabSz="342900" rtl="0" eaLnBrk="1" latinLnBrk="0" hangingPunct="1">
        <a:spcBef>
          <a:spcPct val="0"/>
        </a:spcBef>
        <a:buNone/>
        <a:defRPr lang="en-US" sz="4050" b="1" kern="1200" smtClean="0">
          <a:solidFill>
            <a:srgbClr val="7E003F"/>
          </a:solidFill>
          <a:latin typeface="Myriad Pro Cond"/>
          <a:ea typeface="+mn-ea"/>
          <a:cs typeface="+mj-cs"/>
        </a:defRPr>
      </a:lvl1pPr>
    </p:titleStyle>
    <p:bodyStyle>
      <a:lvl1pPr marL="214313" marR="0" indent="-214313" algn="l" defTabSz="342900" rtl="0" eaLnBrk="1" fontAlgn="auto" latinLnBrk="0" hangingPunct="1">
        <a:lnSpc>
          <a:spcPct val="100000"/>
        </a:lnSpc>
        <a:spcBef>
          <a:spcPct val="20000"/>
        </a:spcBef>
        <a:spcAft>
          <a:spcPts val="0"/>
        </a:spcAft>
        <a:buClr>
          <a:srgbClr val="7E003F"/>
        </a:buClr>
        <a:buSzTx/>
        <a:buFont typeface="Wingdings" panose="05000000000000000000" pitchFamily="2" charset="2"/>
        <a:buChar char=""/>
        <a:tabLst/>
        <a:defRPr lang="fr-FR" sz="1800" b="1" kern="1200" dirty="0" smtClean="0">
          <a:solidFill>
            <a:prstClr val="white">
              <a:lumMod val="50000"/>
            </a:prstClr>
          </a:solidFill>
          <a:latin typeface="Montserrat-Bold"/>
          <a:ea typeface="+mn-ea"/>
          <a:cs typeface="Montserrat-Bold"/>
        </a:defRPr>
      </a:lvl1pPr>
      <a:lvl2pPr marL="342900" indent="-140494" algn="l" defTabSz="342900" rtl="0" eaLnBrk="1" latinLnBrk="0" hangingPunct="1">
        <a:spcBef>
          <a:spcPct val="20000"/>
        </a:spcBef>
        <a:buClr>
          <a:srgbClr val="7E003F"/>
        </a:buClr>
        <a:buFont typeface="Arial" panose="020B0604020202020204" pitchFamily="34" charset="0"/>
        <a:buChar char="•"/>
        <a:defRPr lang="fr-FR" sz="1350" b="0" i="0" kern="1200" dirty="0" smtClean="0">
          <a:solidFill>
            <a:schemeClr val="tx1"/>
          </a:solidFill>
          <a:latin typeface="Montserrat-Regular"/>
          <a:ea typeface="+mn-ea"/>
          <a:cs typeface="Montserrat-Regular"/>
        </a:defRPr>
      </a:lvl2pPr>
      <a:lvl3pPr marL="900113" indent="-214313" algn="l" defTabSz="342900" rtl="0" eaLnBrk="1" latinLnBrk="0" hangingPunct="1">
        <a:spcBef>
          <a:spcPct val="20000"/>
        </a:spcBef>
        <a:buClr>
          <a:srgbClr val="7E003F"/>
        </a:buClr>
        <a:buFont typeface="Wingdings" charset="2"/>
        <a:buChar char="§"/>
        <a:defRPr lang="fr-FR" sz="1200" b="0" i="0" kern="1200" dirty="0" smtClean="0">
          <a:solidFill>
            <a:schemeClr val="tx1"/>
          </a:solidFill>
          <a:latin typeface="Montserrat-Regular"/>
          <a:ea typeface="+mn-ea"/>
          <a:cs typeface="Montserrat-Regular"/>
        </a:defRPr>
      </a:lvl3pPr>
      <a:lvl4pPr marL="1200150" indent="-171450" algn="l" defTabSz="342900" rtl="0" eaLnBrk="1" latinLnBrk="0" hangingPunct="1">
        <a:spcBef>
          <a:spcPct val="20000"/>
        </a:spcBef>
        <a:buFont typeface="Arial"/>
        <a:buChar char="–"/>
        <a:defRPr lang="fr-FR" sz="1350" kern="1200" dirty="0" smtClean="0">
          <a:solidFill>
            <a:schemeClr val="tx1"/>
          </a:solidFill>
          <a:latin typeface="Arial" panose="020B0604020202020204" pitchFamily="34" charset="0"/>
          <a:ea typeface="+mn-ea"/>
          <a:cs typeface="Arial" panose="020B0604020202020204" pitchFamily="34" charset="0"/>
        </a:defRPr>
      </a:lvl4pPr>
      <a:lvl5pPr marL="1543050" indent="-171450" algn="l" defTabSz="342900" rtl="0" eaLnBrk="1" latinLnBrk="0" hangingPunct="1">
        <a:spcBef>
          <a:spcPct val="20000"/>
        </a:spcBef>
        <a:buFont typeface="Arial"/>
        <a:buChar char="»"/>
        <a:defRPr lang="en-US" sz="1350" kern="1200" dirty="0" smtClean="0">
          <a:solidFill>
            <a:schemeClr val="tx1"/>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fr-FR"/>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5.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5" Type="http://schemas.openxmlformats.org/officeDocument/2006/relationships/image" Target="../media/image5.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8D23667-C9EC-4ECB-8057-1A4A97F64A91}"/>
              </a:ext>
            </a:extLst>
          </p:cNvPr>
          <p:cNvSpPr>
            <a:spLocks noGrp="1"/>
          </p:cNvSpPr>
          <p:nvPr>
            <p:ph type="title"/>
          </p:nvPr>
        </p:nvSpPr>
        <p:spPr>
          <a:xfrm>
            <a:off x="3294622" y="1015944"/>
            <a:ext cx="5739898" cy="715581"/>
          </a:xfrm>
        </p:spPr>
        <p:txBody>
          <a:bodyPr/>
          <a:lstStyle/>
          <a:p>
            <a:r>
              <a:rPr lang="fr-FR" dirty="0"/>
              <a:t>Création de la GED EPC2I</a:t>
            </a:r>
          </a:p>
        </p:txBody>
      </p:sp>
      <p:sp>
        <p:nvSpPr>
          <p:cNvPr id="3" name="Espace réservé du texte 2">
            <a:extLst>
              <a:ext uri="{FF2B5EF4-FFF2-40B4-BE49-F238E27FC236}">
                <a16:creationId xmlns:a16="http://schemas.microsoft.com/office/drawing/2014/main" id="{50F2BBA3-7B67-4FDA-BC20-71DAF395F3B1}"/>
              </a:ext>
            </a:extLst>
          </p:cNvPr>
          <p:cNvSpPr>
            <a:spLocks noGrp="1"/>
          </p:cNvSpPr>
          <p:nvPr>
            <p:ph type="body" sz="quarter" idx="10"/>
          </p:nvPr>
        </p:nvSpPr>
        <p:spPr/>
        <p:txBody>
          <a:bodyPr/>
          <a:lstStyle/>
          <a:p>
            <a:r>
              <a:rPr lang="fr-FR" dirty="0"/>
              <a:t>Pourquoi?</a:t>
            </a:r>
          </a:p>
          <a:p>
            <a:r>
              <a:rPr lang="fr-FR" dirty="0"/>
              <a:t>Comment?</a:t>
            </a:r>
          </a:p>
          <a:p>
            <a:r>
              <a:rPr lang="fr-FR" dirty="0"/>
              <a:t>Les étapes</a:t>
            </a:r>
          </a:p>
          <a:p>
            <a:r>
              <a:rPr lang="fr-FR" dirty="0"/>
              <a:t>L’usage</a:t>
            </a:r>
          </a:p>
          <a:p>
            <a:r>
              <a:rPr lang="fr-FR" dirty="0"/>
              <a:t>Les métadonnées</a:t>
            </a:r>
          </a:p>
          <a:p>
            <a:pPr lvl="1"/>
            <a:r>
              <a:rPr lang="fr-FR" sz="1050" dirty="0" err="1"/>
              <a:t>Niv</a:t>
            </a:r>
            <a:r>
              <a:rPr lang="fr-FR" sz="1050" dirty="0"/>
              <a:t> 1 – La hiérarchie</a:t>
            </a:r>
          </a:p>
          <a:p>
            <a:pPr lvl="1"/>
            <a:r>
              <a:rPr lang="fr-FR" sz="1050" dirty="0" err="1"/>
              <a:t>Niv</a:t>
            </a:r>
            <a:r>
              <a:rPr lang="fr-FR" sz="1050" dirty="0"/>
              <a:t> 2 – Le tronc commun</a:t>
            </a:r>
          </a:p>
          <a:p>
            <a:pPr lvl="1"/>
            <a:r>
              <a:rPr lang="fr-FR" sz="1050" dirty="0" err="1"/>
              <a:t>Niv</a:t>
            </a:r>
            <a:r>
              <a:rPr lang="fr-FR" sz="1050" dirty="0"/>
              <a:t> 3 – La taxonomie par type</a:t>
            </a:r>
          </a:p>
          <a:p>
            <a:pPr lvl="2"/>
            <a:r>
              <a:rPr lang="fr-FR" sz="1050" dirty="0"/>
              <a:t>Doc Interne (DI)</a:t>
            </a:r>
          </a:p>
          <a:p>
            <a:pPr lvl="2"/>
            <a:r>
              <a:rPr lang="fr-FR" sz="1050" dirty="0"/>
              <a:t>Doc Externe (DE)</a:t>
            </a:r>
          </a:p>
          <a:p>
            <a:pPr lvl="2"/>
            <a:r>
              <a:rPr lang="fr-FR" sz="1050" dirty="0"/>
              <a:t>Doc Projet (DP)</a:t>
            </a:r>
          </a:p>
          <a:p>
            <a:pPr lvl="2"/>
            <a:r>
              <a:rPr lang="fr-FR" sz="1050" dirty="0"/>
              <a:t>Doc Recherche (DR)</a:t>
            </a:r>
          </a:p>
          <a:p>
            <a:pPr lvl="1"/>
            <a:r>
              <a:rPr lang="fr-FR" sz="1050" dirty="0" err="1"/>
              <a:t>Niv</a:t>
            </a:r>
            <a:r>
              <a:rPr lang="fr-FR" sz="1050" dirty="0"/>
              <a:t> 4 – Les Champs Spécifiques</a:t>
            </a:r>
          </a:p>
          <a:p>
            <a:endParaRPr lang="fr-FR" dirty="0"/>
          </a:p>
        </p:txBody>
      </p:sp>
    </p:spTree>
    <p:extLst>
      <p:ext uri="{BB962C8B-B14F-4D97-AF65-F5344CB8AC3E}">
        <p14:creationId xmlns:p14="http://schemas.microsoft.com/office/powerpoint/2010/main" val="3866718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C65093D2-02BD-4DA5-A81C-6135EFDB0D24}"/>
              </a:ext>
            </a:extLst>
          </p:cNvPr>
          <p:cNvSpPr>
            <a:spLocks noGrp="1"/>
          </p:cNvSpPr>
          <p:nvPr>
            <p:ph idx="1"/>
          </p:nvPr>
        </p:nvSpPr>
        <p:spPr>
          <a:xfrm>
            <a:off x="1692000" y="1211293"/>
            <a:ext cx="6852030" cy="369332"/>
          </a:xfrm>
        </p:spPr>
        <p:txBody>
          <a:bodyPr/>
          <a:lstStyle/>
          <a:p>
            <a:r>
              <a:rPr lang="fr-FR" dirty="0"/>
              <a:t>Qu’est ce qu’une GED ?</a:t>
            </a:r>
          </a:p>
        </p:txBody>
      </p:sp>
      <p:sp>
        <p:nvSpPr>
          <p:cNvPr id="3" name="Titre 2">
            <a:extLst>
              <a:ext uri="{FF2B5EF4-FFF2-40B4-BE49-F238E27FC236}">
                <a16:creationId xmlns:a16="http://schemas.microsoft.com/office/drawing/2014/main" id="{FD9E201A-32E2-4107-9046-2985DCBAA12F}"/>
              </a:ext>
            </a:extLst>
          </p:cNvPr>
          <p:cNvSpPr>
            <a:spLocks noGrp="1"/>
          </p:cNvSpPr>
          <p:nvPr>
            <p:ph type="title"/>
          </p:nvPr>
        </p:nvSpPr>
        <p:spPr>
          <a:xfrm>
            <a:off x="1692000" y="468000"/>
            <a:ext cx="6852031" cy="715581"/>
          </a:xfrm>
        </p:spPr>
        <p:txBody>
          <a:bodyPr/>
          <a:lstStyle/>
          <a:p>
            <a:r>
              <a:rPr lang="fr-FR" dirty="0"/>
              <a:t>Pourquoi ?</a:t>
            </a:r>
          </a:p>
        </p:txBody>
      </p:sp>
      <p:sp>
        <p:nvSpPr>
          <p:cNvPr id="5" name="ZoneTexte 4">
            <a:extLst>
              <a:ext uri="{FF2B5EF4-FFF2-40B4-BE49-F238E27FC236}">
                <a16:creationId xmlns:a16="http://schemas.microsoft.com/office/drawing/2014/main" id="{9BEB8B9B-28B9-DF37-4A5A-239EA3E8F3C3}"/>
              </a:ext>
            </a:extLst>
          </p:cNvPr>
          <p:cNvSpPr txBox="1"/>
          <p:nvPr/>
        </p:nvSpPr>
        <p:spPr>
          <a:xfrm>
            <a:off x="86213" y="1731436"/>
            <a:ext cx="8971573" cy="2123658"/>
          </a:xfrm>
          <a:prstGeom prst="rect">
            <a:avLst/>
          </a:prstGeom>
          <a:noFill/>
        </p:spPr>
        <p:txBody>
          <a:bodyPr wrap="square" rtlCol="0">
            <a:spAutoFit/>
          </a:bodyPr>
          <a:lstStyle/>
          <a:p>
            <a:pPr algn="just"/>
            <a:r>
              <a:rPr lang="fr-FR" sz="1200" dirty="0"/>
              <a:t>Selon le </a:t>
            </a:r>
            <a:r>
              <a:rPr lang="fr-FR" sz="1200" i="1" dirty="0"/>
              <a:t>Larousse®</a:t>
            </a:r>
            <a:r>
              <a:rPr lang="fr-FR" sz="1200" dirty="0"/>
              <a:t>, un document est une </a:t>
            </a:r>
            <a:r>
              <a:rPr lang="fr-FR" sz="1200" i="1" dirty="0"/>
              <a:t>« Pièce écrite ou objet servant d’information, de témoignage ou de preuve. »</a:t>
            </a:r>
          </a:p>
          <a:p>
            <a:pPr algn="just"/>
            <a:endParaRPr lang="fr-FR" sz="1200" dirty="0"/>
          </a:p>
          <a:p>
            <a:pPr algn="just"/>
            <a:r>
              <a:rPr lang="fr-FR" sz="1200" dirty="0"/>
              <a:t>La GED – ou Gestion Electronique des Documents – s’intéresse donc aux documents et aux données associées, et permet d’optimiser leur gestion et leur exploitation par des moyens électroniques spécialisés et performants.</a:t>
            </a:r>
          </a:p>
          <a:p>
            <a:pPr algn="just"/>
            <a:r>
              <a:rPr lang="fr-FR" sz="1200" dirty="0"/>
              <a:t>La GED est un procédé faisant intervenir des moyens électroniques – typiquement des logiciels et/ou des matériels – pour prendre en charge la gestion des documents, à savoir les opérations et actions destinées à traiter et à exploiter les documents, par exemple la capture, l’acquisition, la numérisation, la validation, la diffusion, le classement, l’indexation, l’archivage, Etc.</a:t>
            </a:r>
          </a:p>
          <a:p>
            <a:pPr algn="just"/>
            <a:endParaRPr lang="fr-FR" sz="1200" dirty="0"/>
          </a:p>
          <a:p>
            <a:pPr algn="just"/>
            <a:r>
              <a:rPr lang="fr-FR" sz="1200" dirty="0"/>
              <a:t>Les automatismes rendent plus fiables les documents, leur gestion, leur accès, leur exploitation, et permettent aux utilisateurs de se consacrer davantage à leurs tâches à valeur ajoutée tout en réduisant considérablement les risques d’oubli et d’erreur</a:t>
            </a:r>
          </a:p>
          <a:p>
            <a:endParaRPr lang="fr-FR" sz="1200" dirty="0"/>
          </a:p>
        </p:txBody>
      </p:sp>
      <p:sp>
        <p:nvSpPr>
          <p:cNvPr id="6" name="Espace réservé du contenu 1">
            <a:extLst>
              <a:ext uri="{FF2B5EF4-FFF2-40B4-BE49-F238E27FC236}">
                <a16:creationId xmlns:a16="http://schemas.microsoft.com/office/drawing/2014/main" id="{A6B59068-D04D-E676-8A92-5FACAF01D767}"/>
              </a:ext>
            </a:extLst>
          </p:cNvPr>
          <p:cNvSpPr txBox="1">
            <a:spLocks/>
          </p:cNvSpPr>
          <p:nvPr/>
        </p:nvSpPr>
        <p:spPr>
          <a:xfrm>
            <a:off x="1692001" y="4015712"/>
            <a:ext cx="6852030" cy="369332"/>
          </a:xfrm>
          <a:prstGeom prst="rect">
            <a:avLst/>
          </a:prstGeom>
          <a:noFill/>
        </p:spPr>
        <p:txBody>
          <a:bodyPr wrap="square" rtlCol="0">
            <a:spAutoFit/>
          </a:bodyPr>
          <a:lstStyle>
            <a:lvl1pPr marL="214313" marR="0" indent="-214313" algn="l" defTabSz="342900" rtl="0" eaLnBrk="1" fontAlgn="auto" latinLnBrk="0" hangingPunct="1">
              <a:lnSpc>
                <a:spcPct val="100000"/>
              </a:lnSpc>
              <a:spcBef>
                <a:spcPct val="20000"/>
              </a:spcBef>
              <a:spcAft>
                <a:spcPts val="0"/>
              </a:spcAft>
              <a:buClr>
                <a:srgbClr val="7E003F"/>
              </a:buClr>
              <a:buSzTx/>
              <a:buFont typeface="Wingdings" panose="05000000000000000000" pitchFamily="2" charset="2"/>
              <a:buChar char=""/>
              <a:tabLst/>
              <a:defRPr lang="fr-FR" sz="1800" b="1" kern="1200" dirty="0" smtClean="0">
                <a:solidFill>
                  <a:prstClr val="white">
                    <a:lumMod val="50000"/>
                  </a:prstClr>
                </a:solidFill>
                <a:latin typeface="Montserrat-Bold"/>
                <a:ea typeface="+mn-ea"/>
                <a:cs typeface="Montserrat-Bold"/>
              </a:defRPr>
            </a:lvl1pPr>
            <a:lvl2pPr marL="342900" indent="-140494" algn="l" defTabSz="342900" rtl="0" eaLnBrk="1" latinLnBrk="0" hangingPunct="1">
              <a:spcBef>
                <a:spcPct val="20000"/>
              </a:spcBef>
              <a:buClr>
                <a:srgbClr val="7E003F"/>
              </a:buClr>
              <a:buFont typeface="Arial" panose="020B0604020202020204" pitchFamily="34" charset="0"/>
              <a:buChar char="•"/>
              <a:defRPr lang="fr-FR" sz="1350" b="0" i="0" kern="1200" dirty="0" smtClean="0">
                <a:solidFill>
                  <a:schemeClr val="tx1"/>
                </a:solidFill>
                <a:latin typeface="Montserrat-Regular"/>
                <a:ea typeface="+mn-ea"/>
                <a:cs typeface="Montserrat-Regular"/>
              </a:defRPr>
            </a:lvl2pPr>
            <a:lvl3pPr marL="900113" indent="-214313" algn="l" defTabSz="342900" rtl="0" eaLnBrk="1" latinLnBrk="0" hangingPunct="1">
              <a:spcBef>
                <a:spcPct val="20000"/>
              </a:spcBef>
              <a:buClr>
                <a:srgbClr val="7E003F"/>
              </a:buClr>
              <a:buFont typeface="Wingdings" charset="2"/>
              <a:buChar char="§"/>
              <a:defRPr lang="fr-FR" sz="1200" b="0" i="0" kern="1200" dirty="0" smtClean="0">
                <a:solidFill>
                  <a:schemeClr val="tx1"/>
                </a:solidFill>
                <a:latin typeface="Montserrat-Regular"/>
                <a:ea typeface="+mn-ea"/>
                <a:cs typeface="Montserrat-Regular"/>
              </a:defRPr>
            </a:lvl3pPr>
            <a:lvl4pPr marL="1200150" indent="-171450" algn="l" defTabSz="342900" rtl="0" eaLnBrk="1" latinLnBrk="0" hangingPunct="1">
              <a:spcBef>
                <a:spcPct val="20000"/>
              </a:spcBef>
              <a:buFont typeface="Arial"/>
              <a:buChar char="–"/>
              <a:defRPr lang="fr-FR" sz="1350" kern="1200" dirty="0" smtClean="0">
                <a:solidFill>
                  <a:schemeClr val="tx1"/>
                </a:solidFill>
                <a:latin typeface="Arial" panose="020B0604020202020204" pitchFamily="34" charset="0"/>
                <a:ea typeface="+mn-ea"/>
                <a:cs typeface="Arial" panose="020B0604020202020204" pitchFamily="34" charset="0"/>
              </a:defRPr>
            </a:lvl4pPr>
            <a:lvl5pPr marL="1543050" indent="-171450" algn="l" defTabSz="342900" rtl="0" eaLnBrk="1" latinLnBrk="0" hangingPunct="1">
              <a:spcBef>
                <a:spcPct val="20000"/>
              </a:spcBef>
              <a:buFont typeface="Arial"/>
              <a:buChar char="»"/>
              <a:defRPr lang="en-US" sz="1350" kern="1200" dirty="0" smtClean="0">
                <a:solidFill>
                  <a:schemeClr val="tx1"/>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fr-FR" dirty="0"/>
              <a:t>En bref ?</a:t>
            </a:r>
          </a:p>
        </p:txBody>
      </p:sp>
      <p:sp>
        <p:nvSpPr>
          <p:cNvPr id="7" name="ZoneTexte 6">
            <a:extLst>
              <a:ext uri="{FF2B5EF4-FFF2-40B4-BE49-F238E27FC236}">
                <a16:creationId xmlns:a16="http://schemas.microsoft.com/office/drawing/2014/main" id="{DACD5E20-CEB5-1101-F63F-E247BDBACEFD}"/>
              </a:ext>
            </a:extLst>
          </p:cNvPr>
          <p:cNvSpPr txBox="1"/>
          <p:nvPr/>
        </p:nvSpPr>
        <p:spPr>
          <a:xfrm>
            <a:off x="879764" y="4385476"/>
            <a:ext cx="8178022" cy="307777"/>
          </a:xfrm>
          <a:prstGeom prst="rect">
            <a:avLst/>
          </a:prstGeom>
          <a:noFill/>
        </p:spPr>
        <p:txBody>
          <a:bodyPr wrap="square" rtlCol="0">
            <a:spAutoFit/>
          </a:bodyPr>
          <a:lstStyle/>
          <a:p>
            <a:r>
              <a:rPr lang="fr-FR" sz="1400" i="1" dirty="0"/>
              <a:t>Une GED est une base de données centralisé de tous les documents avec des filtres optimisés pour la recherche</a:t>
            </a:r>
            <a:r>
              <a:rPr lang="fr-FR" sz="1400" dirty="0"/>
              <a:t>.</a:t>
            </a:r>
          </a:p>
        </p:txBody>
      </p:sp>
    </p:spTree>
    <p:extLst>
      <p:ext uri="{BB962C8B-B14F-4D97-AF65-F5344CB8AC3E}">
        <p14:creationId xmlns:p14="http://schemas.microsoft.com/office/powerpoint/2010/main" val="3010894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2FBF6-954B-3DC7-2BB6-570462095812}"/>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8E2C0EF9-F536-44E9-BE5B-C8B095CA1F70}"/>
              </a:ext>
            </a:extLst>
          </p:cNvPr>
          <p:cNvSpPr>
            <a:spLocks noGrp="1"/>
          </p:cNvSpPr>
          <p:nvPr>
            <p:ph idx="1"/>
          </p:nvPr>
        </p:nvSpPr>
        <p:spPr>
          <a:xfrm>
            <a:off x="1692000" y="1211293"/>
            <a:ext cx="6852030" cy="369332"/>
          </a:xfrm>
        </p:spPr>
        <p:txBody>
          <a:bodyPr/>
          <a:lstStyle/>
          <a:p>
            <a:r>
              <a:rPr lang="fr-FR" dirty="0"/>
              <a:t>Quel intérêt ?</a:t>
            </a:r>
          </a:p>
        </p:txBody>
      </p:sp>
      <p:sp>
        <p:nvSpPr>
          <p:cNvPr id="3" name="Titre 2">
            <a:extLst>
              <a:ext uri="{FF2B5EF4-FFF2-40B4-BE49-F238E27FC236}">
                <a16:creationId xmlns:a16="http://schemas.microsoft.com/office/drawing/2014/main" id="{4A60825C-92F1-8735-85D5-32A8DECAE6E7}"/>
              </a:ext>
            </a:extLst>
          </p:cNvPr>
          <p:cNvSpPr>
            <a:spLocks noGrp="1"/>
          </p:cNvSpPr>
          <p:nvPr>
            <p:ph type="title"/>
          </p:nvPr>
        </p:nvSpPr>
        <p:spPr>
          <a:xfrm>
            <a:off x="1692000" y="468000"/>
            <a:ext cx="6852031" cy="715581"/>
          </a:xfrm>
        </p:spPr>
        <p:txBody>
          <a:bodyPr/>
          <a:lstStyle/>
          <a:p>
            <a:r>
              <a:rPr lang="fr-FR" dirty="0"/>
              <a:t>Pourquoi ?</a:t>
            </a:r>
          </a:p>
        </p:txBody>
      </p:sp>
      <p:sp>
        <p:nvSpPr>
          <p:cNvPr id="5" name="ZoneTexte 4">
            <a:extLst>
              <a:ext uri="{FF2B5EF4-FFF2-40B4-BE49-F238E27FC236}">
                <a16:creationId xmlns:a16="http://schemas.microsoft.com/office/drawing/2014/main" id="{CD456708-682B-B9F7-65C8-1D65C0A3773D}"/>
              </a:ext>
            </a:extLst>
          </p:cNvPr>
          <p:cNvSpPr txBox="1"/>
          <p:nvPr/>
        </p:nvSpPr>
        <p:spPr>
          <a:xfrm>
            <a:off x="86213" y="1731436"/>
            <a:ext cx="8971573" cy="2123658"/>
          </a:xfrm>
          <a:prstGeom prst="rect">
            <a:avLst/>
          </a:prstGeom>
          <a:noFill/>
        </p:spPr>
        <p:txBody>
          <a:bodyPr wrap="square" rtlCol="0">
            <a:spAutoFit/>
          </a:bodyPr>
          <a:lstStyle/>
          <a:p>
            <a:pPr algn="just"/>
            <a:r>
              <a:rPr lang="fr-FR" sz="1200" dirty="0"/>
              <a:t>Une GED offre de nombreux avantages : centralisation des documents, accès rapide à l’information, réduction des coûts liés au papier, automatisation des workflows, meilleure traçabilité et sécurité renforcée. Elle facilite aussi la collaboration, améliore la conformité réglementaire et optimise l’efficacité globale de l’organisation.</a:t>
            </a:r>
          </a:p>
          <a:p>
            <a:pPr algn="just"/>
            <a:endParaRPr lang="fr-FR" sz="1200" dirty="0"/>
          </a:p>
          <a:p>
            <a:pPr algn="just"/>
            <a:r>
              <a:rPr lang="fr-FR" sz="1200" dirty="0"/>
              <a:t>Les entreprises sont aujourd’hui confrontées à une multitude de données, souvent éparpillées entre différents outils où l’information reste cloisonnée. Sans GED, les sources d’information se multiplient, les doublons se créent et le risque de perdre des documents importants devient bien réel.</a:t>
            </a:r>
          </a:p>
          <a:p>
            <a:pPr algn="just"/>
            <a:endParaRPr lang="fr-FR" sz="1200" dirty="0"/>
          </a:p>
          <a:p>
            <a:pPr algn="just"/>
            <a:r>
              <a:rPr lang="fr-FR" sz="1200" dirty="0"/>
              <a:t>Dans ce contexte de dématérialisation croissante des fichiers, il devient indispensable de s’appuyer sur un outil de gestion électronique des documents adapté. Une GED permet non seulement de répondre aux problématiques spécifiques de chaque entreprise (organisation, accès à l’information, collaboration), mais aussi de respecter les exigences légales en matière de conservation et de traçabilité des documents.</a:t>
            </a:r>
          </a:p>
        </p:txBody>
      </p:sp>
      <p:sp>
        <p:nvSpPr>
          <p:cNvPr id="6" name="Espace réservé du contenu 1">
            <a:extLst>
              <a:ext uri="{FF2B5EF4-FFF2-40B4-BE49-F238E27FC236}">
                <a16:creationId xmlns:a16="http://schemas.microsoft.com/office/drawing/2014/main" id="{62310984-DAE0-B68B-AB2C-2A1842F6A712}"/>
              </a:ext>
            </a:extLst>
          </p:cNvPr>
          <p:cNvSpPr txBox="1">
            <a:spLocks/>
          </p:cNvSpPr>
          <p:nvPr/>
        </p:nvSpPr>
        <p:spPr>
          <a:xfrm>
            <a:off x="1692001" y="4015712"/>
            <a:ext cx="6852030" cy="369332"/>
          </a:xfrm>
          <a:prstGeom prst="rect">
            <a:avLst/>
          </a:prstGeom>
          <a:noFill/>
        </p:spPr>
        <p:txBody>
          <a:bodyPr wrap="square" rtlCol="0">
            <a:spAutoFit/>
          </a:bodyPr>
          <a:lstStyle>
            <a:lvl1pPr marL="214313" marR="0" indent="-214313" algn="l" defTabSz="342900" rtl="0" eaLnBrk="1" fontAlgn="auto" latinLnBrk="0" hangingPunct="1">
              <a:lnSpc>
                <a:spcPct val="100000"/>
              </a:lnSpc>
              <a:spcBef>
                <a:spcPct val="20000"/>
              </a:spcBef>
              <a:spcAft>
                <a:spcPts val="0"/>
              </a:spcAft>
              <a:buClr>
                <a:srgbClr val="7E003F"/>
              </a:buClr>
              <a:buSzTx/>
              <a:buFont typeface="Wingdings" panose="05000000000000000000" pitchFamily="2" charset="2"/>
              <a:buChar char=""/>
              <a:tabLst/>
              <a:defRPr lang="fr-FR" sz="1800" b="1" kern="1200" dirty="0" smtClean="0">
                <a:solidFill>
                  <a:prstClr val="white">
                    <a:lumMod val="50000"/>
                  </a:prstClr>
                </a:solidFill>
                <a:latin typeface="Montserrat-Bold"/>
                <a:ea typeface="+mn-ea"/>
                <a:cs typeface="Montserrat-Bold"/>
              </a:defRPr>
            </a:lvl1pPr>
            <a:lvl2pPr marL="342900" indent="-140494" algn="l" defTabSz="342900" rtl="0" eaLnBrk="1" latinLnBrk="0" hangingPunct="1">
              <a:spcBef>
                <a:spcPct val="20000"/>
              </a:spcBef>
              <a:buClr>
                <a:srgbClr val="7E003F"/>
              </a:buClr>
              <a:buFont typeface="Arial" panose="020B0604020202020204" pitchFamily="34" charset="0"/>
              <a:buChar char="•"/>
              <a:defRPr lang="fr-FR" sz="1350" b="0" i="0" kern="1200" dirty="0" smtClean="0">
                <a:solidFill>
                  <a:schemeClr val="tx1"/>
                </a:solidFill>
                <a:latin typeface="Montserrat-Regular"/>
                <a:ea typeface="+mn-ea"/>
                <a:cs typeface="Montserrat-Regular"/>
              </a:defRPr>
            </a:lvl2pPr>
            <a:lvl3pPr marL="900113" indent="-214313" algn="l" defTabSz="342900" rtl="0" eaLnBrk="1" latinLnBrk="0" hangingPunct="1">
              <a:spcBef>
                <a:spcPct val="20000"/>
              </a:spcBef>
              <a:buClr>
                <a:srgbClr val="7E003F"/>
              </a:buClr>
              <a:buFont typeface="Wingdings" charset="2"/>
              <a:buChar char="§"/>
              <a:defRPr lang="fr-FR" sz="1200" b="0" i="0" kern="1200" dirty="0" smtClean="0">
                <a:solidFill>
                  <a:schemeClr val="tx1"/>
                </a:solidFill>
                <a:latin typeface="Montserrat-Regular"/>
                <a:ea typeface="+mn-ea"/>
                <a:cs typeface="Montserrat-Regular"/>
              </a:defRPr>
            </a:lvl3pPr>
            <a:lvl4pPr marL="1200150" indent="-171450" algn="l" defTabSz="342900" rtl="0" eaLnBrk="1" latinLnBrk="0" hangingPunct="1">
              <a:spcBef>
                <a:spcPct val="20000"/>
              </a:spcBef>
              <a:buFont typeface="Arial"/>
              <a:buChar char="–"/>
              <a:defRPr lang="fr-FR" sz="1350" kern="1200" dirty="0" smtClean="0">
                <a:solidFill>
                  <a:schemeClr val="tx1"/>
                </a:solidFill>
                <a:latin typeface="Arial" panose="020B0604020202020204" pitchFamily="34" charset="0"/>
                <a:ea typeface="+mn-ea"/>
                <a:cs typeface="Arial" panose="020B0604020202020204" pitchFamily="34" charset="0"/>
              </a:defRPr>
            </a:lvl4pPr>
            <a:lvl5pPr marL="1543050" indent="-171450" algn="l" defTabSz="342900" rtl="0" eaLnBrk="1" latinLnBrk="0" hangingPunct="1">
              <a:spcBef>
                <a:spcPct val="20000"/>
              </a:spcBef>
              <a:buFont typeface="Arial"/>
              <a:buChar char="»"/>
              <a:defRPr lang="en-US" sz="1350" kern="1200" dirty="0" smtClean="0">
                <a:solidFill>
                  <a:schemeClr val="tx1"/>
                </a:solidFill>
                <a:latin typeface="Arial" panose="020B0604020202020204" pitchFamily="34" charset="0"/>
                <a:ea typeface="+mn-ea"/>
                <a:cs typeface="Arial" panose="020B0604020202020204" pitchFamily="34" charset="0"/>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a:lstStyle>
          <a:p>
            <a:r>
              <a:rPr lang="fr-FR" dirty="0"/>
              <a:t>En bref ?</a:t>
            </a:r>
          </a:p>
        </p:txBody>
      </p:sp>
      <p:sp>
        <p:nvSpPr>
          <p:cNvPr id="7" name="ZoneTexte 6">
            <a:extLst>
              <a:ext uri="{FF2B5EF4-FFF2-40B4-BE49-F238E27FC236}">
                <a16:creationId xmlns:a16="http://schemas.microsoft.com/office/drawing/2014/main" id="{9602389A-184B-C8E6-11E8-56947AF6171E}"/>
              </a:ext>
            </a:extLst>
          </p:cNvPr>
          <p:cNvSpPr txBox="1"/>
          <p:nvPr/>
        </p:nvSpPr>
        <p:spPr>
          <a:xfrm>
            <a:off x="879764" y="4385476"/>
            <a:ext cx="8178022" cy="307777"/>
          </a:xfrm>
          <a:prstGeom prst="rect">
            <a:avLst/>
          </a:prstGeom>
          <a:noFill/>
        </p:spPr>
        <p:txBody>
          <a:bodyPr wrap="square" rtlCol="0">
            <a:spAutoFit/>
          </a:bodyPr>
          <a:lstStyle/>
          <a:p>
            <a:r>
              <a:rPr lang="fr-FR" sz="1400" i="1" dirty="0"/>
              <a:t>Une GED est un outil qui sécurise les documents et optimise le travail et la collaboration.</a:t>
            </a:r>
            <a:endParaRPr lang="fr-FR" sz="1400" dirty="0"/>
          </a:p>
        </p:txBody>
      </p:sp>
    </p:spTree>
    <p:extLst>
      <p:ext uri="{BB962C8B-B14F-4D97-AF65-F5344CB8AC3E}">
        <p14:creationId xmlns:p14="http://schemas.microsoft.com/office/powerpoint/2010/main" val="2539980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C874A-B409-D079-05EF-4567541AF7B7}"/>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4E940FB2-07BC-60B6-12A0-BD01F67CF3F7}"/>
              </a:ext>
            </a:extLst>
          </p:cNvPr>
          <p:cNvSpPr>
            <a:spLocks noGrp="1"/>
          </p:cNvSpPr>
          <p:nvPr>
            <p:ph idx="1"/>
          </p:nvPr>
        </p:nvSpPr>
        <p:spPr>
          <a:xfrm>
            <a:off x="1692000" y="1211293"/>
            <a:ext cx="6852030" cy="369332"/>
          </a:xfrm>
        </p:spPr>
        <p:txBody>
          <a:bodyPr/>
          <a:lstStyle/>
          <a:p>
            <a:r>
              <a:rPr lang="fr-FR" dirty="0"/>
              <a:t>Via les outils Microsoft existants</a:t>
            </a:r>
          </a:p>
        </p:txBody>
      </p:sp>
      <p:sp>
        <p:nvSpPr>
          <p:cNvPr id="3" name="Titre 2">
            <a:extLst>
              <a:ext uri="{FF2B5EF4-FFF2-40B4-BE49-F238E27FC236}">
                <a16:creationId xmlns:a16="http://schemas.microsoft.com/office/drawing/2014/main" id="{B7092780-4905-F4CB-B26F-A80C17BB4AC4}"/>
              </a:ext>
            </a:extLst>
          </p:cNvPr>
          <p:cNvSpPr>
            <a:spLocks noGrp="1"/>
          </p:cNvSpPr>
          <p:nvPr>
            <p:ph type="title"/>
          </p:nvPr>
        </p:nvSpPr>
        <p:spPr>
          <a:xfrm>
            <a:off x="1692000" y="468000"/>
            <a:ext cx="6852031" cy="715581"/>
          </a:xfrm>
        </p:spPr>
        <p:txBody>
          <a:bodyPr/>
          <a:lstStyle/>
          <a:p>
            <a:r>
              <a:rPr lang="fr-FR" dirty="0"/>
              <a:t>Comment ?</a:t>
            </a:r>
          </a:p>
        </p:txBody>
      </p:sp>
      <p:pic>
        <p:nvPicPr>
          <p:cNvPr id="8" name="Image 7">
            <a:extLst>
              <a:ext uri="{FF2B5EF4-FFF2-40B4-BE49-F238E27FC236}">
                <a16:creationId xmlns:a16="http://schemas.microsoft.com/office/drawing/2014/main" id="{FC86F2EB-0D0B-7869-C7DC-51B546ABAF51}"/>
              </a:ext>
            </a:extLst>
          </p:cNvPr>
          <p:cNvPicPr>
            <a:picLocks noChangeAspect="1"/>
          </p:cNvPicPr>
          <p:nvPr/>
        </p:nvPicPr>
        <p:blipFill>
          <a:blip r:embed="rId2"/>
          <a:stretch>
            <a:fillRect/>
          </a:stretch>
        </p:blipFill>
        <p:spPr>
          <a:xfrm>
            <a:off x="3478312" y="1535746"/>
            <a:ext cx="1639703" cy="922333"/>
          </a:xfrm>
          <a:prstGeom prst="rect">
            <a:avLst/>
          </a:prstGeom>
        </p:spPr>
      </p:pic>
      <p:pic>
        <p:nvPicPr>
          <p:cNvPr id="10" name="Image 9">
            <a:extLst>
              <a:ext uri="{FF2B5EF4-FFF2-40B4-BE49-F238E27FC236}">
                <a16:creationId xmlns:a16="http://schemas.microsoft.com/office/drawing/2014/main" id="{AC1B86DD-7606-9060-242B-81120FE9D7D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77" b="95117" l="10000" r="90000">
                        <a14:foregroundMark x1="43778" y1="6836" x2="43778" y2="6836"/>
                        <a14:foregroundMark x1="46778" y1="977" x2="46778" y2="977"/>
                        <a14:foregroundMark x1="36889" y1="47070" x2="36889" y2="47070"/>
                        <a14:foregroundMark x1="31889" y1="63867" x2="31889" y2="63867"/>
                        <a14:foregroundMark x1="33222" y1="84180" x2="33222" y2="84180"/>
                        <a14:foregroundMark x1="33556" y1="86523" x2="33556" y2="86523"/>
                        <a14:foregroundMark x1="37556" y1="84570" x2="30778" y2="83008"/>
                        <a14:foregroundMark x1="30778" y1="83008" x2="24000" y2="76563"/>
                        <a14:foregroundMark x1="24000" y1="76563" x2="30444" y2="86133"/>
                        <a14:foregroundMark x1="30444" y1="86133" x2="36778" y2="87695"/>
                        <a14:foregroundMark x1="36778" y1="87695" x2="36778" y2="83984"/>
                        <a14:foregroundMark x1="43000" y1="95117" x2="43000" y2="95117"/>
                        <a14:foregroundMark x1="55000" y1="93750" x2="55000" y2="93750"/>
                        <a14:foregroundMark x1="67667" y1="66992" x2="67667" y2="66992"/>
                      </a14:backgroundRemoval>
                    </a14:imgEffect>
                  </a14:imgLayer>
                </a14:imgProps>
              </a:ext>
            </a:extLst>
          </a:blip>
          <a:stretch>
            <a:fillRect/>
          </a:stretch>
        </p:blipFill>
        <p:spPr>
          <a:xfrm>
            <a:off x="1664311" y="2721587"/>
            <a:ext cx="1168394" cy="664686"/>
          </a:xfrm>
          <a:prstGeom prst="rect">
            <a:avLst/>
          </a:prstGeom>
        </p:spPr>
      </p:pic>
      <p:pic>
        <p:nvPicPr>
          <p:cNvPr id="12" name="Image 11">
            <a:extLst>
              <a:ext uri="{FF2B5EF4-FFF2-40B4-BE49-F238E27FC236}">
                <a16:creationId xmlns:a16="http://schemas.microsoft.com/office/drawing/2014/main" id="{8FE42C1B-FEBB-05B4-7B92-0901CF2E6788}"/>
              </a:ext>
            </a:extLst>
          </p:cNvPr>
          <p:cNvPicPr>
            <a:picLocks noChangeAspect="1"/>
          </p:cNvPicPr>
          <p:nvPr/>
        </p:nvPicPr>
        <p:blipFill>
          <a:blip r:embed="rId5"/>
          <a:srcRect r="77752"/>
          <a:stretch>
            <a:fillRect/>
          </a:stretch>
        </p:blipFill>
        <p:spPr>
          <a:xfrm>
            <a:off x="3704887" y="2671324"/>
            <a:ext cx="1186555" cy="833327"/>
          </a:xfrm>
          <a:prstGeom prst="rect">
            <a:avLst/>
          </a:prstGeom>
        </p:spPr>
      </p:pic>
      <p:pic>
        <p:nvPicPr>
          <p:cNvPr id="13" name="Image 12">
            <a:extLst>
              <a:ext uri="{FF2B5EF4-FFF2-40B4-BE49-F238E27FC236}">
                <a16:creationId xmlns:a16="http://schemas.microsoft.com/office/drawing/2014/main" id="{4929807D-FBEC-7A93-453F-47F9670AB299}"/>
              </a:ext>
            </a:extLst>
          </p:cNvPr>
          <p:cNvPicPr>
            <a:picLocks noChangeAspect="1"/>
          </p:cNvPicPr>
          <p:nvPr/>
        </p:nvPicPr>
        <p:blipFill>
          <a:blip r:embed="rId5"/>
          <a:srcRect l="22248" r="60388"/>
          <a:stretch>
            <a:fillRect/>
          </a:stretch>
        </p:blipFill>
        <p:spPr>
          <a:xfrm>
            <a:off x="6137178" y="2650817"/>
            <a:ext cx="926090" cy="833327"/>
          </a:xfrm>
          <a:prstGeom prst="rect">
            <a:avLst/>
          </a:prstGeom>
        </p:spPr>
      </p:pic>
      <p:cxnSp>
        <p:nvCxnSpPr>
          <p:cNvPr id="15" name="Connecteur : en angle 14">
            <a:extLst>
              <a:ext uri="{FF2B5EF4-FFF2-40B4-BE49-F238E27FC236}">
                <a16:creationId xmlns:a16="http://schemas.microsoft.com/office/drawing/2014/main" id="{3F04B725-F1F5-C70B-CCCE-9ED38E062A21}"/>
              </a:ext>
            </a:extLst>
          </p:cNvPr>
          <p:cNvCxnSpPr>
            <a:cxnSpLocks/>
            <a:endCxn id="8" idx="2"/>
          </p:cNvCxnSpPr>
          <p:nvPr/>
        </p:nvCxnSpPr>
        <p:spPr>
          <a:xfrm flipV="1">
            <a:off x="2194582" y="2458079"/>
            <a:ext cx="2103582" cy="107883"/>
          </a:xfrm>
          <a:prstGeom prst="bentConnector2">
            <a:avLst/>
          </a:prstGeom>
        </p:spPr>
        <p:style>
          <a:lnRef idx="2">
            <a:schemeClr val="accent1"/>
          </a:lnRef>
          <a:fillRef idx="0">
            <a:schemeClr val="accent1"/>
          </a:fillRef>
          <a:effectRef idx="1">
            <a:schemeClr val="accent1"/>
          </a:effectRef>
          <a:fontRef idx="minor">
            <a:schemeClr val="tx1"/>
          </a:fontRef>
        </p:style>
      </p:cxnSp>
      <p:cxnSp>
        <p:nvCxnSpPr>
          <p:cNvPr id="17" name="Connecteur : en angle 16">
            <a:extLst>
              <a:ext uri="{FF2B5EF4-FFF2-40B4-BE49-F238E27FC236}">
                <a16:creationId xmlns:a16="http://schemas.microsoft.com/office/drawing/2014/main" id="{39E4C8A0-5B04-E10A-CB3A-C274737DC32D}"/>
              </a:ext>
            </a:extLst>
          </p:cNvPr>
          <p:cNvCxnSpPr>
            <a:cxnSpLocks/>
            <a:endCxn id="8" idx="2"/>
          </p:cNvCxnSpPr>
          <p:nvPr/>
        </p:nvCxnSpPr>
        <p:spPr>
          <a:xfrm rot="10800000">
            <a:off x="4298165" y="2458080"/>
            <a:ext cx="2302059" cy="107881"/>
          </a:xfrm>
          <a:prstGeom prst="bentConnector2">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53628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05932-66E4-0B54-B5F8-5D42C5C0DC11}"/>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6079B67E-1081-3EBE-988B-FE685D98269D}"/>
              </a:ext>
            </a:extLst>
          </p:cNvPr>
          <p:cNvSpPr>
            <a:spLocks noGrp="1"/>
          </p:cNvSpPr>
          <p:nvPr>
            <p:ph idx="1"/>
          </p:nvPr>
        </p:nvSpPr>
        <p:spPr>
          <a:xfrm>
            <a:off x="1692000" y="1211293"/>
            <a:ext cx="6852030" cy="369332"/>
          </a:xfrm>
        </p:spPr>
        <p:txBody>
          <a:bodyPr/>
          <a:lstStyle/>
          <a:p>
            <a:r>
              <a:rPr lang="fr-FR" dirty="0"/>
              <a:t>Via les outils Microsoft existants</a:t>
            </a:r>
          </a:p>
        </p:txBody>
      </p:sp>
      <p:sp>
        <p:nvSpPr>
          <p:cNvPr id="3" name="Titre 2">
            <a:extLst>
              <a:ext uri="{FF2B5EF4-FFF2-40B4-BE49-F238E27FC236}">
                <a16:creationId xmlns:a16="http://schemas.microsoft.com/office/drawing/2014/main" id="{5385A6B9-DC5E-CC54-7DBA-5FC9E1F2C791}"/>
              </a:ext>
            </a:extLst>
          </p:cNvPr>
          <p:cNvSpPr>
            <a:spLocks noGrp="1"/>
          </p:cNvSpPr>
          <p:nvPr>
            <p:ph type="title"/>
          </p:nvPr>
        </p:nvSpPr>
        <p:spPr>
          <a:xfrm>
            <a:off x="1692000" y="468000"/>
            <a:ext cx="6852031" cy="715581"/>
          </a:xfrm>
        </p:spPr>
        <p:txBody>
          <a:bodyPr/>
          <a:lstStyle/>
          <a:p>
            <a:r>
              <a:rPr lang="fr-FR" dirty="0"/>
              <a:t>Comment ?</a:t>
            </a:r>
          </a:p>
        </p:txBody>
      </p:sp>
      <p:pic>
        <p:nvPicPr>
          <p:cNvPr id="8" name="Image 7">
            <a:extLst>
              <a:ext uri="{FF2B5EF4-FFF2-40B4-BE49-F238E27FC236}">
                <a16:creationId xmlns:a16="http://schemas.microsoft.com/office/drawing/2014/main" id="{54794FF6-9903-76F7-0E9B-29225F852AC8}"/>
              </a:ext>
            </a:extLst>
          </p:cNvPr>
          <p:cNvPicPr>
            <a:picLocks noChangeAspect="1"/>
          </p:cNvPicPr>
          <p:nvPr/>
        </p:nvPicPr>
        <p:blipFill>
          <a:blip r:embed="rId2"/>
          <a:stretch>
            <a:fillRect/>
          </a:stretch>
        </p:blipFill>
        <p:spPr>
          <a:xfrm>
            <a:off x="528306" y="1957550"/>
            <a:ext cx="1313180" cy="738664"/>
          </a:xfrm>
          <a:prstGeom prst="rect">
            <a:avLst/>
          </a:prstGeom>
        </p:spPr>
      </p:pic>
      <p:pic>
        <p:nvPicPr>
          <p:cNvPr id="10" name="Image 9">
            <a:extLst>
              <a:ext uri="{FF2B5EF4-FFF2-40B4-BE49-F238E27FC236}">
                <a16:creationId xmlns:a16="http://schemas.microsoft.com/office/drawing/2014/main" id="{C1F98589-2194-9AA0-3361-058AF5440C6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977" b="95117" l="10000" r="90000">
                        <a14:foregroundMark x1="43778" y1="6836" x2="43778" y2="6836"/>
                        <a14:foregroundMark x1="46778" y1="977" x2="46778" y2="977"/>
                        <a14:foregroundMark x1="36889" y1="47070" x2="36889" y2="47070"/>
                        <a14:foregroundMark x1="31889" y1="63867" x2="31889" y2="63867"/>
                        <a14:foregroundMark x1="33222" y1="84180" x2="33222" y2="84180"/>
                        <a14:foregroundMark x1="33556" y1="86523" x2="33556" y2="86523"/>
                        <a14:foregroundMark x1="37556" y1="84570" x2="30778" y2="83008"/>
                        <a14:foregroundMark x1="30778" y1="83008" x2="24000" y2="76563"/>
                        <a14:foregroundMark x1="24000" y1="76563" x2="30444" y2="86133"/>
                        <a14:foregroundMark x1="30444" y1="86133" x2="36778" y2="87695"/>
                        <a14:foregroundMark x1="36778" y1="87695" x2="36778" y2="83984"/>
                        <a14:foregroundMark x1="43000" y1="95117" x2="43000" y2="95117"/>
                        <a14:foregroundMark x1="55000" y1="93750" x2="55000" y2="93750"/>
                        <a14:foregroundMark x1="67667" y1="66992" x2="67667" y2="66992"/>
                      </a14:backgroundRemoval>
                    </a14:imgEffect>
                  </a14:imgLayer>
                </a14:imgProps>
              </a:ext>
            </a:extLst>
          </a:blip>
          <a:stretch>
            <a:fillRect/>
          </a:stretch>
        </p:blipFill>
        <p:spPr>
          <a:xfrm>
            <a:off x="523606" y="3599864"/>
            <a:ext cx="1168394" cy="664686"/>
          </a:xfrm>
          <a:prstGeom prst="rect">
            <a:avLst/>
          </a:prstGeom>
        </p:spPr>
      </p:pic>
      <p:pic>
        <p:nvPicPr>
          <p:cNvPr id="12" name="Image 11">
            <a:extLst>
              <a:ext uri="{FF2B5EF4-FFF2-40B4-BE49-F238E27FC236}">
                <a16:creationId xmlns:a16="http://schemas.microsoft.com/office/drawing/2014/main" id="{7913B8DA-76D5-D277-739E-EC5C4752A61E}"/>
              </a:ext>
            </a:extLst>
          </p:cNvPr>
          <p:cNvPicPr>
            <a:picLocks noChangeAspect="1"/>
          </p:cNvPicPr>
          <p:nvPr/>
        </p:nvPicPr>
        <p:blipFill>
          <a:blip r:embed="rId5"/>
          <a:srcRect r="77752"/>
          <a:stretch>
            <a:fillRect/>
          </a:stretch>
        </p:blipFill>
        <p:spPr>
          <a:xfrm>
            <a:off x="5118015" y="1975058"/>
            <a:ext cx="1186555" cy="833327"/>
          </a:xfrm>
          <a:prstGeom prst="rect">
            <a:avLst/>
          </a:prstGeom>
        </p:spPr>
      </p:pic>
      <p:pic>
        <p:nvPicPr>
          <p:cNvPr id="13" name="Image 12">
            <a:extLst>
              <a:ext uri="{FF2B5EF4-FFF2-40B4-BE49-F238E27FC236}">
                <a16:creationId xmlns:a16="http://schemas.microsoft.com/office/drawing/2014/main" id="{443C59F1-A5AF-09F3-7194-41C25267F95E}"/>
              </a:ext>
            </a:extLst>
          </p:cNvPr>
          <p:cNvPicPr>
            <a:picLocks noChangeAspect="1"/>
          </p:cNvPicPr>
          <p:nvPr/>
        </p:nvPicPr>
        <p:blipFill>
          <a:blip r:embed="rId5"/>
          <a:srcRect l="22248" r="60388"/>
          <a:stretch>
            <a:fillRect/>
          </a:stretch>
        </p:blipFill>
        <p:spPr>
          <a:xfrm>
            <a:off x="5248247" y="3515543"/>
            <a:ext cx="926090" cy="833327"/>
          </a:xfrm>
          <a:prstGeom prst="rect">
            <a:avLst/>
          </a:prstGeom>
        </p:spPr>
      </p:pic>
      <p:sp>
        <p:nvSpPr>
          <p:cNvPr id="4" name="ZoneTexte 3">
            <a:extLst>
              <a:ext uri="{FF2B5EF4-FFF2-40B4-BE49-F238E27FC236}">
                <a16:creationId xmlns:a16="http://schemas.microsoft.com/office/drawing/2014/main" id="{30549155-DC8F-B9A7-F994-B9760E8165EB}"/>
              </a:ext>
            </a:extLst>
          </p:cNvPr>
          <p:cNvSpPr txBox="1"/>
          <p:nvPr/>
        </p:nvSpPr>
        <p:spPr>
          <a:xfrm>
            <a:off x="2085326" y="2022389"/>
            <a:ext cx="2745754" cy="738664"/>
          </a:xfrm>
          <a:prstGeom prst="rect">
            <a:avLst/>
          </a:prstGeom>
          <a:noFill/>
        </p:spPr>
        <p:txBody>
          <a:bodyPr wrap="square" rtlCol="0">
            <a:spAutoFit/>
          </a:bodyPr>
          <a:lstStyle/>
          <a:p>
            <a:r>
              <a:rPr lang="fr-FR" sz="1400" i="1" dirty="0"/>
              <a:t>Ajout d’une bibliothèque de documents unique dans le SharePoint global</a:t>
            </a:r>
            <a:endParaRPr lang="fr-FR" sz="1400" dirty="0"/>
          </a:p>
        </p:txBody>
      </p:sp>
      <p:sp>
        <p:nvSpPr>
          <p:cNvPr id="5" name="ZoneTexte 4">
            <a:extLst>
              <a:ext uri="{FF2B5EF4-FFF2-40B4-BE49-F238E27FC236}">
                <a16:creationId xmlns:a16="http://schemas.microsoft.com/office/drawing/2014/main" id="{1EF1F60E-CA30-F8EE-7780-C1B8C623CF12}"/>
              </a:ext>
            </a:extLst>
          </p:cNvPr>
          <p:cNvSpPr txBox="1"/>
          <p:nvPr/>
        </p:nvSpPr>
        <p:spPr>
          <a:xfrm>
            <a:off x="2085326" y="3562876"/>
            <a:ext cx="2745754" cy="738664"/>
          </a:xfrm>
          <a:prstGeom prst="rect">
            <a:avLst/>
          </a:prstGeom>
          <a:noFill/>
        </p:spPr>
        <p:txBody>
          <a:bodyPr wrap="square" rtlCol="0">
            <a:spAutoFit/>
          </a:bodyPr>
          <a:lstStyle/>
          <a:p>
            <a:r>
              <a:rPr lang="fr-FR" sz="1400" i="1" dirty="0"/>
              <a:t>La bibliothèque de document fait office de base de données et de coffre fort pour les documents</a:t>
            </a:r>
            <a:endParaRPr lang="fr-FR" sz="1400" dirty="0"/>
          </a:p>
        </p:txBody>
      </p:sp>
      <p:sp>
        <p:nvSpPr>
          <p:cNvPr id="6" name="ZoneTexte 5">
            <a:extLst>
              <a:ext uri="{FF2B5EF4-FFF2-40B4-BE49-F238E27FC236}">
                <a16:creationId xmlns:a16="http://schemas.microsoft.com/office/drawing/2014/main" id="{07F731A1-C1C1-5900-C917-BCADAE15839F}"/>
              </a:ext>
            </a:extLst>
          </p:cNvPr>
          <p:cNvSpPr txBox="1"/>
          <p:nvPr/>
        </p:nvSpPr>
        <p:spPr>
          <a:xfrm>
            <a:off x="6304570" y="2019105"/>
            <a:ext cx="2745754" cy="738664"/>
          </a:xfrm>
          <a:prstGeom prst="rect">
            <a:avLst/>
          </a:prstGeom>
          <a:noFill/>
        </p:spPr>
        <p:txBody>
          <a:bodyPr wrap="square" rtlCol="0">
            <a:spAutoFit/>
          </a:bodyPr>
          <a:lstStyle/>
          <a:p>
            <a:r>
              <a:rPr lang="fr-FR" sz="1400" i="1" dirty="0"/>
              <a:t>Power Automate pour la création des flux (création, validation, modification, obsolescence…)</a:t>
            </a:r>
            <a:endParaRPr lang="fr-FR" sz="1400" dirty="0"/>
          </a:p>
        </p:txBody>
      </p:sp>
      <p:sp>
        <p:nvSpPr>
          <p:cNvPr id="7" name="ZoneTexte 6">
            <a:extLst>
              <a:ext uri="{FF2B5EF4-FFF2-40B4-BE49-F238E27FC236}">
                <a16:creationId xmlns:a16="http://schemas.microsoft.com/office/drawing/2014/main" id="{EB7DFB8B-C559-D5B4-F34C-E59BC7AD8662}"/>
              </a:ext>
            </a:extLst>
          </p:cNvPr>
          <p:cNvSpPr txBox="1"/>
          <p:nvPr/>
        </p:nvSpPr>
        <p:spPr>
          <a:xfrm>
            <a:off x="6304570" y="3562876"/>
            <a:ext cx="2745754" cy="738664"/>
          </a:xfrm>
          <a:prstGeom prst="rect">
            <a:avLst/>
          </a:prstGeom>
          <a:noFill/>
        </p:spPr>
        <p:txBody>
          <a:bodyPr wrap="square" rtlCol="0">
            <a:spAutoFit/>
          </a:bodyPr>
          <a:lstStyle/>
          <a:p>
            <a:r>
              <a:rPr lang="fr-FR" sz="1400" i="1" dirty="0"/>
              <a:t>IU Power Apps pour une interface unique aux utilisateurs sans qu’ils ne puissent se perdre dans la BDD</a:t>
            </a:r>
            <a:endParaRPr lang="fr-FR" sz="1400" dirty="0"/>
          </a:p>
        </p:txBody>
      </p:sp>
    </p:spTree>
    <p:extLst>
      <p:ext uri="{BB962C8B-B14F-4D97-AF65-F5344CB8AC3E}">
        <p14:creationId xmlns:p14="http://schemas.microsoft.com/office/powerpoint/2010/main" val="4255886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77339-87E1-17FE-FA6F-660C8E5AFBFB}"/>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0674CBAE-CD98-EC47-9CA5-899A4C3EC09E}"/>
              </a:ext>
            </a:extLst>
          </p:cNvPr>
          <p:cNvSpPr>
            <a:spLocks noGrp="1"/>
          </p:cNvSpPr>
          <p:nvPr>
            <p:ph idx="1"/>
          </p:nvPr>
        </p:nvSpPr>
        <p:spPr>
          <a:xfrm>
            <a:off x="1692000" y="1211293"/>
            <a:ext cx="6852030" cy="369332"/>
          </a:xfrm>
        </p:spPr>
        <p:txBody>
          <a:bodyPr/>
          <a:lstStyle/>
          <a:p>
            <a:r>
              <a:rPr lang="fr-FR" dirty="0"/>
              <a:t>Les créations / modifications dans l’existant</a:t>
            </a:r>
          </a:p>
        </p:txBody>
      </p:sp>
      <p:sp>
        <p:nvSpPr>
          <p:cNvPr id="3" name="Titre 2">
            <a:extLst>
              <a:ext uri="{FF2B5EF4-FFF2-40B4-BE49-F238E27FC236}">
                <a16:creationId xmlns:a16="http://schemas.microsoft.com/office/drawing/2014/main" id="{B4896D5D-9176-E806-C392-76B83C0FBC75}"/>
              </a:ext>
            </a:extLst>
          </p:cNvPr>
          <p:cNvSpPr>
            <a:spLocks noGrp="1"/>
          </p:cNvSpPr>
          <p:nvPr>
            <p:ph type="title"/>
          </p:nvPr>
        </p:nvSpPr>
        <p:spPr>
          <a:xfrm>
            <a:off x="1692000" y="468000"/>
            <a:ext cx="6852031" cy="715581"/>
          </a:xfrm>
        </p:spPr>
        <p:txBody>
          <a:bodyPr/>
          <a:lstStyle/>
          <a:p>
            <a:r>
              <a:rPr lang="fr-FR" dirty="0"/>
              <a:t>Les étapes ?</a:t>
            </a:r>
          </a:p>
        </p:txBody>
      </p:sp>
      <p:pic>
        <p:nvPicPr>
          <p:cNvPr id="8" name="Image 7">
            <a:extLst>
              <a:ext uri="{FF2B5EF4-FFF2-40B4-BE49-F238E27FC236}">
                <a16:creationId xmlns:a16="http://schemas.microsoft.com/office/drawing/2014/main" id="{1D560B8F-CD92-D1E1-3ABC-47E3A86A4282}"/>
              </a:ext>
            </a:extLst>
          </p:cNvPr>
          <p:cNvPicPr>
            <a:picLocks noChangeAspect="1"/>
          </p:cNvPicPr>
          <p:nvPr/>
        </p:nvPicPr>
        <p:blipFill>
          <a:blip r:embed="rId2"/>
          <a:stretch>
            <a:fillRect/>
          </a:stretch>
        </p:blipFill>
        <p:spPr>
          <a:xfrm>
            <a:off x="467346" y="2824212"/>
            <a:ext cx="1313180" cy="738664"/>
          </a:xfrm>
          <a:prstGeom prst="rect">
            <a:avLst/>
          </a:prstGeom>
        </p:spPr>
      </p:pic>
      <p:sp>
        <p:nvSpPr>
          <p:cNvPr id="4" name="ZoneTexte 3">
            <a:extLst>
              <a:ext uri="{FF2B5EF4-FFF2-40B4-BE49-F238E27FC236}">
                <a16:creationId xmlns:a16="http://schemas.microsoft.com/office/drawing/2014/main" id="{1A3CCD71-A287-CA00-DC62-77CF85A41827}"/>
              </a:ext>
            </a:extLst>
          </p:cNvPr>
          <p:cNvSpPr txBox="1"/>
          <p:nvPr/>
        </p:nvSpPr>
        <p:spPr>
          <a:xfrm>
            <a:off x="1780526" y="1828800"/>
            <a:ext cx="7157734" cy="2743200"/>
          </a:xfrm>
          <a:prstGeom prst="rect">
            <a:avLst/>
          </a:prstGeom>
          <a:noFill/>
        </p:spPr>
        <p:txBody>
          <a:bodyPr wrap="square" rtlCol="0" anchor="ctr">
            <a:noAutofit/>
          </a:bodyPr>
          <a:lstStyle/>
          <a:p>
            <a:r>
              <a:rPr lang="fr-FR" sz="1400" i="1" dirty="0"/>
              <a:t>1 – Etat de l’art des arborescences dossiers actuellement utilisés</a:t>
            </a:r>
          </a:p>
          <a:p>
            <a:r>
              <a:rPr lang="fr-FR" sz="1400" i="1" dirty="0"/>
              <a:t>2 – Création des métadonnées dans la bibliothèque de termes du SharePoint</a:t>
            </a:r>
          </a:p>
          <a:p>
            <a:r>
              <a:rPr lang="fr-FR" sz="1400" i="1" dirty="0"/>
              <a:t>3 – Création de la bibliothèque de documents unique</a:t>
            </a:r>
          </a:p>
          <a:p>
            <a:r>
              <a:rPr lang="fr-FR" sz="1400" i="1" dirty="0"/>
              <a:t>4 – Migration des documents existants par vagues</a:t>
            </a:r>
          </a:p>
          <a:p>
            <a:r>
              <a:rPr lang="fr-FR" sz="1400" i="1" dirty="0"/>
              <a:t>5 – Suppression/Archivage des anciennes arborescences</a:t>
            </a:r>
          </a:p>
        </p:txBody>
      </p:sp>
    </p:spTree>
    <p:extLst>
      <p:ext uri="{BB962C8B-B14F-4D97-AF65-F5344CB8AC3E}">
        <p14:creationId xmlns:p14="http://schemas.microsoft.com/office/powerpoint/2010/main" val="15636588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F5E57-4A20-5A94-B423-33B5637A222D}"/>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B4F370B4-411F-FBE7-E1ED-4D46B0D941DF}"/>
              </a:ext>
            </a:extLst>
          </p:cNvPr>
          <p:cNvSpPr>
            <a:spLocks noGrp="1"/>
          </p:cNvSpPr>
          <p:nvPr>
            <p:ph idx="1"/>
          </p:nvPr>
        </p:nvSpPr>
        <p:spPr>
          <a:xfrm>
            <a:off x="1692000" y="1211293"/>
            <a:ext cx="6852030" cy="369332"/>
          </a:xfrm>
        </p:spPr>
        <p:txBody>
          <a:bodyPr/>
          <a:lstStyle/>
          <a:p>
            <a:r>
              <a:rPr lang="fr-FR" dirty="0"/>
              <a:t>Les créations / modifications dans l’existant</a:t>
            </a:r>
          </a:p>
        </p:txBody>
      </p:sp>
      <p:sp>
        <p:nvSpPr>
          <p:cNvPr id="3" name="Titre 2">
            <a:extLst>
              <a:ext uri="{FF2B5EF4-FFF2-40B4-BE49-F238E27FC236}">
                <a16:creationId xmlns:a16="http://schemas.microsoft.com/office/drawing/2014/main" id="{D97044C1-D955-FD0B-A704-D03CE6BB1399}"/>
              </a:ext>
            </a:extLst>
          </p:cNvPr>
          <p:cNvSpPr>
            <a:spLocks noGrp="1"/>
          </p:cNvSpPr>
          <p:nvPr>
            <p:ph type="title"/>
          </p:nvPr>
        </p:nvSpPr>
        <p:spPr>
          <a:xfrm>
            <a:off x="1692000" y="468000"/>
            <a:ext cx="6852031" cy="715581"/>
          </a:xfrm>
        </p:spPr>
        <p:txBody>
          <a:bodyPr/>
          <a:lstStyle/>
          <a:p>
            <a:r>
              <a:rPr lang="fr-FR" dirty="0"/>
              <a:t>Les étapes ?</a:t>
            </a:r>
          </a:p>
        </p:txBody>
      </p:sp>
      <p:pic>
        <p:nvPicPr>
          <p:cNvPr id="8" name="Image 7">
            <a:extLst>
              <a:ext uri="{FF2B5EF4-FFF2-40B4-BE49-F238E27FC236}">
                <a16:creationId xmlns:a16="http://schemas.microsoft.com/office/drawing/2014/main" id="{1FDCF9B6-AD47-3C09-0459-6B049601DA0F}"/>
              </a:ext>
            </a:extLst>
          </p:cNvPr>
          <p:cNvPicPr>
            <a:picLocks noChangeAspect="1"/>
          </p:cNvPicPr>
          <p:nvPr/>
        </p:nvPicPr>
        <p:blipFill>
          <a:blip r:embed="rId2"/>
          <a:srcRect/>
          <a:stretch/>
        </p:blipFill>
        <p:spPr>
          <a:xfrm>
            <a:off x="473370" y="2824212"/>
            <a:ext cx="1301131" cy="738664"/>
          </a:xfrm>
          <a:prstGeom prst="rect">
            <a:avLst/>
          </a:prstGeom>
        </p:spPr>
      </p:pic>
      <p:sp>
        <p:nvSpPr>
          <p:cNvPr id="4" name="ZoneTexte 3">
            <a:extLst>
              <a:ext uri="{FF2B5EF4-FFF2-40B4-BE49-F238E27FC236}">
                <a16:creationId xmlns:a16="http://schemas.microsoft.com/office/drawing/2014/main" id="{EC9FD9E3-0E0A-EF05-278B-C34B4BBF2096}"/>
              </a:ext>
            </a:extLst>
          </p:cNvPr>
          <p:cNvSpPr txBox="1"/>
          <p:nvPr/>
        </p:nvSpPr>
        <p:spPr>
          <a:xfrm>
            <a:off x="1780526" y="1813560"/>
            <a:ext cx="7157734" cy="2926080"/>
          </a:xfrm>
          <a:prstGeom prst="rect">
            <a:avLst/>
          </a:prstGeom>
          <a:noFill/>
        </p:spPr>
        <p:txBody>
          <a:bodyPr wrap="square" rtlCol="0" anchor="ctr">
            <a:noAutofit/>
          </a:bodyPr>
          <a:lstStyle>
            <a:defPPr>
              <a:defRPr lang="fr-FR"/>
            </a:defPPr>
            <a:lvl1pPr>
              <a:defRPr sz="1400" i="1"/>
            </a:lvl1pPr>
          </a:lstStyle>
          <a:p>
            <a:r>
              <a:rPr lang="fr-FR" dirty="0"/>
              <a:t>1 – Création de la bibliothèque unique de documents</a:t>
            </a:r>
          </a:p>
          <a:p>
            <a:r>
              <a:rPr lang="fr-FR" dirty="0"/>
              <a:t>2 – Paramétrages de la bibliothèque pour utilisation des métadonnées</a:t>
            </a:r>
          </a:p>
          <a:p>
            <a:r>
              <a:rPr lang="fr-FR" dirty="0"/>
              <a:t>	- Données de filtrage</a:t>
            </a:r>
          </a:p>
          <a:p>
            <a:r>
              <a:rPr lang="fr-FR" dirty="0"/>
              <a:t>	- Codification automatique du nom de document en fonction de son type</a:t>
            </a:r>
          </a:p>
          <a:p>
            <a:r>
              <a:rPr lang="fr-FR" dirty="0"/>
              <a:t>	- …</a:t>
            </a:r>
          </a:p>
          <a:p>
            <a:r>
              <a:rPr lang="fr-FR" dirty="0"/>
              <a:t>3 – Paramétrage de la bibliothèque pour gestion du versioning des documents</a:t>
            </a:r>
          </a:p>
          <a:p>
            <a:r>
              <a:rPr lang="fr-FR" dirty="0"/>
              <a:t>4 – Création des premiers documents type (</a:t>
            </a:r>
            <a:r>
              <a:rPr lang="fr-FR" dirty="0" err="1"/>
              <a:t>templates</a:t>
            </a:r>
            <a:r>
              <a:rPr lang="fr-FR" dirty="0"/>
              <a:t>)</a:t>
            </a:r>
          </a:p>
          <a:p>
            <a:r>
              <a:rPr lang="fr-FR" dirty="0"/>
              <a:t>5 – Migration des documents par vagues</a:t>
            </a:r>
          </a:p>
        </p:txBody>
      </p:sp>
    </p:spTree>
    <p:extLst>
      <p:ext uri="{BB962C8B-B14F-4D97-AF65-F5344CB8AC3E}">
        <p14:creationId xmlns:p14="http://schemas.microsoft.com/office/powerpoint/2010/main" val="27321966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8EAD-98D7-8E3C-C939-6AE1A85F1049}"/>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FAAD8412-001E-985B-68DF-C7D2D5C67395}"/>
              </a:ext>
            </a:extLst>
          </p:cNvPr>
          <p:cNvSpPr>
            <a:spLocks noGrp="1"/>
          </p:cNvSpPr>
          <p:nvPr>
            <p:ph idx="1"/>
          </p:nvPr>
        </p:nvSpPr>
        <p:spPr>
          <a:xfrm>
            <a:off x="1692000" y="1211293"/>
            <a:ext cx="6852030" cy="369332"/>
          </a:xfrm>
        </p:spPr>
        <p:txBody>
          <a:bodyPr/>
          <a:lstStyle/>
          <a:p>
            <a:r>
              <a:rPr lang="fr-FR" dirty="0"/>
              <a:t>Les créations / modifications dans l’existant</a:t>
            </a:r>
          </a:p>
        </p:txBody>
      </p:sp>
      <p:sp>
        <p:nvSpPr>
          <p:cNvPr id="3" name="Titre 2">
            <a:extLst>
              <a:ext uri="{FF2B5EF4-FFF2-40B4-BE49-F238E27FC236}">
                <a16:creationId xmlns:a16="http://schemas.microsoft.com/office/drawing/2014/main" id="{D2495AC5-60AA-B4BB-661A-F939B358BEE2}"/>
              </a:ext>
            </a:extLst>
          </p:cNvPr>
          <p:cNvSpPr>
            <a:spLocks noGrp="1"/>
          </p:cNvSpPr>
          <p:nvPr>
            <p:ph type="title"/>
          </p:nvPr>
        </p:nvSpPr>
        <p:spPr>
          <a:xfrm>
            <a:off x="1692000" y="468000"/>
            <a:ext cx="6852031" cy="715581"/>
          </a:xfrm>
        </p:spPr>
        <p:txBody>
          <a:bodyPr/>
          <a:lstStyle/>
          <a:p>
            <a:r>
              <a:rPr lang="fr-FR" dirty="0"/>
              <a:t>Les étapes ?</a:t>
            </a:r>
          </a:p>
        </p:txBody>
      </p:sp>
      <p:pic>
        <p:nvPicPr>
          <p:cNvPr id="8" name="Image 7">
            <a:extLst>
              <a:ext uri="{FF2B5EF4-FFF2-40B4-BE49-F238E27FC236}">
                <a16:creationId xmlns:a16="http://schemas.microsoft.com/office/drawing/2014/main" id="{EE86E43A-BDA9-A87B-8954-D104BB9646AE}"/>
              </a:ext>
            </a:extLst>
          </p:cNvPr>
          <p:cNvPicPr>
            <a:picLocks noChangeAspect="1"/>
          </p:cNvPicPr>
          <p:nvPr/>
        </p:nvPicPr>
        <p:blipFill>
          <a:blip r:embed="rId2"/>
          <a:srcRect/>
          <a:stretch/>
        </p:blipFill>
        <p:spPr>
          <a:xfrm>
            <a:off x="600939" y="2824212"/>
            <a:ext cx="1045992" cy="738664"/>
          </a:xfrm>
          <a:prstGeom prst="rect">
            <a:avLst/>
          </a:prstGeom>
        </p:spPr>
      </p:pic>
      <p:sp>
        <p:nvSpPr>
          <p:cNvPr id="4" name="ZoneTexte 3">
            <a:extLst>
              <a:ext uri="{FF2B5EF4-FFF2-40B4-BE49-F238E27FC236}">
                <a16:creationId xmlns:a16="http://schemas.microsoft.com/office/drawing/2014/main" id="{2F0A7F20-925E-2228-BCBB-2A0490035F6B}"/>
              </a:ext>
            </a:extLst>
          </p:cNvPr>
          <p:cNvSpPr txBox="1"/>
          <p:nvPr/>
        </p:nvSpPr>
        <p:spPr>
          <a:xfrm>
            <a:off x="1780526" y="1844040"/>
            <a:ext cx="7157734" cy="2831460"/>
          </a:xfrm>
          <a:prstGeom prst="rect">
            <a:avLst/>
          </a:prstGeom>
          <a:noFill/>
        </p:spPr>
        <p:txBody>
          <a:bodyPr wrap="square" rtlCol="0" anchor="ctr">
            <a:noAutofit/>
          </a:bodyPr>
          <a:lstStyle/>
          <a:p>
            <a:r>
              <a:rPr lang="fr-FR" sz="1400" i="1" dirty="0"/>
              <a:t>1 – Identification des workflows a créer en fonction des besoins </a:t>
            </a:r>
          </a:p>
          <a:p>
            <a:r>
              <a:rPr lang="fr-FR" sz="1400" i="1" dirty="0"/>
              <a:t>	- Création de documents (pour création automatique de la codification du document)</a:t>
            </a:r>
          </a:p>
          <a:p>
            <a:r>
              <a:rPr lang="fr-FR" sz="1400" i="1" dirty="0"/>
              <a:t>	- Validation de documents (pour circuit de validation prédéfini en fonction du type de 		   document)</a:t>
            </a:r>
          </a:p>
          <a:p>
            <a:r>
              <a:rPr lang="fr-FR" sz="1400" i="1" dirty="0"/>
              <a:t>	- Modification de document validé (principe de l’ECR/ECO)</a:t>
            </a:r>
          </a:p>
          <a:p>
            <a:r>
              <a:rPr lang="fr-FR" sz="1400" i="1" dirty="0"/>
              <a:t>	- Passage d’un document à l’état obsolète.</a:t>
            </a:r>
          </a:p>
          <a:p>
            <a:r>
              <a:rPr lang="fr-FR" sz="1400" i="1" dirty="0"/>
              <a:t>	- …</a:t>
            </a:r>
          </a:p>
          <a:p>
            <a:r>
              <a:rPr lang="fr-FR" sz="1400" i="1" dirty="0"/>
              <a:t>2 – Mise en place des workflows</a:t>
            </a:r>
          </a:p>
        </p:txBody>
      </p:sp>
    </p:spTree>
    <p:extLst>
      <p:ext uri="{BB962C8B-B14F-4D97-AF65-F5344CB8AC3E}">
        <p14:creationId xmlns:p14="http://schemas.microsoft.com/office/powerpoint/2010/main" val="366400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BAD5E-2447-7E53-397C-186367639CB2}"/>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29C5E3BA-FF8E-4077-7C80-1DF52FA26E28}"/>
              </a:ext>
            </a:extLst>
          </p:cNvPr>
          <p:cNvSpPr>
            <a:spLocks noGrp="1"/>
          </p:cNvSpPr>
          <p:nvPr>
            <p:ph idx="1"/>
          </p:nvPr>
        </p:nvSpPr>
        <p:spPr>
          <a:xfrm>
            <a:off x="1692000" y="1211293"/>
            <a:ext cx="6852030" cy="369332"/>
          </a:xfrm>
        </p:spPr>
        <p:txBody>
          <a:bodyPr/>
          <a:lstStyle/>
          <a:p>
            <a:r>
              <a:rPr lang="fr-FR" dirty="0"/>
              <a:t>Les créations / modifications dans l’existant</a:t>
            </a:r>
          </a:p>
        </p:txBody>
      </p:sp>
      <p:sp>
        <p:nvSpPr>
          <p:cNvPr id="3" name="Titre 2">
            <a:extLst>
              <a:ext uri="{FF2B5EF4-FFF2-40B4-BE49-F238E27FC236}">
                <a16:creationId xmlns:a16="http://schemas.microsoft.com/office/drawing/2014/main" id="{474E5060-2C35-2E36-D265-594B5A65967E}"/>
              </a:ext>
            </a:extLst>
          </p:cNvPr>
          <p:cNvSpPr>
            <a:spLocks noGrp="1"/>
          </p:cNvSpPr>
          <p:nvPr>
            <p:ph type="title"/>
          </p:nvPr>
        </p:nvSpPr>
        <p:spPr>
          <a:xfrm>
            <a:off x="1692000" y="468000"/>
            <a:ext cx="6852031" cy="715581"/>
          </a:xfrm>
        </p:spPr>
        <p:txBody>
          <a:bodyPr/>
          <a:lstStyle/>
          <a:p>
            <a:r>
              <a:rPr lang="fr-FR" dirty="0"/>
              <a:t>Les étapes ?</a:t>
            </a:r>
          </a:p>
        </p:txBody>
      </p:sp>
      <p:pic>
        <p:nvPicPr>
          <p:cNvPr id="8" name="Image 7">
            <a:extLst>
              <a:ext uri="{FF2B5EF4-FFF2-40B4-BE49-F238E27FC236}">
                <a16:creationId xmlns:a16="http://schemas.microsoft.com/office/drawing/2014/main" id="{8A20E5C6-D5D4-4F78-648E-D171F0F254F8}"/>
              </a:ext>
            </a:extLst>
          </p:cNvPr>
          <p:cNvPicPr>
            <a:picLocks noChangeAspect="1"/>
          </p:cNvPicPr>
          <p:nvPr/>
        </p:nvPicPr>
        <p:blipFill>
          <a:blip r:embed="rId2"/>
          <a:srcRect/>
          <a:stretch/>
        </p:blipFill>
        <p:spPr>
          <a:xfrm>
            <a:off x="711152" y="2824212"/>
            <a:ext cx="825565" cy="738664"/>
          </a:xfrm>
          <a:prstGeom prst="rect">
            <a:avLst/>
          </a:prstGeom>
        </p:spPr>
      </p:pic>
      <p:sp>
        <p:nvSpPr>
          <p:cNvPr id="4" name="ZoneTexte 3">
            <a:extLst>
              <a:ext uri="{FF2B5EF4-FFF2-40B4-BE49-F238E27FC236}">
                <a16:creationId xmlns:a16="http://schemas.microsoft.com/office/drawing/2014/main" id="{D81CBD7B-9BD4-1C8E-911D-CA809FC2157D}"/>
              </a:ext>
            </a:extLst>
          </p:cNvPr>
          <p:cNvSpPr txBox="1"/>
          <p:nvPr/>
        </p:nvSpPr>
        <p:spPr>
          <a:xfrm>
            <a:off x="1780526" y="1844040"/>
            <a:ext cx="7157734" cy="2831460"/>
          </a:xfrm>
          <a:prstGeom prst="rect">
            <a:avLst/>
          </a:prstGeom>
          <a:noFill/>
        </p:spPr>
        <p:txBody>
          <a:bodyPr wrap="square" rtlCol="0" anchor="ctr">
            <a:noAutofit/>
          </a:bodyPr>
          <a:lstStyle/>
          <a:p>
            <a:r>
              <a:rPr lang="fr-FR" sz="1400" i="1" dirty="0"/>
              <a:t>1 – Identification besoins utilisateurs par département</a:t>
            </a:r>
          </a:p>
          <a:p>
            <a:r>
              <a:rPr lang="fr-FR" sz="1400" i="1" dirty="0"/>
              <a:t>2 – Création de l’app de base</a:t>
            </a:r>
          </a:p>
          <a:p>
            <a:r>
              <a:rPr lang="fr-FR" sz="1400" i="1" dirty="0"/>
              <a:t>	- Création de documents</a:t>
            </a:r>
          </a:p>
          <a:p>
            <a:r>
              <a:rPr lang="fr-FR" sz="1400" i="1" dirty="0"/>
              <a:t>	- Recherche de documents existants </a:t>
            </a:r>
          </a:p>
          <a:p>
            <a:r>
              <a:rPr lang="fr-FR" sz="1400" i="1" dirty="0"/>
              <a:t>	- Liens pour ouverture du document (liens vers bibliothèque SharePoint)</a:t>
            </a:r>
          </a:p>
          <a:p>
            <a:r>
              <a:rPr lang="fr-FR" sz="1400" i="1" dirty="0"/>
              <a:t>3 – Mise en place progressive des workflows</a:t>
            </a:r>
          </a:p>
          <a:p>
            <a:r>
              <a:rPr lang="fr-FR" sz="1400" i="1" dirty="0"/>
              <a:t>	- Création de documents (pour création automatique de la codification du document)</a:t>
            </a:r>
          </a:p>
          <a:p>
            <a:r>
              <a:rPr lang="fr-FR" sz="1400" i="1" dirty="0"/>
              <a:t>	- Validation de documents (pour circuit de validation prédéfini en fonction du type de 		   document)</a:t>
            </a:r>
          </a:p>
          <a:p>
            <a:r>
              <a:rPr lang="fr-FR" sz="1400" i="1" dirty="0"/>
              <a:t>	- Modification de document validé (principe de l’ECR/ECO)</a:t>
            </a:r>
          </a:p>
          <a:p>
            <a:r>
              <a:rPr lang="fr-FR" sz="1400" i="1" dirty="0"/>
              <a:t>	- Passage d’un document à l’état obsolète.</a:t>
            </a:r>
          </a:p>
          <a:p>
            <a:r>
              <a:rPr lang="fr-FR" sz="1400" i="1" dirty="0"/>
              <a:t>	- …</a:t>
            </a:r>
          </a:p>
        </p:txBody>
      </p:sp>
    </p:spTree>
    <p:extLst>
      <p:ext uri="{BB962C8B-B14F-4D97-AF65-F5344CB8AC3E}">
        <p14:creationId xmlns:p14="http://schemas.microsoft.com/office/powerpoint/2010/main" val="1549792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B9FA0-06F3-E637-363A-60E74275F31B}"/>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C7B2A1A-097F-B997-7B5B-A3A130329401}"/>
              </a:ext>
            </a:extLst>
          </p:cNvPr>
          <p:cNvSpPr>
            <a:spLocks noGrp="1"/>
          </p:cNvSpPr>
          <p:nvPr>
            <p:ph idx="1"/>
          </p:nvPr>
        </p:nvSpPr>
        <p:spPr>
          <a:xfrm>
            <a:off x="1692000" y="1211293"/>
            <a:ext cx="6852030" cy="369332"/>
          </a:xfrm>
        </p:spPr>
        <p:txBody>
          <a:bodyPr/>
          <a:lstStyle/>
          <a:p>
            <a:r>
              <a:rPr lang="fr-FR" dirty="0"/>
              <a:t>L’accès</a:t>
            </a:r>
          </a:p>
        </p:txBody>
      </p:sp>
      <p:sp>
        <p:nvSpPr>
          <p:cNvPr id="3" name="Titre 2">
            <a:extLst>
              <a:ext uri="{FF2B5EF4-FFF2-40B4-BE49-F238E27FC236}">
                <a16:creationId xmlns:a16="http://schemas.microsoft.com/office/drawing/2014/main" id="{DC549CC2-634C-BA71-66B4-0D13564C6064}"/>
              </a:ext>
            </a:extLst>
          </p:cNvPr>
          <p:cNvSpPr>
            <a:spLocks noGrp="1"/>
          </p:cNvSpPr>
          <p:nvPr>
            <p:ph type="title"/>
          </p:nvPr>
        </p:nvSpPr>
        <p:spPr>
          <a:xfrm>
            <a:off x="1692000" y="468000"/>
            <a:ext cx="6852031" cy="715581"/>
          </a:xfrm>
        </p:spPr>
        <p:txBody>
          <a:bodyPr/>
          <a:lstStyle/>
          <a:p>
            <a:r>
              <a:rPr lang="fr-FR" dirty="0"/>
              <a:t>L’usage</a:t>
            </a:r>
          </a:p>
        </p:txBody>
      </p:sp>
      <p:pic>
        <p:nvPicPr>
          <p:cNvPr id="8" name="Image 7">
            <a:extLst>
              <a:ext uri="{FF2B5EF4-FFF2-40B4-BE49-F238E27FC236}">
                <a16:creationId xmlns:a16="http://schemas.microsoft.com/office/drawing/2014/main" id="{3DAB7E6F-11C1-14D9-4E16-6043EC199CAD}"/>
              </a:ext>
            </a:extLst>
          </p:cNvPr>
          <p:cNvPicPr>
            <a:picLocks noChangeAspect="1"/>
          </p:cNvPicPr>
          <p:nvPr/>
        </p:nvPicPr>
        <p:blipFill>
          <a:blip r:embed="rId2"/>
          <a:srcRect/>
          <a:stretch/>
        </p:blipFill>
        <p:spPr>
          <a:xfrm>
            <a:off x="711152" y="2824212"/>
            <a:ext cx="825565" cy="738664"/>
          </a:xfrm>
          <a:prstGeom prst="rect">
            <a:avLst/>
          </a:prstGeom>
        </p:spPr>
      </p:pic>
      <p:sp>
        <p:nvSpPr>
          <p:cNvPr id="4" name="ZoneTexte 3">
            <a:extLst>
              <a:ext uri="{FF2B5EF4-FFF2-40B4-BE49-F238E27FC236}">
                <a16:creationId xmlns:a16="http://schemas.microsoft.com/office/drawing/2014/main" id="{12EC042D-BFE9-C12B-A16E-A559FC761CB8}"/>
              </a:ext>
            </a:extLst>
          </p:cNvPr>
          <p:cNvSpPr txBox="1"/>
          <p:nvPr/>
        </p:nvSpPr>
        <p:spPr>
          <a:xfrm>
            <a:off x="1780526" y="1844040"/>
            <a:ext cx="7157734" cy="2831460"/>
          </a:xfrm>
          <a:prstGeom prst="rect">
            <a:avLst/>
          </a:prstGeom>
          <a:noFill/>
        </p:spPr>
        <p:txBody>
          <a:bodyPr wrap="square" rtlCol="0" anchor="ctr">
            <a:noAutofit/>
          </a:bodyPr>
          <a:lstStyle/>
          <a:p>
            <a:r>
              <a:rPr lang="fr-FR" sz="1400" i="1" dirty="0"/>
              <a:t>L’accès a l’ensemble des documents se fera via l’application commune « GED EPC2I ».</a:t>
            </a:r>
          </a:p>
          <a:p>
            <a:endParaRPr lang="fr-FR" sz="1400" i="1" dirty="0"/>
          </a:p>
          <a:p>
            <a:r>
              <a:rPr lang="fr-FR" sz="1400" i="1" dirty="0"/>
              <a:t>Des pages dédiées métiers seront disponibles dans l’app pour mettre en avant les filtres principaux liés aux utilisateurs.</a:t>
            </a:r>
          </a:p>
          <a:p>
            <a:endParaRPr lang="fr-FR" sz="1400" i="1" dirty="0"/>
          </a:p>
          <a:p>
            <a:r>
              <a:rPr lang="fr-FR" sz="1400" i="1" dirty="0"/>
              <a:t>Les accès peuvent être restreints au besoin (classe de confidentialité, statut du document en « brouillon », …)</a:t>
            </a:r>
          </a:p>
        </p:txBody>
      </p:sp>
    </p:spTree>
    <p:extLst>
      <p:ext uri="{BB962C8B-B14F-4D97-AF65-F5344CB8AC3E}">
        <p14:creationId xmlns:p14="http://schemas.microsoft.com/office/powerpoint/2010/main" val="5389514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8E481-7C7A-4A02-06B0-13D0B863A733}"/>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3695E070-470A-1CA6-1D87-C25CB58ABA29}"/>
              </a:ext>
            </a:extLst>
          </p:cNvPr>
          <p:cNvSpPr>
            <a:spLocks noGrp="1"/>
          </p:cNvSpPr>
          <p:nvPr>
            <p:ph idx="1"/>
          </p:nvPr>
        </p:nvSpPr>
        <p:spPr>
          <a:xfrm>
            <a:off x="1692000" y="1211293"/>
            <a:ext cx="6852030" cy="369332"/>
          </a:xfrm>
        </p:spPr>
        <p:txBody>
          <a:bodyPr/>
          <a:lstStyle/>
          <a:p>
            <a:r>
              <a:rPr lang="fr-FR" dirty="0"/>
              <a:t>Les fonctions visibles par l’utilisateur</a:t>
            </a:r>
          </a:p>
        </p:txBody>
      </p:sp>
      <p:sp>
        <p:nvSpPr>
          <p:cNvPr id="3" name="Titre 2">
            <a:extLst>
              <a:ext uri="{FF2B5EF4-FFF2-40B4-BE49-F238E27FC236}">
                <a16:creationId xmlns:a16="http://schemas.microsoft.com/office/drawing/2014/main" id="{0E0668C7-19C7-2EF7-6032-A99CC85CB957}"/>
              </a:ext>
            </a:extLst>
          </p:cNvPr>
          <p:cNvSpPr>
            <a:spLocks noGrp="1"/>
          </p:cNvSpPr>
          <p:nvPr>
            <p:ph type="title"/>
          </p:nvPr>
        </p:nvSpPr>
        <p:spPr>
          <a:xfrm>
            <a:off x="1692000" y="468000"/>
            <a:ext cx="6852031" cy="715581"/>
          </a:xfrm>
        </p:spPr>
        <p:txBody>
          <a:bodyPr/>
          <a:lstStyle/>
          <a:p>
            <a:r>
              <a:rPr lang="fr-FR" dirty="0"/>
              <a:t>L’usage</a:t>
            </a:r>
          </a:p>
        </p:txBody>
      </p:sp>
      <p:pic>
        <p:nvPicPr>
          <p:cNvPr id="8" name="Image 7">
            <a:extLst>
              <a:ext uri="{FF2B5EF4-FFF2-40B4-BE49-F238E27FC236}">
                <a16:creationId xmlns:a16="http://schemas.microsoft.com/office/drawing/2014/main" id="{6D5DB3DC-320C-F800-1887-638B5487F9E5}"/>
              </a:ext>
            </a:extLst>
          </p:cNvPr>
          <p:cNvPicPr>
            <a:picLocks noChangeAspect="1"/>
          </p:cNvPicPr>
          <p:nvPr/>
        </p:nvPicPr>
        <p:blipFill>
          <a:blip r:embed="rId2"/>
          <a:srcRect/>
          <a:stretch/>
        </p:blipFill>
        <p:spPr>
          <a:xfrm>
            <a:off x="711152" y="2824212"/>
            <a:ext cx="825565" cy="738664"/>
          </a:xfrm>
          <a:prstGeom prst="rect">
            <a:avLst/>
          </a:prstGeom>
        </p:spPr>
      </p:pic>
      <p:sp>
        <p:nvSpPr>
          <p:cNvPr id="4" name="ZoneTexte 3">
            <a:extLst>
              <a:ext uri="{FF2B5EF4-FFF2-40B4-BE49-F238E27FC236}">
                <a16:creationId xmlns:a16="http://schemas.microsoft.com/office/drawing/2014/main" id="{AE127771-31B8-EDE7-601D-C1CFCC0A1370}"/>
              </a:ext>
            </a:extLst>
          </p:cNvPr>
          <p:cNvSpPr txBox="1"/>
          <p:nvPr/>
        </p:nvSpPr>
        <p:spPr>
          <a:xfrm>
            <a:off x="1780526" y="1844040"/>
            <a:ext cx="7157734" cy="2831460"/>
          </a:xfrm>
          <a:prstGeom prst="rect">
            <a:avLst/>
          </a:prstGeom>
          <a:noFill/>
        </p:spPr>
        <p:txBody>
          <a:bodyPr wrap="square" rtlCol="0" anchor="ctr">
            <a:noAutofit/>
          </a:bodyPr>
          <a:lstStyle/>
          <a:p>
            <a:r>
              <a:rPr lang="fr-FR" sz="1400" i="1" dirty="0"/>
              <a:t>A terme, l’app prendra en charge:</a:t>
            </a:r>
          </a:p>
          <a:p>
            <a:pPr marL="285750" indent="-285750">
              <a:buFontTx/>
              <a:buChar char="-"/>
            </a:pPr>
            <a:r>
              <a:rPr lang="fr-FR" sz="1400" i="1" dirty="0"/>
              <a:t>La création de documents et la fourniture de leur ID unique</a:t>
            </a:r>
          </a:p>
          <a:p>
            <a:pPr marL="285750" indent="-285750">
              <a:buFontTx/>
              <a:buChar char="-"/>
            </a:pPr>
            <a:r>
              <a:rPr lang="fr-FR" sz="1400" i="1" dirty="0"/>
              <a:t>La possibilité de recherche de n’importe quel document depuis l’app unique (projets, R&amp;D, commercial, RH, Com’, …)</a:t>
            </a:r>
          </a:p>
          <a:p>
            <a:pPr marL="285750" indent="-285750">
              <a:buFontTx/>
              <a:buChar char="-"/>
            </a:pPr>
            <a:r>
              <a:rPr lang="fr-FR" sz="1400" i="1" dirty="0"/>
              <a:t>Les demandes de modification d’un document déjà en statut validé</a:t>
            </a:r>
          </a:p>
          <a:p>
            <a:pPr marL="285750" indent="-285750">
              <a:buFontTx/>
              <a:buChar char="-"/>
            </a:pPr>
            <a:r>
              <a:rPr lang="fr-FR" sz="1400" i="1" dirty="0"/>
              <a:t>Les validations de documents (nouveaux ou modifiés)</a:t>
            </a:r>
          </a:p>
          <a:p>
            <a:pPr marL="285750" indent="-285750">
              <a:buFontTx/>
              <a:buChar char="-"/>
            </a:pPr>
            <a:r>
              <a:rPr lang="fr-FR" sz="1400" i="1" dirty="0"/>
              <a:t>Les demandes de passage d’un document aux statut obsolète</a:t>
            </a:r>
          </a:p>
          <a:p>
            <a:pPr marL="285750" indent="-285750">
              <a:buFontTx/>
              <a:buChar char="-"/>
            </a:pPr>
            <a:r>
              <a:rPr lang="fr-FR" sz="1400" i="1" dirty="0"/>
              <a:t>Un suivi des workflows en cours lancés par l’utilisateur</a:t>
            </a:r>
          </a:p>
          <a:p>
            <a:pPr marL="285750" indent="-285750">
              <a:buFontTx/>
              <a:buChar char="-"/>
            </a:pPr>
            <a:r>
              <a:rPr lang="fr-FR" sz="1400" i="1" dirty="0"/>
              <a:t>Un suivi des actions en attente de l’utilisateur (action à faire dans un workflow)</a:t>
            </a:r>
          </a:p>
        </p:txBody>
      </p:sp>
    </p:spTree>
    <p:extLst>
      <p:ext uri="{BB962C8B-B14F-4D97-AF65-F5344CB8AC3E}">
        <p14:creationId xmlns:p14="http://schemas.microsoft.com/office/powerpoint/2010/main" val="640397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4EB2F-3A63-390B-4CDC-5244D84A036B}"/>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D5C181BB-002E-DCD3-77F7-A858ECB7BEF8}"/>
              </a:ext>
            </a:extLst>
          </p:cNvPr>
          <p:cNvSpPr>
            <a:spLocks noGrp="1"/>
          </p:cNvSpPr>
          <p:nvPr>
            <p:ph idx="1"/>
          </p:nvPr>
        </p:nvSpPr>
        <p:spPr>
          <a:xfrm>
            <a:off x="1692000" y="1211293"/>
            <a:ext cx="6852030" cy="369332"/>
          </a:xfrm>
        </p:spPr>
        <p:txBody>
          <a:bodyPr/>
          <a:lstStyle/>
          <a:p>
            <a:r>
              <a:rPr lang="fr-FR" dirty="0"/>
              <a:t>Architecture de niveau 1 – La </a:t>
            </a:r>
            <a:r>
              <a:rPr lang="fr-FR" dirty="0" err="1"/>
              <a:t>hiérachie</a:t>
            </a:r>
            <a:endParaRPr lang="fr-FR" dirty="0"/>
          </a:p>
        </p:txBody>
      </p:sp>
      <p:sp>
        <p:nvSpPr>
          <p:cNvPr id="3" name="Titre 2">
            <a:extLst>
              <a:ext uri="{FF2B5EF4-FFF2-40B4-BE49-F238E27FC236}">
                <a16:creationId xmlns:a16="http://schemas.microsoft.com/office/drawing/2014/main" id="{EEEEB22F-B2E2-0213-CFEC-3DADD0B5439D}"/>
              </a:ext>
            </a:extLst>
          </p:cNvPr>
          <p:cNvSpPr>
            <a:spLocks noGrp="1"/>
          </p:cNvSpPr>
          <p:nvPr>
            <p:ph type="title"/>
          </p:nvPr>
        </p:nvSpPr>
        <p:spPr>
          <a:xfrm>
            <a:off x="1692000" y="468000"/>
            <a:ext cx="6852031" cy="715581"/>
          </a:xfrm>
        </p:spPr>
        <p:txBody>
          <a:bodyPr/>
          <a:lstStyle/>
          <a:p>
            <a:r>
              <a:rPr lang="fr-FR" dirty="0"/>
              <a:t>Les métadonnées</a:t>
            </a:r>
          </a:p>
        </p:txBody>
      </p:sp>
      <p:graphicFrame>
        <p:nvGraphicFramePr>
          <p:cNvPr id="5" name="Tableau 4">
            <a:extLst>
              <a:ext uri="{FF2B5EF4-FFF2-40B4-BE49-F238E27FC236}">
                <a16:creationId xmlns:a16="http://schemas.microsoft.com/office/drawing/2014/main" id="{13F7F534-A864-32E7-F918-0BE524AD051C}"/>
              </a:ext>
            </a:extLst>
          </p:cNvPr>
          <p:cNvGraphicFramePr>
            <a:graphicFrameLocks noGrp="1"/>
          </p:cNvGraphicFramePr>
          <p:nvPr>
            <p:extLst>
              <p:ext uri="{D42A27DB-BD31-4B8C-83A1-F6EECF244321}">
                <p14:modId xmlns:p14="http://schemas.microsoft.com/office/powerpoint/2010/main" val="2204230743"/>
              </p:ext>
            </p:extLst>
          </p:nvPr>
        </p:nvGraphicFramePr>
        <p:xfrm>
          <a:off x="1906003" y="1846391"/>
          <a:ext cx="5331993" cy="2828585"/>
        </p:xfrm>
        <a:graphic>
          <a:graphicData uri="http://schemas.openxmlformats.org/drawingml/2006/table">
            <a:tbl>
              <a:tblPr>
                <a:tableStyleId>{B301B821-A1FF-4177-AEE7-76D212191A09}</a:tableStyleId>
              </a:tblPr>
              <a:tblGrid>
                <a:gridCol w="1777331">
                  <a:extLst>
                    <a:ext uri="{9D8B030D-6E8A-4147-A177-3AD203B41FA5}">
                      <a16:colId xmlns:a16="http://schemas.microsoft.com/office/drawing/2014/main" val="129158075"/>
                    </a:ext>
                  </a:extLst>
                </a:gridCol>
                <a:gridCol w="1777331">
                  <a:extLst>
                    <a:ext uri="{9D8B030D-6E8A-4147-A177-3AD203B41FA5}">
                      <a16:colId xmlns:a16="http://schemas.microsoft.com/office/drawing/2014/main" val="262239564"/>
                    </a:ext>
                  </a:extLst>
                </a:gridCol>
                <a:gridCol w="1777331">
                  <a:extLst>
                    <a:ext uri="{9D8B030D-6E8A-4147-A177-3AD203B41FA5}">
                      <a16:colId xmlns:a16="http://schemas.microsoft.com/office/drawing/2014/main" val="1076271088"/>
                    </a:ext>
                  </a:extLst>
                </a:gridCol>
              </a:tblGrid>
              <a:tr h="231269">
                <a:tc>
                  <a:txBody>
                    <a:bodyPr/>
                    <a:lstStyle/>
                    <a:p>
                      <a:pPr>
                        <a:buNone/>
                      </a:pPr>
                      <a:r>
                        <a:rPr lang="fr-FR" sz="1000"/>
                        <a:t>Type de contenu</a:t>
                      </a:r>
                    </a:p>
                  </a:txBody>
                  <a:tcPr marL="71161" marR="71161" marT="35579" marB="35579" anchor="ctr"/>
                </a:tc>
                <a:tc>
                  <a:txBody>
                    <a:bodyPr/>
                    <a:lstStyle/>
                    <a:p>
                      <a:pPr>
                        <a:buNone/>
                      </a:pPr>
                      <a:r>
                        <a:rPr lang="fr-FR" sz="1000"/>
                        <a:t>Rôle</a:t>
                      </a:r>
                    </a:p>
                  </a:txBody>
                  <a:tcPr marL="71161" marR="71161" marT="35579" marB="35579" anchor="ctr"/>
                </a:tc>
                <a:tc>
                  <a:txBody>
                    <a:bodyPr/>
                    <a:lstStyle/>
                    <a:p>
                      <a:pPr>
                        <a:buNone/>
                      </a:pPr>
                      <a:r>
                        <a:rPr lang="fr-FR" sz="1000"/>
                        <a:t>Remarque</a:t>
                      </a:r>
                    </a:p>
                  </a:txBody>
                  <a:tcPr marL="71161" marR="71161" marT="35579" marB="35579" anchor="ctr"/>
                </a:tc>
                <a:extLst>
                  <a:ext uri="{0D108BD9-81ED-4DB2-BD59-A6C34878D82A}">
                    <a16:rowId xmlns:a16="http://schemas.microsoft.com/office/drawing/2014/main" val="3269430820"/>
                  </a:ext>
                </a:extLst>
              </a:tr>
              <a:tr h="391376">
                <a:tc>
                  <a:txBody>
                    <a:bodyPr/>
                    <a:lstStyle/>
                    <a:p>
                      <a:pPr>
                        <a:buNone/>
                      </a:pPr>
                      <a:r>
                        <a:rPr lang="fr-FR" sz="1000" b="1"/>
                        <a:t>GED Document</a:t>
                      </a:r>
                      <a:endParaRPr lang="fr-FR" sz="1000"/>
                    </a:p>
                  </a:txBody>
                  <a:tcPr marL="71161" marR="71161" marT="35579" marB="35579" anchor="ctr"/>
                </a:tc>
                <a:tc>
                  <a:txBody>
                    <a:bodyPr/>
                    <a:lstStyle/>
                    <a:p>
                      <a:pPr>
                        <a:buNone/>
                      </a:pPr>
                      <a:r>
                        <a:rPr lang="fr-FR" sz="1000" dirty="0"/>
                        <a:t>Type parent commun à tous les documents contrôlés</a:t>
                      </a:r>
                    </a:p>
                  </a:txBody>
                  <a:tcPr marL="71161" marR="71161" marT="35579" marB="35579" anchor="ctr"/>
                </a:tc>
                <a:tc>
                  <a:txBody>
                    <a:bodyPr/>
                    <a:lstStyle/>
                    <a:p>
                      <a:pPr>
                        <a:buNone/>
                      </a:pPr>
                      <a:r>
                        <a:rPr lang="fr-FR" sz="1000"/>
                        <a:t>Hérite du type SharePoint “Document”</a:t>
                      </a:r>
                    </a:p>
                  </a:txBody>
                  <a:tcPr marL="71161" marR="71161" marT="35579" marB="35579" anchor="ctr"/>
                </a:tc>
                <a:extLst>
                  <a:ext uri="{0D108BD9-81ED-4DB2-BD59-A6C34878D82A}">
                    <a16:rowId xmlns:a16="http://schemas.microsoft.com/office/drawing/2014/main" val="1916767026"/>
                  </a:ext>
                </a:extLst>
              </a:tr>
              <a:tr h="551485">
                <a:tc>
                  <a:txBody>
                    <a:bodyPr/>
                    <a:lstStyle/>
                    <a:p>
                      <a:pPr>
                        <a:buNone/>
                      </a:pPr>
                      <a:r>
                        <a:rPr lang="fr-FR" sz="1000" b="1"/>
                        <a:t>GED – Document interne</a:t>
                      </a:r>
                      <a:endParaRPr lang="fr-FR" sz="1000"/>
                    </a:p>
                  </a:txBody>
                  <a:tcPr marL="71161" marR="71161" marT="35579" marB="35579" anchor="ctr"/>
                </a:tc>
                <a:tc>
                  <a:txBody>
                    <a:bodyPr/>
                    <a:lstStyle/>
                    <a:p>
                      <a:pPr>
                        <a:buNone/>
                      </a:pPr>
                      <a:r>
                        <a:rPr lang="fr-FR" sz="1000"/>
                        <a:t>Procédures, politiques, comptes rendus, documents de gestion</a:t>
                      </a:r>
                    </a:p>
                  </a:txBody>
                  <a:tcPr marL="71161" marR="71161" marT="35579" marB="35579" anchor="ctr"/>
                </a:tc>
                <a:tc>
                  <a:txBody>
                    <a:bodyPr/>
                    <a:lstStyle/>
                    <a:p>
                      <a:pPr>
                        <a:buNone/>
                      </a:pPr>
                      <a:r>
                        <a:rPr lang="fr-FR" sz="1000"/>
                        <a:t>Origine interne</a:t>
                      </a:r>
                    </a:p>
                  </a:txBody>
                  <a:tcPr marL="71161" marR="71161" marT="35579" marB="35579" anchor="ctr"/>
                </a:tc>
                <a:extLst>
                  <a:ext uri="{0D108BD9-81ED-4DB2-BD59-A6C34878D82A}">
                    <a16:rowId xmlns:a16="http://schemas.microsoft.com/office/drawing/2014/main" val="1014292402"/>
                  </a:ext>
                </a:extLst>
              </a:tr>
              <a:tr h="551485">
                <a:tc>
                  <a:txBody>
                    <a:bodyPr/>
                    <a:lstStyle/>
                    <a:p>
                      <a:pPr>
                        <a:buNone/>
                      </a:pPr>
                      <a:r>
                        <a:rPr lang="fr-FR" sz="1000" b="1"/>
                        <a:t>GED – Document externe</a:t>
                      </a:r>
                      <a:endParaRPr lang="fr-FR" sz="1000"/>
                    </a:p>
                  </a:txBody>
                  <a:tcPr marL="71161" marR="71161" marT="35579" marB="35579" anchor="ctr"/>
                </a:tc>
                <a:tc>
                  <a:txBody>
                    <a:bodyPr/>
                    <a:lstStyle/>
                    <a:p>
                      <a:pPr>
                        <a:buNone/>
                      </a:pPr>
                      <a:r>
                        <a:rPr lang="fr-FR" sz="1000"/>
                        <a:t>Contrats, normes, documents fournisseurs, courriers officiels</a:t>
                      </a:r>
                    </a:p>
                  </a:txBody>
                  <a:tcPr marL="71161" marR="71161" marT="35579" marB="35579" anchor="ctr"/>
                </a:tc>
                <a:tc>
                  <a:txBody>
                    <a:bodyPr/>
                    <a:lstStyle/>
                    <a:p>
                      <a:pPr>
                        <a:buNone/>
                      </a:pPr>
                      <a:r>
                        <a:rPr lang="fr-FR" sz="1000"/>
                        <a:t>Origine externe</a:t>
                      </a:r>
                    </a:p>
                  </a:txBody>
                  <a:tcPr marL="71161" marR="71161" marT="35579" marB="35579" anchor="ctr"/>
                </a:tc>
                <a:extLst>
                  <a:ext uri="{0D108BD9-81ED-4DB2-BD59-A6C34878D82A}">
                    <a16:rowId xmlns:a16="http://schemas.microsoft.com/office/drawing/2014/main" val="1003903519"/>
                  </a:ext>
                </a:extLst>
              </a:tr>
              <a:tr h="551485">
                <a:tc>
                  <a:txBody>
                    <a:bodyPr/>
                    <a:lstStyle/>
                    <a:p>
                      <a:pPr>
                        <a:buNone/>
                      </a:pPr>
                      <a:r>
                        <a:rPr lang="fr-FR" sz="1000" b="1"/>
                        <a:t>GED – Document projet</a:t>
                      </a:r>
                      <a:endParaRPr lang="fr-FR" sz="1000"/>
                    </a:p>
                  </a:txBody>
                  <a:tcPr marL="71161" marR="71161" marT="35579" marB="35579" anchor="ctr"/>
                </a:tc>
                <a:tc>
                  <a:txBody>
                    <a:bodyPr/>
                    <a:lstStyle/>
                    <a:p>
                      <a:pPr>
                        <a:buNone/>
                      </a:pPr>
                      <a:r>
                        <a:rPr lang="fr-FR" sz="1000"/>
                        <a:t>Documents liés à la gouvernance, la conception, l’exécution, la clôture</a:t>
                      </a:r>
                    </a:p>
                  </a:txBody>
                  <a:tcPr marL="71161" marR="71161" marT="35579" marB="35579" anchor="ctr"/>
                </a:tc>
                <a:tc>
                  <a:txBody>
                    <a:bodyPr/>
                    <a:lstStyle/>
                    <a:p>
                      <a:pPr>
                        <a:buNone/>
                      </a:pPr>
                      <a:r>
                        <a:rPr lang="fr-FR" sz="1000"/>
                        <a:t>Lié à un projet</a:t>
                      </a:r>
                    </a:p>
                  </a:txBody>
                  <a:tcPr marL="71161" marR="71161" marT="35579" marB="35579" anchor="ctr"/>
                </a:tc>
                <a:extLst>
                  <a:ext uri="{0D108BD9-81ED-4DB2-BD59-A6C34878D82A}">
                    <a16:rowId xmlns:a16="http://schemas.microsoft.com/office/drawing/2014/main" val="1264832789"/>
                  </a:ext>
                </a:extLst>
              </a:tr>
              <a:tr h="551485">
                <a:tc>
                  <a:txBody>
                    <a:bodyPr/>
                    <a:lstStyle/>
                    <a:p>
                      <a:pPr>
                        <a:buNone/>
                      </a:pPr>
                      <a:r>
                        <a:rPr lang="fr-FR" sz="1000" b="1"/>
                        <a:t>GED – Document recherche</a:t>
                      </a:r>
                      <a:endParaRPr lang="fr-FR" sz="1000"/>
                    </a:p>
                  </a:txBody>
                  <a:tcPr marL="71161" marR="71161" marT="35579" marB="35579" anchor="ctr"/>
                </a:tc>
                <a:tc>
                  <a:txBody>
                    <a:bodyPr/>
                    <a:lstStyle/>
                    <a:p>
                      <a:pPr>
                        <a:buNone/>
                      </a:pPr>
                      <a:r>
                        <a:rPr lang="fr-FR" sz="1000"/>
                        <a:t>Études, essais, analyses, publications, propriété intellectuelle</a:t>
                      </a:r>
                    </a:p>
                  </a:txBody>
                  <a:tcPr marL="71161" marR="71161" marT="35579" marB="35579" anchor="ctr"/>
                </a:tc>
                <a:tc>
                  <a:txBody>
                    <a:bodyPr/>
                    <a:lstStyle/>
                    <a:p>
                      <a:pPr>
                        <a:buNone/>
                      </a:pPr>
                      <a:r>
                        <a:rPr lang="fr-FR" sz="1000" dirty="0"/>
                        <a:t>Lié à la recherche</a:t>
                      </a:r>
                    </a:p>
                  </a:txBody>
                  <a:tcPr marL="71161" marR="71161" marT="35579" marB="35579" anchor="ctr"/>
                </a:tc>
                <a:extLst>
                  <a:ext uri="{0D108BD9-81ED-4DB2-BD59-A6C34878D82A}">
                    <a16:rowId xmlns:a16="http://schemas.microsoft.com/office/drawing/2014/main" val="1753423400"/>
                  </a:ext>
                </a:extLst>
              </a:tr>
            </a:tbl>
          </a:graphicData>
        </a:graphic>
      </p:graphicFrame>
    </p:spTree>
    <p:extLst>
      <p:ext uri="{BB962C8B-B14F-4D97-AF65-F5344CB8AC3E}">
        <p14:creationId xmlns:p14="http://schemas.microsoft.com/office/powerpoint/2010/main" val="18744934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0C8A2-BCDB-15E4-B4B6-E2B954196635}"/>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EB3645A0-B200-48B6-0EDB-CB58803D647B}"/>
              </a:ext>
            </a:extLst>
          </p:cNvPr>
          <p:cNvSpPr>
            <a:spLocks noGrp="1"/>
          </p:cNvSpPr>
          <p:nvPr>
            <p:ph idx="1"/>
          </p:nvPr>
        </p:nvSpPr>
        <p:spPr>
          <a:xfrm>
            <a:off x="1692000" y="1211293"/>
            <a:ext cx="6852030" cy="369332"/>
          </a:xfrm>
        </p:spPr>
        <p:txBody>
          <a:bodyPr/>
          <a:lstStyle/>
          <a:p>
            <a:r>
              <a:rPr lang="fr-FR" dirty="0"/>
              <a:t>Architecture de niveau 2 – Le tronc commun</a:t>
            </a:r>
          </a:p>
        </p:txBody>
      </p:sp>
      <p:sp>
        <p:nvSpPr>
          <p:cNvPr id="3" name="Titre 2">
            <a:extLst>
              <a:ext uri="{FF2B5EF4-FFF2-40B4-BE49-F238E27FC236}">
                <a16:creationId xmlns:a16="http://schemas.microsoft.com/office/drawing/2014/main" id="{AD4FEF47-ED52-C9B3-0A37-E4485A99A664}"/>
              </a:ext>
            </a:extLst>
          </p:cNvPr>
          <p:cNvSpPr>
            <a:spLocks noGrp="1"/>
          </p:cNvSpPr>
          <p:nvPr>
            <p:ph type="title"/>
          </p:nvPr>
        </p:nvSpPr>
        <p:spPr>
          <a:xfrm>
            <a:off x="1692000" y="468000"/>
            <a:ext cx="6852031" cy="715581"/>
          </a:xfrm>
        </p:spPr>
        <p:txBody>
          <a:bodyPr/>
          <a:lstStyle/>
          <a:p>
            <a:r>
              <a:rPr lang="fr-FR" dirty="0"/>
              <a:t>Les métadonnées</a:t>
            </a:r>
          </a:p>
        </p:txBody>
      </p:sp>
      <p:graphicFrame>
        <p:nvGraphicFramePr>
          <p:cNvPr id="4" name="Tableau 3">
            <a:extLst>
              <a:ext uri="{FF2B5EF4-FFF2-40B4-BE49-F238E27FC236}">
                <a16:creationId xmlns:a16="http://schemas.microsoft.com/office/drawing/2014/main" id="{B36CABB5-01B0-315B-F61F-65AC72622212}"/>
              </a:ext>
            </a:extLst>
          </p:cNvPr>
          <p:cNvGraphicFramePr>
            <a:graphicFrameLocks noGrp="1"/>
          </p:cNvGraphicFramePr>
          <p:nvPr>
            <p:extLst>
              <p:ext uri="{D42A27DB-BD31-4B8C-83A1-F6EECF244321}">
                <p14:modId xmlns:p14="http://schemas.microsoft.com/office/powerpoint/2010/main" val="107936002"/>
              </p:ext>
            </p:extLst>
          </p:nvPr>
        </p:nvGraphicFramePr>
        <p:xfrm>
          <a:off x="911660" y="1578235"/>
          <a:ext cx="3629860" cy="3085328"/>
        </p:xfrm>
        <a:graphic>
          <a:graphicData uri="http://schemas.openxmlformats.org/drawingml/2006/table">
            <a:tbl>
              <a:tblPr>
                <a:tableStyleId>{B301B821-A1FF-4177-AEE7-76D212191A09}</a:tableStyleId>
              </a:tblPr>
              <a:tblGrid>
                <a:gridCol w="907465">
                  <a:extLst>
                    <a:ext uri="{9D8B030D-6E8A-4147-A177-3AD203B41FA5}">
                      <a16:colId xmlns:a16="http://schemas.microsoft.com/office/drawing/2014/main" val="4203775330"/>
                    </a:ext>
                  </a:extLst>
                </a:gridCol>
                <a:gridCol w="907465">
                  <a:extLst>
                    <a:ext uri="{9D8B030D-6E8A-4147-A177-3AD203B41FA5}">
                      <a16:colId xmlns:a16="http://schemas.microsoft.com/office/drawing/2014/main" val="3365474350"/>
                    </a:ext>
                  </a:extLst>
                </a:gridCol>
                <a:gridCol w="907465">
                  <a:extLst>
                    <a:ext uri="{9D8B030D-6E8A-4147-A177-3AD203B41FA5}">
                      <a16:colId xmlns:a16="http://schemas.microsoft.com/office/drawing/2014/main" val="3197575979"/>
                    </a:ext>
                  </a:extLst>
                </a:gridCol>
                <a:gridCol w="907465">
                  <a:extLst>
                    <a:ext uri="{9D8B030D-6E8A-4147-A177-3AD203B41FA5}">
                      <a16:colId xmlns:a16="http://schemas.microsoft.com/office/drawing/2014/main" val="3355092164"/>
                    </a:ext>
                  </a:extLst>
                </a:gridCol>
              </a:tblGrid>
              <a:tr h="208943">
                <a:tc>
                  <a:txBody>
                    <a:bodyPr/>
                    <a:lstStyle/>
                    <a:p>
                      <a:pPr>
                        <a:buNone/>
                      </a:pPr>
                      <a:r>
                        <a:rPr lang="fr-FR" sz="600"/>
                        <a:t>Champ</a:t>
                      </a:r>
                    </a:p>
                  </a:txBody>
                  <a:tcPr marL="48441" marR="48441" marT="24221" marB="24221" anchor="ctr"/>
                </a:tc>
                <a:tc>
                  <a:txBody>
                    <a:bodyPr/>
                    <a:lstStyle/>
                    <a:p>
                      <a:pPr>
                        <a:buNone/>
                      </a:pPr>
                      <a:r>
                        <a:rPr lang="fr-FR" sz="600"/>
                        <a:t>Type</a:t>
                      </a:r>
                    </a:p>
                  </a:txBody>
                  <a:tcPr marL="48441" marR="48441" marT="24221" marB="24221" anchor="ctr"/>
                </a:tc>
                <a:tc>
                  <a:txBody>
                    <a:bodyPr/>
                    <a:lstStyle/>
                    <a:p>
                      <a:pPr algn="r">
                        <a:buNone/>
                      </a:pPr>
                      <a:r>
                        <a:rPr lang="fr-FR" sz="600"/>
                        <a:t>Obligatoire</a:t>
                      </a:r>
                    </a:p>
                  </a:txBody>
                  <a:tcPr marL="48441" marR="48441" marT="24221" marB="24221" anchor="ctr"/>
                </a:tc>
                <a:tc>
                  <a:txBody>
                    <a:bodyPr/>
                    <a:lstStyle/>
                    <a:p>
                      <a:pPr>
                        <a:buNone/>
                      </a:pPr>
                      <a:r>
                        <a:rPr lang="fr-FR" sz="600"/>
                        <a:t>Utilité</a:t>
                      </a:r>
                    </a:p>
                  </a:txBody>
                  <a:tcPr marL="48441" marR="48441" marT="24221" marB="24221" anchor="ctr"/>
                </a:tc>
                <a:extLst>
                  <a:ext uri="{0D108BD9-81ED-4DB2-BD59-A6C34878D82A}">
                    <a16:rowId xmlns:a16="http://schemas.microsoft.com/office/drawing/2014/main" val="1014079076"/>
                  </a:ext>
                </a:extLst>
              </a:tr>
              <a:tr h="266439">
                <a:tc>
                  <a:txBody>
                    <a:bodyPr/>
                    <a:lstStyle/>
                    <a:p>
                      <a:pPr>
                        <a:buNone/>
                      </a:pPr>
                      <a:r>
                        <a:rPr lang="fr-FR" sz="600"/>
                        <a:t>ID document</a:t>
                      </a:r>
                    </a:p>
                  </a:txBody>
                  <a:tcPr marL="48441" marR="48441" marT="24221" marB="24221" anchor="ctr"/>
                </a:tc>
                <a:tc>
                  <a:txBody>
                    <a:bodyPr/>
                    <a:lstStyle/>
                    <a:p>
                      <a:pPr>
                        <a:buNone/>
                      </a:pPr>
                      <a:r>
                        <a:rPr lang="fr-FR" sz="600"/>
                        <a:t>Texte / généré automatiquement</a:t>
                      </a:r>
                    </a:p>
                  </a:txBody>
                  <a:tcPr marL="48441" marR="48441" marT="24221" marB="24221" anchor="ctr"/>
                </a:tc>
                <a:tc>
                  <a:txBody>
                    <a:bodyPr/>
                    <a:lstStyle/>
                    <a:p>
                      <a:pPr algn="r">
                        <a:buNone/>
                      </a:pPr>
                      <a:r>
                        <a:rPr lang="fr-FR" sz="600"/>
                        <a:t>Oui</a:t>
                      </a:r>
                    </a:p>
                  </a:txBody>
                  <a:tcPr marL="48441" marR="48441" marT="24221" marB="24221" anchor="ctr"/>
                </a:tc>
                <a:tc>
                  <a:txBody>
                    <a:bodyPr/>
                    <a:lstStyle/>
                    <a:p>
                      <a:pPr>
                        <a:buNone/>
                      </a:pPr>
                      <a:r>
                        <a:rPr lang="fr-FR" sz="600"/>
                        <a:t>Référence unique et immuable</a:t>
                      </a:r>
                    </a:p>
                  </a:txBody>
                  <a:tcPr marL="48441" marR="48441" marT="24221" marB="24221" anchor="ctr"/>
                </a:tc>
                <a:extLst>
                  <a:ext uri="{0D108BD9-81ED-4DB2-BD59-A6C34878D82A}">
                    <a16:rowId xmlns:a16="http://schemas.microsoft.com/office/drawing/2014/main" val="1923295908"/>
                  </a:ext>
                </a:extLst>
              </a:tr>
              <a:tr h="266439">
                <a:tc>
                  <a:txBody>
                    <a:bodyPr/>
                    <a:lstStyle/>
                    <a:p>
                      <a:pPr>
                        <a:buNone/>
                      </a:pPr>
                      <a:r>
                        <a:rPr lang="fr-FR" sz="600"/>
                        <a:t>Titre</a:t>
                      </a:r>
                    </a:p>
                  </a:txBody>
                  <a:tcPr marL="48441" marR="48441" marT="24221" marB="24221" anchor="ctr"/>
                </a:tc>
                <a:tc>
                  <a:txBody>
                    <a:bodyPr/>
                    <a:lstStyle/>
                    <a:p>
                      <a:pPr>
                        <a:buNone/>
                      </a:pPr>
                      <a:r>
                        <a:rPr lang="fr-FR" sz="600"/>
                        <a:t>Texte</a:t>
                      </a:r>
                    </a:p>
                  </a:txBody>
                  <a:tcPr marL="48441" marR="48441" marT="24221" marB="24221" anchor="ctr"/>
                </a:tc>
                <a:tc>
                  <a:txBody>
                    <a:bodyPr/>
                    <a:lstStyle/>
                    <a:p>
                      <a:pPr algn="r">
                        <a:buNone/>
                      </a:pPr>
                      <a:r>
                        <a:rPr lang="fr-FR" sz="600"/>
                        <a:t>Oui</a:t>
                      </a:r>
                    </a:p>
                  </a:txBody>
                  <a:tcPr marL="48441" marR="48441" marT="24221" marB="24221" anchor="ctr"/>
                </a:tc>
                <a:tc>
                  <a:txBody>
                    <a:bodyPr/>
                    <a:lstStyle/>
                    <a:p>
                      <a:pPr>
                        <a:buNone/>
                      </a:pPr>
                      <a:r>
                        <a:rPr lang="fr-FR" sz="600"/>
                        <a:t>Nom lisible du document</a:t>
                      </a:r>
                    </a:p>
                  </a:txBody>
                  <a:tcPr marL="48441" marR="48441" marT="24221" marB="24221" anchor="ctr"/>
                </a:tc>
                <a:extLst>
                  <a:ext uri="{0D108BD9-81ED-4DB2-BD59-A6C34878D82A}">
                    <a16:rowId xmlns:a16="http://schemas.microsoft.com/office/drawing/2014/main" val="1923617182"/>
                  </a:ext>
                </a:extLst>
              </a:tr>
              <a:tr h="266439">
                <a:tc>
                  <a:txBody>
                    <a:bodyPr/>
                    <a:lstStyle/>
                    <a:p>
                      <a:pPr>
                        <a:buNone/>
                      </a:pPr>
                      <a:r>
                        <a:rPr lang="fr-FR" sz="600"/>
                        <a:t>Domaine</a:t>
                      </a:r>
                    </a:p>
                  </a:txBody>
                  <a:tcPr marL="48441" marR="48441" marT="24221" marB="24221" anchor="ctr"/>
                </a:tc>
                <a:tc>
                  <a:txBody>
                    <a:bodyPr/>
                    <a:lstStyle/>
                    <a:p>
                      <a:pPr>
                        <a:buNone/>
                      </a:pPr>
                      <a:r>
                        <a:rPr lang="fr-FR" sz="600"/>
                        <a:t>Dérivé du type de contenu</a:t>
                      </a:r>
                    </a:p>
                  </a:txBody>
                  <a:tcPr marL="48441" marR="48441" marT="24221" marB="24221" anchor="ctr"/>
                </a:tc>
                <a:tc>
                  <a:txBody>
                    <a:bodyPr/>
                    <a:lstStyle/>
                    <a:p>
                      <a:pPr algn="r">
                        <a:buNone/>
                      </a:pPr>
                      <a:r>
                        <a:rPr lang="fr-FR" sz="600"/>
                        <a:t>Oui</a:t>
                      </a:r>
                    </a:p>
                  </a:txBody>
                  <a:tcPr marL="48441" marR="48441" marT="24221" marB="24221" anchor="ctr"/>
                </a:tc>
                <a:tc>
                  <a:txBody>
                    <a:bodyPr/>
                    <a:lstStyle/>
                    <a:p>
                      <a:pPr>
                        <a:buNone/>
                      </a:pPr>
                      <a:r>
                        <a:rPr lang="fr-FR" sz="600"/>
                        <a:t>Interne / Externe / Projet / Recherche</a:t>
                      </a:r>
                    </a:p>
                  </a:txBody>
                  <a:tcPr marL="48441" marR="48441" marT="24221" marB="24221" anchor="ctr"/>
                </a:tc>
                <a:extLst>
                  <a:ext uri="{0D108BD9-81ED-4DB2-BD59-A6C34878D82A}">
                    <a16:rowId xmlns:a16="http://schemas.microsoft.com/office/drawing/2014/main" val="3476937077"/>
                  </a:ext>
                </a:extLst>
              </a:tr>
              <a:tr h="208943">
                <a:tc>
                  <a:txBody>
                    <a:bodyPr/>
                    <a:lstStyle/>
                    <a:p>
                      <a:pPr>
                        <a:buNone/>
                      </a:pPr>
                      <a:r>
                        <a:rPr lang="fr-FR" sz="600"/>
                        <a:t>Catégorie</a:t>
                      </a:r>
                    </a:p>
                  </a:txBody>
                  <a:tcPr marL="48441" marR="48441" marT="24221" marB="24221" anchor="ctr"/>
                </a:tc>
                <a:tc>
                  <a:txBody>
                    <a:bodyPr/>
                    <a:lstStyle/>
                    <a:p>
                      <a:pPr>
                        <a:buNone/>
                      </a:pPr>
                      <a:r>
                        <a:rPr lang="fr-FR" sz="600"/>
                        <a:t>Métadonnée gérée</a:t>
                      </a:r>
                    </a:p>
                  </a:txBody>
                  <a:tcPr marL="48441" marR="48441" marT="24221" marB="24221" anchor="ctr"/>
                </a:tc>
                <a:tc>
                  <a:txBody>
                    <a:bodyPr/>
                    <a:lstStyle/>
                    <a:p>
                      <a:pPr algn="r">
                        <a:buNone/>
                      </a:pPr>
                      <a:r>
                        <a:rPr lang="fr-FR" sz="600"/>
                        <a:t>Oui</a:t>
                      </a:r>
                    </a:p>
                  </a:txBody>
                  <a:tcPr marL="48441" marR="48441" marT="24221" marB="24221" anchor="ctr"/>
                </a:tc>
                <a:tc>
                  <a:txBody>
                    <a:bodyPr/>
                    <a:lstStyle/>
                    <a:p>
                      <a:pPr>
                        <a:buNone/>
                      </a:pPr>
                      <a:r>
                        <a:rPr lang="fr-FR" sz="600"/>
                        <a:t>Famille fonctionnelle</a:t>
                      </a:r>
                    </a:p>
                  </a:txBody>
                  <a:tcPr marL="48441" marR="48441" marT="24221" marB="24221" anchor="ctr"/>
                </a:tc>
                <a:extLst>
                  <a:ext uri="{0D108BD9-81ED-4DB2-BD59-A6C34878D82A}">
                    <a16:rowId xmlns:a16="http://schemas.microsoft.com/office/drawing/2014/main" val="888434386"/>
                  </a:ext>
                </a:extLst>
              </a:tr>
              <a:tr h="208943">
                <a:tc>
                  <a:txBody>
                    <a:bodyPr/>
                    <a:lstStyle/>
                    <a:p>
                      <a:pPr>
                        <a:buNone/>
                      </a:pPr>
                      <a:r>
                        <a:rPr lang="fr-FR" sz="600"/>
                        <a:t>Type de document</a:t>
                      </a:r>
                    </a:p>
                  </a:txBody>
                  <a:tcPr marL="48441" marR="48441" marT="24221" marB="24221" anchor="ctr"/>
                </a:tc>
                <a:tc>
                  <a:txBody>
                    <a:bodyPr/>
                    <a:lstStyle/>
                    <a:p>
                      <a:pPr>
                        <a:buNone/>
                      </a:pPr>
                      <a:r>
                        <a:rPr lang="fr-FR" sz="600"/>
                        <a:t>Métadonnée gérée</a:t>
                      </a:r>
                    </a:p>
                  </a:txBody>
                  <a:tcPr marL="48441" marR="48441" marT="24221" marB="24221" anchor="ctr"/>
                </a:tc>
                <a:tc>
                  <a:txBody>
                    <a:bodyPr/>
                    <a:lstStyle/>
                    <a:p>
                      <a:pPr algn="r">
                        <a:buNone/>
                      </a:pPr>
                      <a:r>
                        <a:rPr lang="fr-FR" sz="600"/>
                        <a:t>Oui</a:t>
                      </a:r>
                    </a:p>
                  </a:txBody>
                  <a:tcPr marL="48441" marR="48441" marT="24221" marB="24221" anchor="ctr"/>
                </a:tc>
                <a:tc>
                  <a:txBody>
                    <a:bodyPr/>
                    <a:lstStyle/>
                    <a:p>
                      <a:pPr>
                        <a:buNone/>
                      </a:pPr>
                      <a:r>
                        <a:rPr lang="fr-FR" sz="600"/>
                        <a:t>Classe principale</a:t>
                      </a:r>
                    </a:p>
                  </a:txBody>
                  <a:tcPr marL="48441" marR="48441" marT="24221" marB="24221" anchor="ctr"/>
                </a:tc>
                <a:extLst>
                  <a:ext uri="{0D108BD9-81ED-4DB2-BD59-A6C34878D82A}">
                    <a16:rowId xmlns:a16="http://schemas.microsoft.com/office/drawing/2014/main" val="3687870486"/>
                  </a:ext>
                </a:extLst>
              </a:tr>
              <a:tr h="266439">
                <a:tc>
                  <a:txBody>
                    <a:bodyPr/>
                    <a:lstStyle/>
                    <a:p>
                      <a:pPr>
                        <a:buNone/>
                      </a:pPr>
                      <a:r>
                        <a:rPr lang="fr-FR" sz="600"/>
                        <a:t>Sous-type de document</a:t>
                      </a:r>
                    </a:p>
                  </a:txBody>
                  <a:tcPr marL="48441" marR="48441" marT="24221" marB="24221" anchor="ctr"/>
                </a:tc>
                <a:tc>
                  <a:txBody>
                    <a:bodyPr/>
                    <a:lstStyle/>
                    <a:p>
                      <a:pPr>
                        <a:buNone/>
                      </a:pPr>
                      <a:r>
                        <a:rPr lang="fr-FR" sz="600"/>
                        <a:t>Métadonnée gérée</a:t>
                      </a:r>
                    </a:p>
                  </a:txBody>
                  <a:tcPr marL="48441" marR="48441" marT="24221" marB="24221" anchor="ctr"/>
                </a:tc>
                <a:tc>
                  <a:txBody>
                    <a:bodyPr/>
                    <a:lstStyle/>
                    <a:p>
                      <a:pPr algn="r">
                        <a:buNone/>
                      </a:pPr>
                      <a:r>
                        <a:rPr lang="fr-FR" sz="600"/>
                        <a:t>Non</a:t>
                      </a:r>
                    </a:p>
                  </a:txBody>
                  <a:tcPr marL="48441" marR="48441" marT="24221" marB="24221" anchor="ctr"/>
                </a:tc>
                <a:tc>
                  <a:txBody>
                    <a:bodyPr/>
                    <a:lstStyle/>
                    <a:p>
                      <a:pPr>
                        <a:buNone/>
                      </a:pPr>
                      <a:r>
                        <a:rPr lang="fr-FR" sz="600"/>
                        <a:t>Niveau de détail supplémentaire</a:t>
                      </a:r>
                    </a:p>
                  </a:txBody>
                  <a:tcPr marL="48441" marR="48441" marT="24221" marB="24221" anchor="ctr"/>
                </a:tc>
                <a:extLst>
                  <a:ext uri="{0D108BD9-81ED-4DB2-BD59-A6C34878D82A}">
                    <a16:rowId xmlns:a16="http://schemas.microsoft.com/office/drawing/2014/main" val="542337283"/>
                  </a:ext>
                </a:extLst>
              </a:tr>
              <a:tr h="266439">
                <a:tc>
                  <a:txBody>
                    <a:bodyPr/>
                    <a:lstStyle/>
                    <a:p>
                      <a:pPr>
                        <a:buNone/>
                      </a:pPr>
                      <a:r>
                        <a:rPr lang="fr-FR" sz="600"/>
                        <a:t>Propriétaire du document</a:t>
                      </a:r>
                    </a:p>
                  </a:txBody>
                  <a:tcPr marL="48441" marR="48441" marT="24221" marB="24221" anchor="ctr"/>
                </a:tc>
                <a:tc>
                  <a:txBody>
                    <a:bodyPr/>
                    <a:lstStyle/>
                    <a:p>
                      <a:pPr>
                        <a:buNone/>
                      </a:pPr>
                      <a:r>
                        <a:rPr lang="fr-FR" sz="600"/>
                        <a:t>Personne</a:t>
                      </a:r>
                    </a:p>
                  </a:txBody>
                  <a:tcPr marL="48441" marR="48441" marT="24221" marB="24221" anchor="ctr"/>
                </a:tc>
                <a:tc>
                  <a:txBody>
                    <a:bodyPr/>
                    <a:lstStyle/>
                    <a:p>
                      <a:pPr algn="r">
                        <a:buNone/>
                      </a:pPr>
                      <a:r>
                        <a:rPr lang="fr-FR" sz="600"/>
                        <a:t>Oui</a:t>
                      </a:r>
                    </a:p>
                  </a:txBody>
                  <a:tcPr marL="48441" marR="48441" marT="24221" marB="24221" anchor="ctr"/>
                </a:tc>
                <a:tc>
                  <a:txBody>
                    <a:bodyPr/>
                    <a:lstStyle/>
                    <a:p>
                      <a:pPr>
                        <a:buNone/>
                      </a:pPr>
                      <a:r>
                        <a:rPr lang="fr-FR" sz="600"/>
                        <a:t>Responsable métier interne</a:t>
                      </a:r>
                    </a:p>
                  </a:txBody>
                  <a:tcPr marL="48441" marR="48441" marT="24221" marB="24221" anchor="ctr"/>
                </a:tc>
                <a:extLst>
                  <a:ext uri="{0D108BD9-81ED-4DB2-BD59-A6C34878D82A}">
                    <a16:rowId xmlns:a16="http://schemas.microsoft.com/office/drawing/2014/main" val="1352706640"/>
                  </a:ext>
                </a:extLst>
              </a:tr>
              <a:tr h="266439">
                <a:tc>
                  <a:txBody>
                    <a:bodyPr/>
                    <a:lstStyle/>
                    <a:p>
                      <a:pPr>
                        <a:buNone/>
                      </a:pPr>
                      <a:r>
                        <a:rPr lang="fr-FR" sz="600"/>
                        <a:t>Auteur</a:t>
                      </a:r>
                    </a:p>
                  </a:txBody>
                  <a:tcPr marL="48441" marR="48441" marT="24221" marB="24221" anchor="ctr"/>
                </a:tc>
                <a:tc>
                  <a:txBody>
                    <a:bodyPr/>
                    <a:lstStyle/>
                    <a:p>
                      <a:pPr>
                        <a:buNone/>
                      </a:pPr>
                      <a:r>
                        <a:rPr lang="fr-FR" sz="600"/>
                        <a:t>Personne ou texte</a:t>
                      </a:r>
                    </a:p>
                  </a:txBody>
                  <a:tcPr marL="48441" marR="48441" marT="24221" marB="24221" anchor="ctr"/>
                </a:tc>
                <a:tc>
                  <a:txBody>
                    <a:bodyPr/>
                    <a:lstStyle/>
                    <a:p>
                      <a:pPr algn="r">
                        <a:buNone/>
                      </a:pPr>
                      <a:r>
                        <a:rPr lang="fr-FR" sz="600"/>
                        <a:t>Oui</a:t>
                      </a:r>
                    </a:p>
                  </a:txBody>
                  <a:tcPr marL="48441" marR="48441" marT="24221" marB="24221" anchor="ctr"/>
                </a:tc>
                <a:tc>
                  <a:txBody>
                    <a:bodyPr/>
                    <a:lstStyle/>
                    <a:p>
                      <a:pPr>
                        <a:buNone/>
                      </a:pPr>
                      <a:r>
                        <a:rPr lang="fr-FR" sz="600"/>
                        <a:t>Auteur réel ou organisme émetteur</a:t>
                      </a:r>
                    </a:p>
                  </a:txBody>
                  <a:tcPr marL="48441" marR="48441" marT="24221" marB="24221" anchor="ctr"/>
                </a:tc>
                <a:extLst>
                  <a:ext uri="{0D108BD9-81ED-4DB2-BD59-A6C34878D82A}">
                    <a16:rowId xmlns:a16="http://schemas.microsoft.com/office/drawing/2014/main" val="208129491"/>
                  </a:ext>
                </a:extLst>
              </a:tr>
              <a:tr h="593426">
                <a:tc>
                  <a:txBody>
                    <a:bodyPr/>
                    <a:lstStyle/>
                    <a:p>
                      <a:pPr>
                        <a:buNone/>
                      </a:pPr>
                      <a:r>
                        <a:rPr lang="fr-FR" sz="600"/>
                        <a:t>Statut</a:t>
                      </a:r>
                    </a:p>
                  </a:txBody>
                  <a:tcPr marL="48441" marR="48441" marT="24221" marB="24221" anchor="ctr"/>
                </a:tc>
                <a:tc>
                  <a:txBody>
                    <a:bodyPr/>
                    <a:lstStyle/>
                    <a:p>
                      <a:pPr>
                        <a:buNone/>
                      </a:pPr>
                      <a:r>
                        <a:rPr lang="fr-FR" sz="600"/>
                        <a:t>Choix</a:t>
                      </a:r>
                    </a:p>
                  </a:txBody>
                  <a:tcPr marL="48441" marR="48441" marT="24221" marB="24221" anchor="ctr"/>
                </a:tc>
                <a:tc>
                  <a:txBody>
                    <a:bodyPr/>
                    <a:lstStyle/>
                    <a:p>
                      <a:pPr algn="r">
                        <a:buNone/>
                      </a:pPr>
                      <a:r>
                        <a:rPr lang="fr-FR" sz="600"/>
                        <a:t>Oui</a:t>
                      </a:r>
                    </a:p>
                  </a:txBody>
                  <a:tcPr marL="48441" marR="48441" marT="24221" marB="24221" anchor="ctr"/>
                </a:tc>
                <a:tc>
                  <a:txBody>
                    <a:bodyPr/>
                    <a:lstStyle/>
                    <a:p>
                      <a:pPr>
                        <a:buNone/>
                      </a:pPr>
                      <a:r>
                        <a:rPr lang="fr-FR" sz="600"/>
                        <a:t>Brouillon / En révision / Approuvé / En vigueur / Remplacé / Archivé / Obsolète</a:t>
                      </a:r>
                    </a:p>
                  </a:txBody>
                  <a:tcPr marL="48441" marR="48441" marT="24221" marB="24221" anchor="ctr"/>
                </a:tc>
                <a:extLst>
                  <a:ext uri="{0D108BD9-81ED-4DB2-BD59-A6C34878D82A}">
                    <a16:rowId xmlns:a16="http://schemas.microsoft.com/office/drawing/2014/main" val="3849342108"/>
                  </a:ext>
                </a:extLst>
              </a:tr>
              <a:tr h="266439">
                <a:tc>
                  <a:txBody>
                    <a:bodyPr/>
                    <a:lstStyle/>
                    <a:p>
                      <a:pPr>
                        <a:buNone/>
                      </a:pPr>
                      <a:r>
                        <a:rPr lang="fr-FR" sz="600"/>
                        <a:t>Département / Fonction</a:t>
                      </a:r>
                    </a:p>
                  </a:txBody>
                  <a:tcPr marL="48441" marR="48441" marT="24221" marB="24221" anchor="ctr"/>
                </a:tc>
                <a:tc>
                  <a:txBody>
                    <a:bodyPr/>
                    <a:lstStyle/>
                    <a:p>
                      <a:pPr>
                        <a:buNone/>
                      </a:pPr>
                      <a:r>
                        <a:rPr lang="fr-FR" sz="600"/>
                        <a:t>Métadonnée gérée</a:t>
                      </a:r>
                    </a:p>
                  </a:txBody>
                  <a:tcPr marL="48441" marR="48441" marT="24221" marB="24221" anchor="ctr"/>
                </a:tc>
                <a:tc>
                  <a:txBody>
                    <a:bodyPr/>
                    <a:lstStyle/>
                    <a:p>
                      <a:pPr algn="r">
                        <a:buNone/>
                      </a:pPr>
                      <a:r>
                        <a:rPr lang="fr-FR" sz="600" dirty="0"/>
                        <a:t>Oui</a:t>
                      </a:r>
                    </a:p>
                  </a:txBody>
                  <a:tcPr marL="48441" marR="48441" marT="24221" marB="24221" anchor="ctr"/>
                </a:tc>
                <a:tc>
                  <a:txBody>
                    <a:bodyPr/>
                    <a:lstStyle/>
                    <a:p>
                      <a:pPr>
                        <a:buNone/>
                      </a:pPr>
                      <a:r>
                        <a:rPr lang="fr-FR" sz="600" dirty="0"/>
                        <a:t>Entité métier</a:t>
                      </a:r>
                    </a:p>
                  </a:txBody>
                  <a:tcPr marL="48441" marR="48441" marT="24221" marB="24221" anchor="ctr"/>
                </a:tc>
                <a:extLst>
                  <a:ext uri="{0D108BD9-81ED-4DB2-BD59-A6C34878D82A}">
                    <a16:rowId xmlns:a16="http://schemas.microsoft.com/office/drawing/2014/main" val="3851336320"/>
                  </a:ext>
                </a:extLst>
              </a:tr>
            </a:tbl>
          </a:graphicData>
        </a:graphic>
      </p:graphicFrame>
      <p:graphicFrame>
        <p:nvGraphicFramePr>
          <p:cNvPr id="6" name="Tableau 5">
            <a:extLst>
              <a:ext uri="{FF2B5EF4-FFF2-40B4-BE49-F238E27FC236}">
                <a16:creationId xmlns:a16="http://schemas.microsoft.com/office/drawing/2014/main" id="{4ADB389E-239B-4203-69BB-88601CC506C6}"/>
              </a:ext>
            </a:extLst>
          </p:cNvPr>
          <p:cNvGraphicFramePr>
            <a:graphicFrameLocks noGrp="1"/>
          </p:cNvGraphicFramePr>
          <p:nvPr>
            <p:extLst>
              <p:ext uri="{D42A27DB-BD31-4B8C-83A1-F6EECF244321}">
                <p14:modId xmlns:p14="http://schemas.microsoft.com/office/powerpoint/2010/main" val="3655897370"/>
              </p:ext>
            </p:extLst>
          </p:nvPr>
        </p:nvGraphicFramePr>
        <p:xfrm>
          <a:off x="4602480" y="1578235"/>
          <a:ext cx="3629860" cy="2637352"/>
        </p:xfrm>
        <a:graphic>
          <a:graphicData uri="http://schemas.openxmlformats.org/drawingml/2006/table">
            <a:tbl>
              <a:tblPr>
                <a:tableStyleId>{B301B821-A1FF-4177-AEE7-76D212191A09}</a:tableStyleId>
              </a:tblPr>
              <a:tblGrid>
                <a:gridCol w="907465">
                  <a:extLst>
                    <a:ext uri="{9D8B030D-6E8A-4147-A177-3AD203B41FA5}">
                      <a16:colId xmlns:a16="http://schemas.microsoft.com/office/drawing/2014/main" val="4203775330"/>
                    </a:ext>
                  </a:extLst>
                </a:gridCol>
                <a:gridCol w="907465">
                  <a:extLst>
                    <a:ext uri="{9D8B030D-6E8A-4147-A177-3AD203B41FA5}">
                      <a16:colId xmlns:a16="http://schemas.microsoft.com/office/drawing/2014/main" val="3365474350"/>
                    </a:ext>
                  </a:extLst>
                </a:gridCol>
                <a:gridCol w="907465">
                  <a:extLst>
                    <a:ext uri="{9D8B030D-6E8A-4147-A177-3AD203B41FA5}">
                      <a16:colId xmlns:a16="http://schemas.microsoft.com/office/drawing/2014/main" val="3197575979"/>
                    </a:ext>
                  </a:extLst>
                </a:gridCol>
                <a:gridCol w="907465">
                  <a:extLst>
                    <a:ext uri="{9D8B030D-6E8A-4147-A177-3AD203B41FA5}">
                      <a16:colId xmlns:a16="http://schemas.microsoft.com/office/drawing/2014/main" val="3355092164"/>
                    </a:ext>
                  </a:extLst>
                </a:gridCol>
              </a:tblGrid>
              <a:tr h="208943">
                <a:tc>
                  <a:txBody>
                    <a:bodyPr/>
                    <a:lstStyle/>
                    <a:p>
                      <a:pPr>
                        <a:buNone/>
                      </a:pPr>
                      <a:r>
                        <a:rPr lang="fr-FR" sz="600"/>
                        <a:t>Champ</a:t>
                      </a:r>
                    </a:p>
                  </a:txBody>
                  <a:tcPr marL="48441" marR="48441" marT="24221" marB="24221" anchor="ctr"/>
                </a:tc>
                <a:tc>
                  <a:txBody>
                    <a:bodyPr/>
                    <a:lstStyle/>
                    <a:p>
                      <a:pPr>
                        <a:buNone/>
                      </a:pPr>
                      <a:r>
                        <a:rPr lang="fr-FR" sz="600"/>
                        <a:t>Type</a:t>
                      </a:r>
                    </a:p>
                  </a:txBody>
                  <a:tcPr marL="48441" marR="48441" marT="24221" marB="24221" anchor="ctr"/>
                </a:tc>
                <a:tc>
                  <a:txBody>
                    <a:bodyPr/>
                    <a:lstStyle/>
                    <a:p>
                      <a:pPr algn="r">
                        <a:buNone/>
                      </a:pPr>
                      <a:r>
                        <a:rPr lang="fr-FR" sz="600"/>
                        <a:t>Obligatoire</a:t>
                      </a:r>
                    </a:p>
                  </a:txBody>
                  <a:tcPr marL="48441" marR="48441" marT="24221" marB="24221" anchor="ctr"/>
                </a:tc>
                <a:tc>
                  <a:txBody>
                    <a:bodyPr/>
                    <a:lstStyle/>
                    <a:p>
                      <a:pPr>
                        <a:buNone/>
                      </a:pPr>
                      <a:r>
                        <a:rPr lang="fr-FR" sz="600"/>
                        <a:t>Utilité</a:t>
                      </a:r>
                    </a:p>
                  </a:txBody>
                  <a:tcPr marL="48441" marR="48441" marT="24221" marB="24221" anchor="ctr"/>
                </a:tc>
                <a:extLst>
                  <a:ext uri="{0D108BD9-81ED-4DB2-BD59-A6C34878D82A}">
                    <a16:rowId xmlns:a16="http://schemas.microsoft.com/office/drawing/2014/main" val="1014079076"/>
                  </a:ext>
                </a:extLst>
              </a:tr>
              <a:tr h="375434">
                <a:tc>
                  <a:txBody>
                    <a:bodyPr/>
                    <a:lstStyle/>
                    <a:p>
                      <a:pPr>
                        <a:buNone/>
                      </a:pPr>
                      <a:r>
                        <a:rPr lang="fr-FR" sz="600"/>
                        <a:t>Niveau de confidentialité</a:t>
                      </a:r>
                    </a:p>
                  </a:txBody>
                  <a:tcPr marL="48441" marR="48441" marT="24221" marB="24221" anchor="ctr"/>
                </a:tc>
                <a:tc>
                  <a:txBody>
                    <a:bodyPr/>
                    <a:lstStyle/>
                    <a:p>
                      <a:pPr>
                        <a:buNone/>
                      </a:pPr>
                      <a:r>
                        <a:rPr lang="fr-FR" sz="600"/>
                        <a:t>Choix</a:t>
                      </a:r>
                    </a:p>
                  </a:txBody>
                  <a:tcPr marL="48441" marR="48441" marT="24221" marB="24221" anchor="ctr"/>
                </a:tc>
                <a:tc>
                  <a:txBody>
                    <a:bodyPr/>
                    <a:lstStyle/>
                    <a:p>
                      <a:pPr algn="r">
                        <a:buNone/>
                      </a:pPr>
                      <a:r>
                        <a:rPr lang="fr-FR" sz="600"/>
                        <a:t>Oui</a:t>
                      </a:r>
                    </a:p>
                  </a:txBody>
                  <a:tcPr marL="48441" marR="48441" marT="24221" marB="24221" anchor="ctr"/>
                </a:tc>
                <a:tc>
                  <a:txBody>
                    <a:bodyPr/>
                    <a:lstStyle/>
                    <a:p>
                      <a:pPr>
                        <a:buNone/>
                      </a:pPr>
                      <a:r>
                        <a:rPr lang="fr-FR" sz="600" dirty="0"/>
                        <a:t>Interne / Confidentiel / Très confidentiel / Restreint</a:t>
                      </a:r>
                    </a:p>
                  </a:txBody>
                  <a:tcPr marL="48441" marR="48441" marT="24221" marB="24221" anchor="ctr"/>
                </a:tc>
                <a:extLst>
                  <a:ext uri="{0D108BD9-81ED-4DB2-BD59-A6C34878D82A}">
                    <a16:rowId xmlns:a16="http://schemas.microsoft.com/office/drawing/2014/main" val="3883723215"/>
                  </a:ext>
                </a:extLst>
              </a:tr>
              <a:tr h="266439">
                <a:tc>
                  <a:txBody>
                    <a:bodyPr/>
                    <a:lstStyle/>
                    <a:p>
                      <a:pPr>
                        <a:buNone/>
                      </a:pPr>
                      <a:r>
                        <a:rPr lang="fr-FR" sz="600"/>
                        <a:t>Mots-clés</a:t>
                      </a:r>
                    </a:p>
                  </a:txBody>
                  <a:tcPr marL="48441" marR="48441" marT="24221" marB="24221" anchor="ctr"/>
                </a:tc>
                <a:tc>
                  <a:txBody>
                    <a:bodyPr/>
                    <a:lstStyle/>
                    <a:p>
                      <a:pPr>
                        <a:buNone/>
                      </a:pPr>
                      <a:r>
                        <a:rPr lang="fr-FR" sz="600"/>
                        <a:t>Métadonnée gérée multiple</a:t>
                      </a:r>
                    </a:p>
                  </a:txBody>
                  <a:tcPr marL="48441" marR="48441" marT="24221" marB="24221" anchor="ctr"/>
                </a:tc>
                <a:tc>
                  <a:txBody>
                    <a:bodyPr/>
                    <a:lstStyle/>
                    <a:p>
                      <a:pPr algn="r">
                        <a:buNone/>
                      </a:pPr>
                      <a:r>
                        <a:rPr lang="fr-FR" sz="600"/>
                        <a:t>Non</a:t>
                      </a:r>
                    </a:p>
                  </a:txBody>
                  <a:tcPr marL="48441" marR="48441" marT="24221" marB="24221" anchor="ctr"/>
                </a:tc>
                <a:tc>
                  <a:txBody>
                    <a:bodyPr/>
                    <a:lstStyle/>
                    <a:p>
                      <a:pPr>
                        <a:buNone/>
                      </a:pPr>
                      <a:r>
                        <a:rPr lang="fr-FR" sz="600"/>
                        <a:t>Recherche complémentaire</a:t>
                      </a:r>
                    </a:p>
                  </a:txBody>
                  <a:tcPr marL="48441" marR="48441" marT="24221" marB="24221" anchor="ctr"/>
                </a:tc>
                <a:extLst>
                  <a:ext uri="{0D108BD9-81ED-4DB2-BD59-A6C34878D82A}">
                    <a16:rowId xmlns:a16="http://schemas.microsoft.com/office/drawing/2014/main" val="1789024287"/>
                  </a:ext>
                </a:extLst>
              </a:tr>
              <a:tr h="208943">
                <a:tc>
                  <a:txBody>
                    <a:bodyPr/>
                    <a:lstStyle/>
                    <a:p>
                      <a:pPr>
                        <a:buNone/>
                      </a:pPr>
                      <a:r>
                        <a:rPr lang="fr-FR" sz="600"/>
                        <a:t>Version / Révision</a:t>
                      </a:r>
                    </a:p>
                  </a:txBody>
                  <a:tcPr marL="48441" marR="48441" marT="24221" marB="24221" anchor="ctr"/>
                </a:tc>
                <a:tc>
                  <a:txBody>
                    <a:bodyPr/>
                    <a:lstStyle/>
                    <a:p>
                      <a:pPr>
                        <a:buNone/>
                      </a:pPr>
                      <a:r>
                        <a:rPr lang="fr-FR" sz="600"/>
                        <a:t>Texte</a:t>
                      </a:r>
                    </a:p>
                  </a:txBody>
                  <a:tcPr marL="48441" marR="48441" marT="24221" marB="24221" anchor="ctr"/>
                </a:tc>
                <a:tc>
                  <a:txBody>
                    <a:bodyPr/>
                    <a:lstStyle/>
                    <a:p>
                      <a:pPr algn="r">
                        <a:buNone/>
                      </a:pPr>
                      <a:r>
                        <a:rPr lang="fr-FR" sz="600"/>
                        <a:t>Oui</a:t>
                      </a:r>
                    </a:p>
                  </a:txBody>
                  <a:tcPr marL="48441" marR="48441" marT="24221" marB="24221" anchor="ctr"/>
                </a:tc>
                <a:tc>
                  <a:txBody>
                    <a:bodyPr/>
                    <a:lstStyle/>
                    <a:p>
                      <a:pPr>
                        <a:buNone/>
                      </a:pPr>
                      <a:r>
                        <a:rPr lang="fr-FR" sz="600"/>
                        <a:t>Suivi des versions</a:t>
                      </a:r>
                    </a:p>
                  </a:txBody>
                  <a:tcPr marL="48441" marR="48441" marT="24221" marB="24221" anchor="ctr"/>
                </a:tc>
                <a:extLst>
                  <a:ext uri="{0D108BD9-81ED-4DB2-BD59-A6C34878D82A}">
                    <a16:rowId xmlns:a16="http://schemas.microsoft.com/office/drawing/2014/main" val="3676599872"/>
                  </a:ext>
                </a:extLst>
              </a:tr>
              <a:tr h="208943">
                <a:tc>
                  <a:txBody>
                    <a:bodyPr/>
                    <a:lstStyle/>
                    <a:p>
                      <a:pPr>
                        <a:buNone/>
                      </a:pPr>
                      <a:r>
                        <a:rPr lang="fr-FR" sz="600"/>
                        <a:t>Date d’émission</a:t>
                      </a:r>
                    </a:p>
                  </a:txBody>
                  <a:tcPr marL="48441" marR="48441" marT="24221" marB="24221" anchor="ctr"/>
                </a:tc>
                <a:tc>
                  <a:txBody>
                    <a:bodyPr/>
                    <a:lstStyle/>
                    <a:p>
                      <a:pPr>
                        <a:buNone/>
                      </a:pPr>
                      <a:r>
                        <a:rPr lang="fr-FR" sz="600"/>
                        <a:t>Date</a:t>
                      </a:r>
                    </a:p>
                  </a:txBody>
                  <a:tcPr marL="48441" marR="48441" marT="24221" marB="24221" anchor="ctr"/>
                </a:tc>
                <a:tc>
                  <a:txBody>
                    <a:bodyPr/>
                    <a:lstStyle/>
                    <a:p>
                      <a:pPr algn="r">
                        <a:buNone/>
                      </a:pPr>
                      <a:r>
                        <a:rPr lang="fr-FR" sz="600"/>
                        <a:t>Oui</a:t>
                      </a:r>
                    </a:p>
                  </a:txBody>
                  <a:tcPr marL="48441" marR="48441" marT="24221" marB="24221" anchor="ctr"/>
                </a:tc>
                <a:tc>
                  <a:txBody>
                    <a:bodyPr/>
                    <a:lstStyle/>
                    <a:p>
                      <a:pPr>
                        <a:buNone/>
                      </a:pPr>
                      <a:r>
                        <a:rPr lang="fr-FR" sz="600"/>
                        <a:t>Première émission</a:t>
                      </a:r>
                    </a:p>
                  </a:txBody>
                  <a:tcPr marL="48441" marR="48441" marT="24221" marB="24221" anchor="ctr"/>
                </a:tc>
                <a:extLst>
                  <a:ext uri="{0D108BD9-81ED-4DB2-BD59-A6C34878D82A}">
                    <a16:rowId xmlns:a16="http://schemas.microsoft.com/office/drawing/2014/main" val="3141302426"/>
                  </a:ext>
                </a:extLst>
              </a:tr>
              <a:tr h="208943">
                <a:tc>
                  <a:txBody>
                    <a:bodyPr/>
                    <a:lstStyle/>
                    <a:p>
                      <a:pPr>
                        <a:buNone/>
                      </a:pPr>
                      <a:r>
                        <a:rPr lang="fr-FR" sz="600"/>
                        <a:t>Date d’effet</a:t>
                      </a:r>
                    </a:p>
                  </a:txBody>
                  <a:tcPr marL="48441" marR="48441" marT="24221" marB="24221" anchor="ctr"/>
                </a:tc>
                <a:tc>
                  <a:txBody>
                    <a:bodyPr/>
                    <a:lstStyle/>
                    <a:p>
                      <a:pPr>
                        <a:buNone/>
                      </a:pPr>
                      <a:r>
                        <a:rPr lang="fr-FR" sz="600"/>
                        <a:t>Date</a:t>
                      </a:r>
                    </a:p>
                  </a:txBody>
                  <a:tcPr marL="48441" marR="48441" marT="24221" marB="24221" anchor="ctr"/>
                </a:tc>
                <a:tc>
                  <a:txBody>
                    <a:bodyPr/>
                    <a:lstStyle/>
                    <a:p>
                      <a:pPr algn="r">
                        <a:buNone/>
                      </a:pPr>
                      <a:r>
                        <a:rPr lang="fr-FR" sz="600"/>
                        <a:t>Non</a:t>
                      </a:r>
                    </a:p>
                  </a:txBody>
                  <a:tcPr marL="48441" marR="48441" marT="24221" marB="24221" anchor="ctr"/>
                </a:tc>
                <a:tc>
                  <a:txBody>
                    <a:bodyPr/>
                    <a:lstStyle/>
                    <a:p>
                      <a:pPr>
                        <a:buNone/>
                      </a:pPr>
                      <a:r>
                        <a:rPr lang="fr-FR" sz="600"/>
                        <a:t>Début de validité</a:t>
                      </a:r>
                    </a:p>
                  </a:txBody>
                  <a:tcPr marL="48441" marR="48441" marT="24221" marB="24221" anchor="ctr"/>
                </a:tc>
                <a:extLst>
                  <a:ext uri="{0D108BD9-81ED-4DB2-BD59-A6C34878D82A}">
                    <a16:rowId xmlns:a16="http://schemas.microsoft.com/office/drawing/2014/main" val="2020684935"/>
                  </a:ext>
                </a:extLst>
              </a:tr>
              <a:tr h="208943">
                <a:tc>
                  <a:txBody>
                    <a:bodyPr/>
                    <a:lstStyle/>
                    <a:p>
                      <a:pPr>
                        <a:buNone/>
                      </a:pPr>
                      <a:r>
                        <a:rPr lang="fr-FR" sz="600"/>
                        <a:t>Date de révision</a:t>
                      </a:r>
                    </a:p>
                  </a:txBody>
                  <a:tcPr marL="48441" marR="48441" marT="24221" marB="24221" anchor="ctr"/>
                </a:tc>
                <a:tc>
                  <a:txBody>
                    <a:bodyPr/>
                    <a:lstStyle/>
                    <a:p>
                      <a:pPr>
                        <a:buNone/>
                      </a:pPr>
                      <a:r>
                        <a:rPr lang="fr-FR" sz="600"/>
                        <a:t>Date</a:t>
                      </a:r>
                    </a:p>
                  </a:txBody>
                  <a:tcPr marL="48441" marR="48441" marT="24221" marB="24221" anchor="ctr"/>
                </a:tc>
                <a:tc>
                  <a:txBody>
                    <a:bodyPr/>
                    <a:lstStyle/>
                    <a:p>
                      <a:pPr algn="r">
                        <a:buNone/>
                      </a:pPr>
                      <a:r>
                        <a:rPr lang="fr-FR" sz="600"/>
                        <a:t>Non</a:t>
                      </a:r>
                    </a:p>
                  </a:txBody>
                  <a:tcPr marL="48441" marR="48441" marT="24221" marB="24221" anchor="ctr"/>
                </a:tc>
                <a:tc>
                  <a:txBody>
                    <a:bodyPr/>
                    <a:lstStyle/>
                    <a:p>
                      <a:pPr>
                        <a:buNone/>
                      </a:pPr>
                      <a:r>
                        <a:rPr lang="fr-FR" sz="600"/>
                        <a:t>Révision prévue</a:t>
                      </a:r>
                    </a:p>
                  </a:txBody>
                  <a:tcPr marL="48441" marR="48441" marT="24221" marB="24221" anchor="ctr"/>
                </a:tc>
                <a:extLst>
                  <a:ext uri="{0D108BD9-81ED-4DB2-BD59-A6C34878D82A}">
                    <a16:rowId xmlns:a16="http://schemas.microsoft.com/office/drawing/2014/main" val="1122883076"/>
                  </a:ext>
                </a:extLst>
              </a:tr>
              <a:tr h="208943">
                <a:tc>
                  <a:txBody>
                    <a:bodyPr/>
                    <a:lstStyle/>
                    <a:p>
                      <a:pPr>
                        <a:buNone/>
                      </a:pPr>
                      <a:r>
                        <a:rPr lang="fr-FR" sz="600"/>
                        <a:t>Date d’expiration</a:t>
                      </a:r>
                    </a:p>
                  </a:txBody>
                  <a:tcPr marL="48441" marR="48441" marT="24221" marB="24221" anchor="ctr"/>
                </a:tc>
                <a:tc>
                  <a:txBody>
                    <a:bodyPr/>
                    <a:lstStyle/>
                    <a:p>
                      <a:pPr>
                        <a:buNone/>
                      </a:pPr>
                      <a:r>
                        <a:rPr lang="fr-FR" sz="600"/>
                        <a:t>Date</a:t>
                      </a:r>
                    </a:p>
                  </a:txBody>
                  <a:tcPr marL="48441" marR="48441" marT="24221" marB="24221" anchor="ctr"/>
                </a:tc>
                <a:tc>
                  <a:txBody>
                    <a:bodyPr/>
                    <a:lstStyle/>
                    <a:p>
                      <a:pPr algn="r">
                        <a:buNone/>
                      </a:pPr>
                      <a:r>
                        <a:rPr lang="fr-FR" sz="600"/>
                        <a:t>Non</a:t>
                      </a:r>
                    </a:p>
                  </a:txBody>
                  <a:tcPr marL="48441" marR="48441" marT="24221" marB="24221" anchor="ctr"/>
                </a:tc>
                <a:tc>
                  <a:txBody>
                    <a:bodyPr/>
                    <a:lstStyle/>
                    <a:p>
                      <a:pPr>
                        <a:buNone/>
                      </a:pPr>
                      <a:r>
                        <a:rPr lang="fr-FR" sz="600"/>
                        <a:t>Fin de validité</a:t>
                      </a:r>
                    </a:p>
                  </a:txBody>
                  <a:tcPr marL="48441" marR="48441" marT="24221" marB="24221" anchor="ctr"/>
                </a:tc>
                <a:extLst>
                  <a:ext uri="{0D108BD9-81ED-4DB2-BD59-A6C34878D82A}">
                    <a16:rowId xmlns:a16="http://schemas.microsoft.com/office/drawing/2014/main" val="1010490336"/>
                  </a:ext>
                </a:extLst>
              </a:tr>
              <a:tr h="208943">
                <a:tc>
                  <a:txBody>
                    <a:bodyPr/>
                    <a:lstStyle/>
                    <a:p>
                      <a:pPr>
                        <a:buNone/>
                      </a:pPr>
                      <a:r>
                        <a:rPr lang="fr-FR" sz="600"/>
                        <a:t>Langue</a:t>
                      </a:r>
                    </a:p>
                  </a:txBody>
                  <a:tcPr marL="48441" marR="48441" marT="24221" marB="24221" anchor="ctr"/>
                </a:tc>
                <a:tc>
                  <a:txBody>
                    <a:bodyPr/>
                    <a:lstStyle/>
                    <a:p>
                      <a:pPr>
                        <a:buNone/>
                      </a:pPr>
                      <a:r>
                        <a:rPr lang="fr-FR" sz="600"/>
                        <a:t>Choix</a:t>
                      </a:r>
                    </a:p>
                  </a:txBody>
                  <a:tcPr marL="48441" marR="48441" marT="24221" marB="24221" anchor="ctr"/>
                </a:tc>
                <a:tc>
                  <a:txBody>
                    <a:bodyPr/>
                    <a:lstStyle/>
                    <a:p>
                      <a:pPr algn="r">
                        <a:buNone/>
                      </a:pPr>
                      <a:r>
                        <a:rPr lang="fr-FR" sz="600"/>
                        <a:t>Non</a:t>
                      </a:r>
                    </a:p>
                  </a:txBody>
                  <a:tcPr marL="48441" marR="48441" marT="24221" marB="24221" anchor="ctr"/>
                </a:tc>
                <a:tc>
                  <a:txBody>
                    <a:bodyPr/>
                    <a:lstStyle/>
                    <a:p>
                      <a:pPr>
                        <a:buNone/>
                      </a:pPr>
                      <a:r>
                        <a:rPr lang="fr-FR" sz="600"/>
                        <a:t>Gestion multilingue</a:t>
                      </a:r>
                    </a:p>
                  </a:txBody>
                  <a:tcPr marL="48441" marR="48441" marT="24221" marB="24221" anchor="ctr"/>
                </a:tc>
                <a:extLst>
                  <a:ext uri="{0D108BD9-81ED-4DB2-BD59-A6C34878D82A}">
                    <a16:rowId xmlns:a16="http://schemas.microsoft.com/office/drawing/2014/main" val="3102889569"/>
                  </a:ext>
                </a:extLst>
              </a:tr>
              <a:tr h="266439">
                <a:tc>
                  <a:txBody>
                    <a:bodyPr/>
                    <a:lstStyle/>
                    <a:p>
                      <a:pPr>
                        <a:buNone/>
                      </a:pPr>
                      <a:r>
                        <a:rPr lang="fr-FR" sz="600"/>
                        <a:t>Classe de conservation</a:t>
                      </a:r>
                    </a:p>
                  </a:txBody>
                  <a:tcPr marL="48441" marR="48441" marT="24221" marB="24221" anchor="ctr"/>
                </a:tc>
                <a:tc>
                  <a:txBody>
                    <a:bodyPr/>
                    <a:lstStyle/>
                    <a:p>
                      <a:pPr>
                        <a:buNone/>
                      </a:pPr>
                      <a:r>
                        <a:rPr lang="fr-FR" sz="600"/>
                        <a:t>Métadonnée gérée</a:t>
                      </a:r>
                    </a:p>
                  </a:txBody>
                  <a:tcPr marL="48441" marR="48441" marT="24221" marB="24221" anchor="ctr"/>
                </a:tc>
                <a:tc>
                  <a:txBody>
                    <a:bodyPr/>
                    <a:lstStyle/>
                    <a:p>
                      <a:pPr algn="r">
                        <a:buNone/>
                      </a:pPr>
                      <a:r>
                        <a:rPr lang="fr-FR" sz="600"/>
                        <a:t>Oui</a:t>
                      </a:r>
                    </a:p>
                  </a:txBody>
                  <a:tcPr marL="48441" marR="48441" marT="24221" marB="24221" anchor="ctr"/>
                </a:tc>
                <a:tc>
                  <a:txBody>
                    <a:bodyPr/>
                    <a:lstStyle/>
                    <a:p>
                      <a:pPr>
                        <a:buNone/>
                      </a:pPr>
                      <a:r>
                        <a:rPr lang="fr-FR" sz="600"/>
                        <a:t>Rétention / conformité</a:t>
                      </a:r>
                    </a:p>
                  </a:txBody>
                  <a:tcPr marL="48441" marR="48441" marT="24221" marB="24221" anchor="ctr"/>
                </a:tc>
                <a:extLst>
                  <a:ext uri="{0D108BD9-81ED-4DB2-BD59-A6C34878D82A}">
                    <a16:rowId xmlns:a16="http://schemas.microsoft.com/office/drawing/2014/main" val="843143051"/>
                  </a:ext>
                </a:extLst>
              </a:tr>
              <a:tr h="266439">
                <a:tc>
                  <a:txBody>
                    <a:bodyPr/>
                    <a:lstStyle/>
                    <a:p>
                      <a:pPr>
                        <a:buNone/>
                      </a:pPr>
                      <a:r>
                        <a:rPr lang="fr-FR" sz="600" dirty="0"/>
                        <a:t>Organisme source</a:t>
                      </a:r>
                    </a:p>
                  </a:txBody>
                  <a:tcPr marL="48441" marR="48441" marT="24221" marB="24221" anchor="ctr"/>
                </a:tc>
                <a:tc>
                  <a:txBody>
                    <a:bodyPr/>
                    <a:lstStyle/>
                    <a:p>
                      <a:pPr>
                        <a:buNone/>
                      </a:pPr>
                      <a:r>
                        <a:rPr lang="fr-FR" sz="600"/>
                        <a:t>Métadonnée gérée</a:t>
                      </a:r>
                    </a:p>
                  </a:txBody>
                  <a:tcPr marL="48441" marR="48441" marT="24221" marB="24221" anchor="ctr"/>
                </a:tc>
                <a:tc>
                  <a:txBody>
                    <a:bodyPr/>
                    <a:lstStyle/>
                    <a:p>
                      <a:pPr algn="r">
                        <a:buNone/>
                      </a:pPr>
                      <a:r>
                        <a:rPr lang="fr-FR" sz="600"/>
                        <a:t>Conditionnel</a:t>
                      </a:r>
                    </a:p>
                  </a:txBody>
                  <a:tcPr marL="48441" marR="48441" marT="24221" marB="24221" anchor="ctr"/>
                </a:tc>
                <a:tc>
                  <a:txBody>
                    <a:bodyPr/>
                    <a:lstStyle/>
                    <a:p>
                      <a:pPr>
                        <a:buNone/>
                      </a:pPr>
                      <a:r>
                        <a:rPr lang="fr-FR" sz="600" dirty="0"/>
                        <a:t>Obligatoire pour les documents externes</a:t>
                      </a:r>
                    </a:p>
                  </a:txBody>
                  <a:tcPr marL="48441" marR="48441" marT="24221" marB="24221" anchor="ctr"/>
                </a:tc>
                <a:extLst>
                  <a:ext uri="{0D108BD9-81ED-4DB2-BD59-A6C34878D82A}">
                    <a16:rowId xmlns:a16="http://schemas.microsoft.com/office/drawing/2014/main" val="2110369359"/>
                  </a:ext>
                </a:extLst>
              </a:tr>
            </a:tbl>
          </a:graphicData>
        </a:graphic>
      </p:graphicFrame>
    </p:spTree>
    <p:extLst>
      <p:ext uri="{BB962C8B-B14F-4D97-AF65-F5344CB8AC3E}">
        <p14:creationId xmlns:p14="http://schemas.microsoft.com/office/powerpoint/2010/main" val="1867289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2B03D-5C93-E566-6E01-90C5C2C2232A}"/>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5AF4DC72-1075-BB10-AE1F-52C171FE5ACE}"/>
              </a:ext>
            </a:extLst>
          </p:cNvPr>
          <p:cNvSpPr>
            <a:spLocks noGrp="1"/>
          </p:cNvSpPr>
          <p:nvPr>
            <p:ph idx="1"/>
          </p:nvPr>
        </p:nvSpPr>
        <p:spPr>
          <a:xfrm>
            <a:off x="1692000" y="1211293"/>
            <a:ext cx="6852030" cy="369332"/>
          </a:xfrm>
        </p:spPr>
        <p:txBody>
          <a:bodyPr/>
          <a:lstStyle/>
          <a:p>
            <a:r>
              <a:rPr lang="fr-FR" dirty="0"/>
              <a:t>Architecture de niveau 3 – La taxonomie des DI</a:t>
            </a:r>
          </a:p>
        </p:txBody>
      </p:sp>
      <p:sp>
        <p:nvSpPr>
          <p:cNvPr id="3" name="Titre 2">
            <a:extLst>
              <a:ext uri="{FF2B5EF4-FFF2-40B4-BE49-F238E27FC236}">
                <a16:creationId xmlns:a16="http://schemas.microsoft.com/office/drawing/2014/main" id="{9144EAD5-7104-559C-950A-597A8A5D8E12}"/>
              </a:ext>
            </a:extLst>
          </p:cNvPr>
          <p:cNvSpPr>
            <a:spLocks noGrp="1"/>
          </p:cNvSpPr>
          <p:nvPr>
            <p:ph type="title"/>
          </p:nvPr>
        </p:nvSpPr>
        <p:spPr>
          <a:xfrm>
            <a:off x="1692000" y="468000"/>
            <a:ext cx="6852031" cy="715581"/>
          </a:xfrm>
        </p:spPr>
        <p:txBody>
          <a:bodyPr/>
          <a:lstStyle/>
          <a:p>
            <a:r>
              <a:rPr lang="fr-FR" dirty="0"/>
              <a:t>Les métadonnées</a:t>
            </a:r>
          </a:p>
        </p:txBody>
      </p:sp>
      <p:graphicFrame>
        <p:nvGraphicFramePr>
          <p:cNvPr id="5" name="Tableau 4">
            <a:extLst>
              <a:ext uri="{FF2B5EF4-FFF2-40B4-BE49-F238E27FC236}">
                <a16:creationId xmlns:a16="http://schemas.microsoft.com/office/drawing/2014/main" id="{0EF0BAA0-0930-4546-4EC9-EF646860010D}"/>
              </a:ext>
            </a:extLst>
          </p:cNvPr>
          <p:cNvGraphicFramePr>
            <a:graphicFrameLocks noGrp="1"/>
          </p:cNvGraphicFramePr>
          <p:nvPr>
            <p:extLst>
              <p:ext uri="{D42A27DB-BD31-4B8C-83A1-F6EECF244321}">
                <p14:modId xmlns:p14="http://schemas.microsoft.com/office/powerpoint/2010/main" val="1653265029"/>
              </p:ext>
            </p:extLst>
          </p:nvPr>
        </p:nvGraphicFramePr>
        <p:xfrm>
          <a:off x="782082" y="1585477"/>
          <a:ext cx="3759438" cy="3011922"/>
        </p:xfrm>
        <a:graphic>
          <a:graphicData uri="http://schemas.openxmlformats.org/drawingml/2006/table">
            <a:tbl>
              <a:tblPr>
                <a:tableStyleId>{B301B821-A1FF-4177-AEE7-76D212191A09}</a:tableStyleId>
              </a:tblPr>
              <a:tblGrid>
                <a:gridCol w="1253146">
                  <a:extLst>
                    <a:ext uri="{9D8B030D-6E8A-4147-A177-3AD203B41FA5}">
                      <a16:colId xmlns:a16="http://schemas.microsoft.com/office/drawing/2014/main" val="845750628"/>
                    </a:ext>
                  </a:extLst>
                </a:gridCol>
                <a:gridCol w="1253146">
                  <a:extLst>
                    <a:ext uri="{9D8B030D-6E8A-4147-A177-3AD203B41FA5}">
                      <a16:colId xmlns:a16="http://schemas.microsoft.com/office/drawing/2014/main" val="2219509755"/>
                    </a:ext>
                  </a:extLst>
                </a:gridCol>
                <a:gridCol w="1253146">
                  <a:extLst>
                    <a:ext uri="{9D8B030D-6E8A-4147-A177-3AD203B41FA5}">
                      <a16:colId xmlns:a16="http://schemas.microsoft.com/office/drawing/2014/main" val="156810976"/>
                    </a:ext>
                  </a:extLst>
                </a:gridCol>
              </a:tblGrid>
              <a:tr h="192850">
                <a:tc>
                  <a:txBody>
                    <a:bodyPr/>
                    <a:lstStyle/>
                    <a:p>
                      <a:pPr>
                        <a:buNone/>
                      </a:pPr>
                      <a:r>
                        <a:rPr lang="fr-FR" sz="900"/>
                        <a:t>Catégorie</a:t>
                      </a:r>
                    </a:p>
                  </a:txBody>
                  <a:tcPr marL="50172" marR="50172" marT="25086" marB="25086" anchor="ctr"/>
                </a:tc>
                <a:tc>
                  <a:txBody>
                    <a:bodyPr/>
                    <a:lstStyle/>
                    <a:p>
                      <a:pPr>
                        <a:buNone/>
                      </a:pPr>
                      <a:r>
                        <a:rPr lang="fr-FR" sz="900"/>
                        <a:t>Type de document</a:t>
                      </a:r>
                    </a:p>
                  </a:txBody>
                  <a:tcPr marL="50172" marR="50172" marT="25086" marB="25086" anchor="ctr"/>
                </a:tc>
                <a:tc>
                  <a:txBody>
                    <a:bodyPr/>
                    <a:lstStyle/>
                    <a:p>
                      <a:pPr>
                        <a:buNone/>
                      </a:pPr>
                      <a:r>
                        <a:rPr lang="fr-FR" sz="900"/>
                        <a:t>Exemples de sous-types</a:t>
                      </a:r>
                    </a:p>
                  </a:txBody>
                  <a:tcPr marL="50172" marR="50172" marT="25086" marB="25086" anchor="ctr"/>
                </a:tc>
                <a:extLst>
                  <a:ext uri="{0D108BD9-81ED-4DB2-BD59-A6C34878D82A}">
                    <a16:rowId xmlns:a16="http://schemas.microsoft.com/office/drawing/2014/main" val="2143718280"/>
                  </a:ext>
                </a:extLst>
              </a:tr>
              <a:tr h="620886">
                <a:tc>
                  <a:txBody>
                    <a:bodyPr/>
                    <a:lstStyle/>
                    <a:p>
                      <a:pPr>
                        <a:buNone/>
                      </a:pPr>
                      <a:r>
                        <a:rPr lang="fr-FR" sz="900"/>
                        <a:t>Gouvernance &amp; Management</a:t>
                      </a:r>
                    </a:p>
                  </a:txBody>
                  <a:tcPr marL="50172" marR="50172" marT="25086" marB="25086" anchor="ctr"/>
                </a:tc>
                <a:tc>
                  <a:txBody>
                    <a:bodyPr/>
                    <a:lstStyle/>
                    <a:p>
                      <a:pPr>
                        <a:buNone/>
                      </a:pPr>
                      <a:r>
                        <a:rPr lang="fr-FR" sz="900"/>
                        <a:t>Politique</a:t>
                      </a:r>
                    </a:p>
                  </a:txBody>
                  <a:tcPr marL="50172" marR="50172" marT="25086" marB="25086" anchor="ctr"/>
                </a:tc>
                <a:tc>
                  <a:txBody>
                    <a:bodyPr/>
                    <a:lstStyle/>
                    <a:p>
                      <a:pPr>
                        <a:buNone/>
                      </a:pPr>
                      <a:r>
                        <a:rPr lang="fr-FR" sz="900"/>
                        <a:t>Politique groupe, politique départementale, politique sécurité</a:t>
                      </a:r>
                    </a:p>
                  </a:txBody>
                  <a:tcPr marL="50172" marR="50172" marT="25086" marB="25086" anchor="ctr"/>
                </a:tc>
                <a:extLst>
                  <a:ext uri="{0D108BD9-81ED-4DB2-BD59-A6C34878D82A}">
                    <a16:rowId xmlns:a16="http://schemas.microsoft.com/office/drawing/2014/main" val="978167945"/>
                  </a:ext>
                </a:extLst>
              </a:tr>
              <a:tr h="478207">
                <a:tc>
                  <a:txBody>
                    <a:bodyPr/>
                    <a:lstStyle/>
                    <a:p>
                      <a:pPr>
                        <a:buNone/>
                      </a:pPr>
                      <a:r>
                        <a:rPr lang="fr-FR" sz="900"/>
                        <a:t>Gouvernance &amp; Management</a:t>
                      </a:r>
                    </a:p>
                  </a:txBody>
                  <a:tcPr marL="50172" marR="50172" marT="25086" marB="25086" anchor="ctr"/>
                </a:tc>
                <a:tc>
                  <a:txBody>
                    <a:bodyPr/>
                    <a:lstStyle/>
                    <a:p>
                      <a:pPr>
                        <a:buNone/>
                      </a:pPr>
                      <a:r>
                        <a:rPr lang="fr-FR" sz="900"/>
                        <a:t>Procédure</a:t>
                      </a:r>
                    </a:p>
                  </a:txBody>
                  <a:tcPr marL="50172" marR="50172" marT="25086" marB="25086" anchor="ctr"/>
                </a:tc>
                <a:tc>
                  <a:txBody>
                    <a:bodyPr/>
                    <a:lstStyle/>
                    <a:p>
                      <a:pPr>
                        <a:buNone/>
                      </a:pPr>
                      <a:r>
                        <a:rPr lang="fr-FR" sz="900"/>
                        <a:t>Procédure standard, SOP, instruction de travail</a:t>
                      </a:r>
                    </a:p>
                  </a:txBody>
                  <a:tcPr marL="50172" marR="50172" marT="25086" marB="25086" anchor="ctr"/>
                </a:tc>
                <a:extLst>
                  <a:ext uri="{0D108BD9-81ED-4DB2-BD59-A6C34878D82A}">
                    <a16:rowId xmlns:a16="http://schemas.microsoft.com/office/drawing/2014/main" val="1244876067"/>
                  </a:ext>
                </a:extLst>
              </a:tr>
              <a:tr h="620886">
                <a:tc>
                  <a:txBody>
                    <a:bodyPr/>
                    <a:lstStyle/>
                    <a:p>
                      <a:pPr>
                        <a:buNone/>
                      </a:pPr>
                      <a:r>
                        <a:rPr lang="fr-FR" sz="900"/>
                        <a:t>Gouvernance &amp; Management</a:t>
                      </a:r>
                    </a:p>
                  </a:txBody>
                  <a:tcPr marL="50172" marR="50172" marT="25086" marB="25086" anchor="ctr"/>
                </a:tc>
                <a:tc>
                  <a:txBody>
                    <a:bodyPr/>
                    <a:lstStyle/>
                    <a:p>
                      <a:pPr>
                        <a:buNone/>
                      </a:pPr>
                      <a:r>
                        <a:rPr lang="fr-FR" sz="900"/>
                        <a:t>Enregistrement de gouvernance</a:t>
                      </a:r>
                    </a:p>
                  </a:txBody>
                  <a:tcPr marL="50172" marR="50172" marT="25086" marB="25086" anchor="ctr"/>
                </a:tc>
                <a:tc>
                  <a:txBody>
                    <a:bodyPr/>
                    <a:lstStyle/>
                    <a:p>
                      <a:pPr>
                        <a:buNone/>
                      </a:pPr>
                      <a:r>
                        <a:rPr lang="fr-FR" sz="900"/>
                        <a:t>PV de comité, PV de réunion, journal de décisions, plan d’actions</a:t>
                      </a:r>
                    </a:p>
                  </a:txBody>
                  <a:tcPr marL="50172" marR="50172" marT="25086" marB="25086" anchor="ctr"/>
                </a:tc>
                <a:extLst>
                  <a:ext uri="{0D108BD9-81ED-4DB2-BD59-A6C34878D82A}">
                    <a16:rowId xmlns:a16="http://schemas.microsoft.com/office/drawing/2014/main" val="2015508026"/>
                  </a:ext>
                </a:extLst>
              </a:tr>
              <a:tr h="620886">
                <a:tc>
                  <a:txBody>
                    <a:bodyPr/>
                    <a:lstStyle/>
                    <a:p>
                      <a:pPr>
                        <a:buNone/>
                      </a:pPr>
                      <a:r>
                        <a:rPr lang="fr-FR" sz="900"/>
                        <a:t>Qualité / QHSE</a:t>
                      </a:r>
                    </a:p>
                  </a:txBody>
                  <a:tcPr marL="50172" marR="50172" marT="25086" marB="25086" anchor="ctr"/>
                </a:tc>
                <a:tc>
                  <a:txBody>
                    <a:bodyPr/>
                    <a:lstStyle/>
                    <a:p>
                      <a:pPr>
                        <a:buNone/>
                      </a:pPr>
                      <a:r>
                        <a:rPr lang="fr-FR" sz="900"/>
                        <a:t>Audit &amp; Inspection</a:t>
                      </a:r>
                    </a:p>
                  </a:txBody>
                  <a:tcPr marL="50172" marR="50172" marT="25086" marB="25086" anchor="ctr"/>
                </a:tc>
                <a:tc>
                  <a:txBody>
                    <a:bodyPr/>
                    <a:lstStyle/>
                    <a:p>
                      <a:pPr>
                        <a:buNone/>
                      </a:pPr>
                      <a:r>
                        <a:rPr lang="fr-FR" sz="900"/>
                        <a:t>Rapport d’audit interne, checklist d’inspection, fiche de non-conformité</a:t>
                      </a:r>
                    </a:p>
                  </a:txBody>
                  <a:tcPr marL="50172" marR="50172" marT="25086" marB="25086" anchor="ctr"/>
                </a:tc>
                <a:extLst>
                  <a:ext uri="{0D108BD9-81ED-4DB2-BD59-A6C34878D82A}">
                    <a16:rowId xmlns:a16="http://schemas.microsoft.com/office/drawing/2014/main" val="2650502728"/>
                  </a:ext>
                </a:extLst>
              </a:tr>
              <a:tr h="478207">
                <a:tc>
                  <a:txBody>
                    <a:bodyPr/>
                    <a:lstStyle/>
                    <a:p>
                      <a:pPr>
                        <a:buNone/>
                      </a:pPr>
                      <a:r>
                        <a:rPr lang="fr-FR" sz="900"/>
                        <a:t>Qualité / QHSE</a:t>
                      </a:r>
                    </a:p>
                  </a:txBody>
                  <a:tcPr marL="50172" marR="50172" marT="25086" marB="25086" anchor="ctr"/>
                </a:tc>
                <a:tc>
                  <a:txBody>
                    <a:bodyPr/>
                    <a:lstStyle/>
                    <a:p>
                      <a:pPr>
                        <a:buNone/>
                      </a:pPr>
                      <a:r>
                        <a:rPr lang="fr-FR" sz="900"/>
                        <a:t>Sécurité &amp; Risques</a:t>
                      </a:r>
                    </a:p>
                  </a:txBody>
                  <a:tcPr marL="50172" marR="50172" marT="25086" marB="25086" anchor="ctr"/>
                </a:tc>
                <a:tc>
                  <a:txBody>
                    <a:bodyPr/>
                    <a:lstStyle/>
                    <a:p>
                      <a:pPr>
                        <a:buNone/>
                      </a:pPr>
                      <a:r>
                        <a:rPr lang="fr-FR" sz="900" dirty="0"/>
                        <a:t>Analyse de risques, rapport d’incident, plan CAPA</a:t>
                      </a:r>
                    </a:p>
                  </a:txBody>
                  <a:tcPr marL="50172" marR="50172" marT="25086" marB="25086" anchor="ctr"/>
                </a:tc>
                <a:extLst>
                  <a:ext uri="{0D108BD9-81ED-4DB2-BD59-A6C34878D82A}">
                    <a16:rowId xmlns:a16="http://schemas.microsoft.com/office/drawing/2014/main" val="888707935"/>
                  </a:ext>
                </a:extLst>
              </a:tr>
            </a:tbl>
          </a:graphicData>
        </a:graphic>
      </p:graphicFrame>
      <p:graphicFrame>
        <p:nvGraphicFramePr>
          <p:cNvPr id="7" name="Tableau 6">
            <a:extLst>
              <a:ext uri="{FF2B5EF4-FFF2-40B4-BE49-F238E27FC236}">
                <a16:creationId xmlns:a16="http://schemas.microsoft.com/office/drawing/2014/main" id="{E267DEE5-A326-7210-2871-BFB3BD576C11}"/>
              </a:ext>
            </a:extLst>
          </p:cNvPr>
          <p:cNvGraphicFramePr>
            <a:graphicFrameLocks noGrp="1"/>
          </p:cNvGraphicFramePr>
          <p:nvPr>
            <p:extLst>
              <p:ext uri="{D42A27DB-BD31-4B8C-83A1-F6EECF244321}">
                <p14:modId xmlns:p14="http://schemas.microsoft.com/office/powerpoint/2010/main" val="1877702848"/>
              </p:ext>
            </p:extLst>
          </p:nvPr>
        </p:nvGraphicFramePr>
        <p:xfrm>
          <a:off x="4602480" y="1585477"/>
          <a:ext cx="3759438" cy="3439958"/>
        </p:xfrm>
        <a:graphic>
          <a:graphicData uri="http://schemas.openxmlformats.org/drawingml/2006/table">
            <a:tbl>
              <a:tblPr>
                <a:tableStyleId>{B301B821-A1FF-4177-AEE7-76D212191A09}</a:tableStyleId>
              </a:tblPr>
              <a:tblGrid>
                <a:gridCol w="1253146">
                  <a:extLst>
                    <a:ext uri="{9D8B030D-6E8A-4147-A177-3AD203B41FA5}">
                      <a16:colId xmlns:a16="http://schemas.microsoft.com/office/drawing/2014/main" val="845750628"/>
                    </a:ext>
                  </a:extLst>
                </a:gridCol>
                <a:gridCol w="1253146">
                  <a:extLst>
                    <a:ext uri="{9D8B030D-6E8A-4147-A177-3AD203B41FA5}">
                      <a16:colId xmlns:a16="http://schemas.microsoft.com/office/drawing/2014/main" val="2219509755"/>
                    </a:ext>
                  </a:extLst>
                </a:gridCol>
                <a:gridCol w="1253146">
                  <a:extLst>
                    <a:ext uri="{9D8B030D-6E8A-4147-A177-3AD203B41FA5}">
                      <a16:colId xmlns:a16="http://schemas.microsoft.com/office/drawing/2014/main" val="156810976"/>
                    </a:ext>
                  </a:extLst>
                </a:gridCol>
              </a:tblGrid>
              <a:tr h="192850">
                <a:tc>
                  <a:txBody>
                    <a:bodyPr/>
                    <a:lstStyle/>
                    <a:p>
                      <a:pPr>
                        <a:buNone/>
                      </a:pPr>
                      <a:r>
                        <a:rPr lang="fr-FR" sz="900"/>
                        <a:t>Catégorie</a:t>
                      </a:r>
                    </a:p>
                  </a:txBody>
                  <a:tcPr marL="50172" marR="50172" marT="25086" marB="25086" anchor="ctr"/>
                </a:tc>
                <a:tc>
                  <a:txBody>
                    <a:bodyPr/>
                    <a:lstStyle/>
                    <a:p>
                      <a:pPr>
                        <a:buNone/>
                      </a:pPr>
                      <a:r>
                        <a:rPr lang="fr-FR" sz="900"/>
                        <a:t>Type de document</a:t>
                      </a:r>
                    </a:p>
                  </a:txBody>
                  <a:tcPr marL="50172" marR="50172" marT="25086" marB="25086" anchor="ctr"/>
                </a:tc>
                <a:tc>
                  <a:txBody>
                    <a:bodyPr/>
                    <a:lstStyle/>
                    <a:p>
                      <a:pPr>
                        <a:buNone/>
                      </a:pPr>
                      <a:r>
                        <a:rPr lang="fr-FR" sz="900"/>
                        <a:t>Exemples de sous-types</a:t>
                      </a:r>
                    </a:p>
                  </a:txBody>
                  <a:tcPr marL="50172" marR="50172" marT="25086" marB="25086" anchor="ctr"/>
                </a:tc>
                <a:extLst>
                  <a:ext uri="{0D108BD9-81ED-4DB2-BD59-A6C34878D82A}">
                    <a16:rowId xmlns:a16="http://schemas.microsoft.com/office/drawing/2014/main" val="2143718280"/>
                  </a:ext>
                </a:extLst>
              </a:tr>
              <a:tr h="620886">
                <a:tc>
                  <a:txBody>
                    <a:bodyPr/>
                    <a:lstStyle/>
                    <a:p>
                      <a:pPr>
                        <a:buNone/>
                      </a:pPr>
                      <a:r>
                        <a:rPr lang="fr-FR" sz="900"/>
                        <a:t>Opérations</a:t>
                      </a:r>
                    </a:p>
                  </a:txBody>
                  <a:tcPr marL="50172" marR="50172" marT="25086" marB="25086" anchor="ctr"/>
                </a:tc>
                <a:tc>
                  <a:txBody>
                    <a:bodyPr/>
                    <a:lstStyle/>
                    <a:p>
                      <a:pPr>
                        <a:buNone/>
                      </a:pPr>
                      <a:r>
                        <a:rPr lang="fr-FR" sz="900"/>
                        <a:t>Maîtrise opérationnelle</a:t>
                      </a:r>
                    </a:p>
                  </a:txBody>
                  <a:tcPr marL="50172" marR="50172" marT="25086" marB="25086" anchor="ctr"/>
                </a:tc>
                <a:tc>
                  <a:txBody>
                    <a:bodyPr/>
                    <a:lstStyle/>
                    <a:p>
                      <a:pPr>
                        <a:buNone/>
                      </a:pPr>
                      <a:r>
                        <a:rPr lang="fr-FR" sz="900" dirty="0"/>
                        <a:t>Procédure d’exploitation, passation de consignes, guide de dépannage</a:t>
                      </a:r>
                    </a:p>
                  </a:txBody>
                  <a:tcPr marL="50172" marR="50172" marT="25086" marB="25086" anchor="ctr"/>
                </a:tc>
                <a:extLst>
                  <a:ext uri="{0D108BD9-81ED-4DB2-BD59-A6C34878D82A}">
                    <a16:rowId xmlns:a16="http://schemas.microsoft.com/office/drawing/2014/main" val="3164529075"/>
                  </a:ext>
                </a:extLst>
              </a:tr>
              <a:tr h="763564">
                <a:tc>
                  <a:txBody>
                    <a:bodyPr/>
                    <a:lstStyle/>
                    <a:p>
                      <a:pPr>
                        <a:buNone/>
                      </a:pPr>
                      <a:r>
                        <a:rPr lang="fr-FR" sz="900"/>
                        <a:t>Opérations</a:t>
                      </a:r>
                    </a:p>
                  </a:txBody>
                  <a:tcPr marL="50172" marR="50172" marT="25086" marB="25086" anchor="ctr"/>
                </a:tc>
                <a:tc>
                  <a:txBody>
                    <a:bodyPr/>
                    <a:lstStyle/>
                    <a:p>
                      <a:pPr>
                        <a:buNone/>
                      </a:pPr>
                      <a:r>
                        <a:rPr lang="fr-FR" sz="900"/>
                        <a:t>Maintenance &amp; Actifs</a:t>
                      </a:r>
                    </a:p>
                  </a:txBody>
                  <a:tcPr marL="50172" marR="50172" marT="25086" marB="25086" anchor="ctr"/>
                </a:tc>
                <a:tc>
                  <a:txBody>
                    <a:bodyPr/>
                    <a:lstStyle/>
                    <a:p>
                      <a:pPr>
                        <a:buNone/>
                      </a:pPr>
                      <a:r>
                        <a:rPr lang="fr-FR" sz="900"/>
                        <a:t>Instruction de maintenance, journal de maintenance, certificat d’étalonnage, registre d’actifs</a:t>
                      </a:r>
                    </a:p>
                  </a:txBody>
                  <a:tcPr marL="50172" marR="50172" marT="25086" marB="25086" anchor="ctr"/>
                </a:tc>
                <a:extLst>
                  <a:ext uri="{0D108BD9-81ED-4DB2-BD59-A6C34878D82A}">
                    <a16:rowId xmlns:a16="http://schemas.microsoft.com/office/drawing/2014/main" val="927529253"/>
                  </a:ext>
                </a:extLst>
              </a:tr>
              <a:tr h="620886">
                <a:tc>
                  <a:txBody>
                    <a:bodyPr/>
                    <a:lstStyle/>
                    <a:p>
                      <a:pPr>
                        <a:buNone/>
                      </a:pPr>
                      <a:r>
                        <a:rPr lang="fr-FR" sz="900"/>
                        <a:t>Fonctions support</a:t>
                      </a:r>
                    </a:p>
                  </a:txBody>
                  <a:tcPr marL="50172" marR="50172" marT="25086" marB="25086" anchor="ctr"/>
                </a:tc>
                <a:tc>
                  <a:txBody>
                    <a:bodyPr/>
                    <a:lstStyle/>
                    <a:p>
                      <a:pPr>
                        <a:buNone/>
                      </a:pPr>
                      <a:r>
                        <a:rPr lang="fr-FR" sz="900"/>
                        <a:t>RH &amp; Formation</a:t>
                      </a:r>
                    </a:p>
                  </a:txBody>
                  <a:tcPr marL="50172" marR="50172" marT="25086" marB="25086" anchor="ctr"/>
                </a:tc>
                <a:tc>
                  <a:txBody>
                    <a:bodyPr/>
                    <a:lstStyle/>
                    <a:p>
                      <a:pPr>
                        <a:buNone/>
                      </a:pPr>
                      <a:r>
                        <a:rPr lang="fr-FR" sz="900"/>
                        <a:t>Fiche de poste, matrice de compétences, support de formation, feuille de présence</a:t>
                      </a:r>
                    </a:p>
                  </a:txBody>
                  <a:tcPr marL="50172" marR="50172" marT="25086" marB="25086" anchor="ctr"/>
                </a:tc>
                <a:extLst>
                  <a:ext uri="{0D108BD9-81ED-4DB2-BD59-A6C34878D82A}">
                    <a16:rowId xmlns:a16="http://schemas.microsoft.com/office/drawing/2014/main" val="2272127507"/>
                  </a:ext>
                </a:extLst>
              </a:tr>
              <a:tr h="620886">
                <a:tc>
                  <a:txBody>
                    <a:bodyPr/>
                    <a:lstStyle/>
                    <a:p>
                      <a:pPr>
                        <a:buNone/>
                      </a:pPr>
                      <a:r>
                        <a:rPr lang="fr-FR" sz="900"/>
                        <a:t>Fonctions support</a:t>
                      </a:r>
                    </a:p>
                  </a:txBody>
                  <a:tcPr marL="50172" marR="50172" marT="25086" marB="25086" anchor="ctr"/>
                </a:tc>
                <a:tc>
                  <a:txBody>
                    <a:bodyPr/>
                    <a:lstStyle/>
                    <a:p>
                      <a:pPr>
                        <a:buNone/>
                      </a:pPr>
                      <a:r>
                        <a:rPr lang="fr-FR" sz="900"/>
                        <a:t>Finance &amp; Administration</a:t>
                      </a:r>
                    </a:p>
                  </a:txBody>
                  <a:tcPr marL="50172" marR="50172" marT="25086" marB="25086" anchor="ctr"/>
                </a:tc>
                <a:tc>
                  <a:txBody>
                    <a:bodyPr/>
                    <a:lstStyle/>
                    <a:p>
                      <a:pPr>
                        <a:buNone/>
                      </a:pPr>
                      <a:r>
                        <a:rPr lang="fr-FR" sz="900"/>
                        <a:t>Budget, demande d’achat, procédure de dépenses, fiche de contrôle d’actifs</a:t>
                      </a:r>
                    </a:p>
                  </a:txBody>
                  <a:tcPr marL="50172" marR="50172" marT="25086" marB="25086" anchor="ctr"/>
                </a:tc>
                <a:extLst>
                  <a:ext uri="{0D108BD9-81ED-4DB2-BD59-A6C34878D82A}">
                    <a16:rowId xmlns:a16="http://schemas.microsoft.com/office/drawing/2014/main" val="710798247"/>
                  </a:ext>
                </a:extLst>
              </a:tr>
              <a:tr h="620886">
                <a:tc>
                  <a:txBody>
                    <a:bodyPr/>
                    <a:lstStyle/>
                    <a:p>
                      <a:pPr>
                        <a:buNone/>
                      </a:pPr>
                      <a:r>
                        <a:rPr lang="fr-FR" sz="900"/>
                        <a:t>Fonctions support</a:t>
                      </a:r>
                    </a:p>
                  </a:txBody>
                  <a:tcPr marL="50172" marR="50172" marT="25086" marB="25086" anchor="ctr"/>
                </a:tc>
                <a:tc>
                  <a:txBody>
                    <a:bodyPr/>
                    <a:lstStyle/>
                    <a:p>
                      <a:pPr>
                        <a:buNone/>
                      </a:pPr>
                      <a:r>
                        <a:rPr lang="fr-FR" sz="900"/>
                        <a:t>IT &amp; Sécurité de l’information</a:t>
                      </a:r>
                    </a:p>
                  </a:txBody>
                  <a:tcPr marL="50172" marR="50172" marT="25086" marB="25086" anchor="ctr"/>
                </a:tc>
                <a:tc>
                  <a:txBody>
                    <a:bodyPr/>
                    <a:lstStyle/>
                    <a:p>
                      <a:pPr>
                        <a:buNone/>
                      </a:pPr>
                      <a:r>
                        <a:rPr lang="fr-FR" sz="900" dirty="0"/>
                        <a:t>Procédure d’accès, procédure de sauvegarde, PRA/PCA, standard système</a:t>
                      </a:r>
                    </a:p>
                  </a:txBody>
                  <a:tcPr marL="50172" marR="50172" marT="25086" marB="25086" anchor="ctr"/>
                </a:tc>
                <a:extLst>
                  <a:ext uri="{0D108BD9-81ED-4DB2-BD59-A6C34878D82A}">
                    <a16:rowId xmlns:a16="http://schemas.microsoft.com/office/drawing/2014/main" val="2515983897"/>
                  </a:ext>
                </a:extLst>
              </a:tr>
            </a:tbl>
          </a:graphicData>
        </a:graphic>
      </p:graphicFrame>
    </p:spTree>
    <p:extLst>
      <p:ext uri="{BB962C8B-B14F-4D97-AF65-F5344CB8AC3E}">
        <p14:creationId xmlns:p14="http://schemas.microsoft.com/office/powerpoint/2010/main" val="586421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ECDB3-1DD5-D381-CC41-4A8E677576E2}"/>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440DB0A1-FB91-2DF7-C602-E37080B7FC63}"/>
              </a:ext>
            </a:extLst>
          </p:cNvPr>
          <p:cNvSpPr>
            <a:spLocks noGrp="1"/>
          </p:cNvSpPr>
          <p:nvPr>
            <p:ph idx="1"/>
          </p:nvPr>
        </p:nvSpPr>
        <p:spPr>
          <a:xfrm>
            <a:off x="1692000" y="1211293"/>
            <a:ext cx="6852030" cy="369332"/>
          </a:xfrm>
        </p:spPr>
        <p:txBody>
          <a:bodyPr/>
          <a:lstStyle/>
          <a:p>
            <a:r>
              <a:rPr lang="fr-FR" dirty="0"/>
              <a:t>Architecture de niveau 3 – La taxonomie des DE</a:t>
            </a:r>
          </a:p>
        </p:txBody>
      </p:sp>
      <p:sp>
        <p:nvSpPr>
          <p:cNvPr id="3" name="Titre 2">
            <a:extLst>
              <a:ext uri="{FF2B5EF4-FFF2-40B4-BE49-F238E27FC236}">
                <a16:creationId xmlns:a16="http://schemas.microsoft.com/office/drawing/2014/main" id="{01FA923A-2B2E-FCCB-81CF-7C246308CEC9}"/>
              </a:ext>
            </a:extLst>
          </p:cNvPr>
          <p:cNvSpPr>
            <a:spLocks noGrp="1"/>
          </p:cNvSpPr>
          <p:nvPr>
            <p:ph type="title"/>
          </p:nvPr>
        </p:nvSpPr>
        <p:spPr>
          <a:xfrm>
            <a:off x="1692000" y="468000"/>
            <a:ext cx="6852031" cy="715581"/>
          </a:xfrm>
        </p:spPr>
        <p:txBody>
          <a:bodyPr/>
          <a:lstStyle/>
          <a:p>
            <a:r>
              <a:rPr lang="fr-FR" dirty="0"/>
              <a:t>Les métadonnées</a:t>
            </a:r>
          </a:p>
        </p:txBody>
      </p:sp>
      <p:graphicFrame>
        <p:nvGraphicFramePr>
          <p:cNvPr id="4" name="Tableau 3">
            <a:extLst>
              <a:ext uri="{FF2B5EF4-FFF2-40B4-BE49-F238E27FC236}">
                <a16:creationId xmlns:a16="http://schemas.microsoft.com/office/drawing/2014/main" id="{41F80688-AD43-83A0-FB03-9DD0502E17F6}"/>
              </a:ext>
            </a:extLst>
          </p:cNvPr>
          <p:cNvGraphicFramePr>
            <a:graphicFrameLocks noGrp="1"/>
          </p:cNvGraphicFramePr>
          <p:nvPr>
            <p:extLst>
              <p:ext uri="{D42A27DB-BD31-4B8C-83A1-F6EECF244321}">
                <p14:modId xmlns:p14="http://schemas.microsoft.com/office/powerpoint/2010/main" val="1541748541"/>
              </p:ext>
            </p:extLst>
          </p:nvPr>
        </p:nvGraphicFramePr>
        <p:xfrm>
          <a:off x="676086" y="1580625"/>
          <a:ext cx="3865434" cy="2967128"/>
        </p:xfrm>
        <a:graphic>
          <a:graphicData uri="http://schemas.openxmlformats.org/drawingml/2006/table">
            <a:tbl>
              <a:tblPr>
                <a:tableStyleId>{B301B821-A1FF-4177-AEE7-76D212191A09}</a:tableStyleId>
              </a:tblPr>
              <a:tblGrid>
                <a:gridCol w="1288478">
                  <a:extLst>
                    <a:ext uri="{9D8B030D-6E8A-4147-A177-3AD203B41FA5}">
                      <a16:colId xmlns:a16="http://schemas.microsoft.com/office/drawing/2014/main" val="591471118"/>
                    </a:ext>
                  </a:extLst>
                </a:gridCol>
                <a:gridCol w="1288478">
                  <a:extLst>
                    <a:ext uri="{9D8B030D-6E8A-4147-A177-3AD203B41FA5}">
                      <a16:colId xmlns:a16="http://schemas.microsoft.com/office/drawing/2014/main" val="2435298849"/>
                    </a:ext>
                  </a:extLst>
                </a:gridCol>
                <a:gridCol w="1288478">
                  <a:extLst>
                    <a:ext uri="{9D8B030D-6E8A-4147-A177-3AD203B41FA5}">
                      <a16:colId xmlns:a16="http://schemas.microsoft.com/office/drawing/2014/main" val="2367466443"/>
                    </a:ext>
                  </a:extLst>
                </a:gridCol>
              </a:tblGrid>
              <a:tr h="185672">
                <a:tc>
                  <a:txBody>
                    <a:bodyPr/>
                    <a:lstStyle/>
                    <a:p>
                      <a:pPr>
                        <a:buNone/>
                      </a:pPr>
                      <a:r>
                        <a:rPr lang="fr-FR" sz="900"/>
                        <a:t>Catégorie</a:t>
                      </a:r>
                    </a:p>
                  </a:txBody>
                  <a:tcPr marL="51585" marR="51585" marT="25792" marB="25792" anchor="ctr"/>
                </a:tc>
                <a:tc>
                  <a:txBody>
                    <a:bodyPr/>
                    <a:lstStyle/>
                    <a:p>
                      <a:pPr>
                        <a:buNone/>
                      </a:pPr>
                      <a:r>
                        <a:rPr lang="fr-FR" sz="900"/>
                        <a:t>Type de document</a:t>
                      </a:r>
                    </a:p>
                  </a:txBody>
                  <a:tcPr marL="51585" marR="51585" marT="25792" marB="25792" anchor="ctr"/>
                </a:tc>
                <a:tc>
                  <a:txBody>
                    <a:bodyPr/>
                    <a:lstStyle/>
                    <a:p>
                      <a:pPr>
                        <a:buNone/>
                      </a:pPr>
                      <a:r>
                        <a:rPr lang="fr-FR" sz="900"/>
                        <a:t>Exemples de sous-types</a:t>
                      </a:r>
                    </a:p>
                  </a:txBody>
                  <a:tcPr marL="51585" marR="51585" marT="25792" marB="25792" anchor="ctr"/>
                </a:tc>
                <a:extLst>
                  <a:ext uri="{0D108BD9-81ED-4DB2-BD59-A6C34878D82A}">
                    <a16:rowId xmlns:a16="http://schemas.microsoft.com/office/drawing/2014/main" val="256003870"/>
                  </a:ext>
                </a:extLst>
              </a:tr>
              <a:tr h="319759">
                <a:tc>
                  <a:txBody>
                    <a:bodyPr/>
                    <a:lstStyle/>
                    <a:p>
                      <a:pPr>
                        <a:buNone/>
                      </a:pPr>
                      <a:r>
                        <a:rPr lang="fr-FR" sz="900"/>
                        <a:t>Réglementaire &amp; Normatif</a:t>
                      </a:r>
                    </a:p>
                  </a:txBody>
                  <a:tcPr marL="51585" marR="51585" marT="25792" marB="25792" anchor="ctr"/>
                </a:tc>
                <a:tc>
                  <a:txBody>
                    <a:bodyPr/>
                    <a:lstStyle/>
                    <a:p>
                      <a:pPr>
                        <a:buNone/>
                      </a:pPr>
                      <a:r>
                        <a:rPr lang="fr-FR" sz="900"/>
                        <a:t>Règlementation</a:t>
                      </a:r>
                    </a:p>
                  </a:txBody>
                  <a:tcPr marL="51585" marR="51585" marT="25792" marB="25792" anchor="ctr"/>
                </a:tc>
                <a:tc>
                  <a:txBody>
                    <a:bodyPr/>
                    <a:lstStyle/>
                    <a:p>
                      <a:pPr>
                        <a:buNone/>
                      </a:pPr>
                      <a:r>
                        <a:rPr lang="fr-FR" sz="900"/>
                        <a:t>Loi, décret, circulaire, guide officiel</a:t>
                      </a:r>
                    </a:p>
                  </a:txBody>
                  <a:tcPr marL="51585" marR="51585" marT="25792" marB="25792" anchor="ctr"/>
                </a:tc>
                <a:extLst>
                  <a:ext uri="{0D108BD9-81ED-4DB2-BD59-A6C34878D82A}">
                    <a16:rowId xmlns:a16="http://schemas.microsoft.com/office/drawing/2014/main" val="1853001465"/>
                  </a:ext>
                </a:extLst>
              </a:tr>
              <a:tr h="453847">
                <a:tc>
                  <a:txBody>
                    <a:bodyPr/>
                    <a:lstStyle/>
                    <a:p>
                      <a:pPr>
                        <a:buNone/>
                      </a:pPr>
                      <a:r>
                        <a:rPr lang="fr-FR" sz="900"/>
                        <a:t>Réglementaire &amp; Normatif</a:t>
                      </a:r>
                    </a:p>
                  </a:txBody>
                  <a:tcPr marL="51585" marR="51585" marT="25792" marB="25792" anchor="ctr"/>
                </a:tc>
                <a:tc>
                  <a:txBody>
                    <a:bodyPr/>
                    <a:lstStyle/>
                    <a:p>
                      <a:pPr>
                        <a:buNone/>
                      </a:pPr>
                      <a:r>
                        <a:rPr lang="fr-FR" sz="900"/>
                        <a:t>Permis / Certification</a:t>
                      </a:r>
                    </a:p>
                  </a:txBody>
                  <a:tcPr marL="51585" marR="51585" marT="25792" marB="25792" anchor="ctr"/>
                </a:tc>
                <a:tc>
                  <a:txBody>
                    <a:bodyPr/>
                    <a:lstStyle/>
                    <a:p>
                      <a:pPr>
                        <a:buNone/>
                      </a:pPr>
                      <a:r>
                        <a:rPr lang="fr-FR" sz="900" dirty="0"/>
                        <a:t>Permis, licence, certificat, notification d’approbation</a:t>
                      </a:r>
                    </a:p>
                  </a:txBody>
                  <a:tcPr marL="51585" marR="51585" marT="25792" marB="25792" anchor="ctr"/>
                </a:tc>
                <a:extLst>
                  <a:ext uri="{0D108BD9-81ED-4DB2-BD59-A6C34878D82A}">
                    <a16:rowId xmlns:a16="http://schemas.microsoft.com/office/drawing/2014/main" val="688288816"/>
                  </a:ext>
                </a:extLst>
              </a:tr>
              <a:tr h="319759">
                <a:tc>
                  <a:txBody>
                    <a:bodyPr/>
                    <a:lstStyle/>
                    <a:p>
                      <a:pPr>
                        <a:buNone/>
                      </a:pPr>
                      <a:r>
                        <a:rPr lang="fr-FR" sz="900"/>
                        <a:t>Réglementaire &amp; Normatif</a:t>
                      </a:r>
                    </a:p>
                  </a:txBody>
                  <a:tcPr marL="51585" marR="51585" marT="25792" marB="25792" anchor="ctr"/>
                </a:tc>
                <a:tc>
                  <a:txBody>
                    <a:bodyPr/>
                    <a:lstStyle/>
                    <a:p>
                      <a:pPr>
                        <a:buNone/>
                      </a:pPr>
                      <a:r>
                        <a:rPr lang="fr-FR" sz="900"/>
                        <a:t>Norme / Référentiel</a:t>
                      </a:r>
                    </a:p>
                  </a:txBody>
                  <a:tcPr marL="51585" marR="51585" marT="25792" marB="25792" anchor="ctr"/>
                </a:tc>
                <a:tc>
                  <a:txBody>
                    <a:bodyPr/>
                    <a:lstStyle/>
                    <a:p>
                      <a:pPr>
                        <a:buNone/>
                      </a:pPr>
                      <a:r>
                        <a:rPr lang="fr-FR" sz="900"/>
                        <a:t>Norme ISO, norme métier, standard client</a:t>
                      </a:r>
                    </a:p>
                  </a:txBody>
                  <a:tcPr marL="51585" marR="51585" marT="25792" marB="25792" anchor="ctr"/>
                </a:tc>
                <a:extLst>
                  <a:ext uri="{0D108BD9-81ED-4DB2-BD59-A6C34878D82A}">
                    <a16:rowId xmlns:a16="http://schemas.microsoft.com/office/drawing/2014/main" val="828124131"/>
                  </a:ext>
                </a:extLst>
              </a:tr>
              <a:tr h="453847">
                <a:tc>
                  <a:txBody>
                    <a:bodyPr/>
                    <a:lstStyle/>
                    <a:p>
                      <a:pPr>
                        <a:buNone/>
                      </a:pPr>
                      <a:r>
                        <a:rPr lang="fr-FR" sz="900"/>
                        <a:t>Contrats &amp; Juridique</a:t>
                      </a:r>
                    </a:p>
                  </a:txBody>
                  <a:tcPr marL="51585" marR="51585" marT="25792" marB="25792" anchor="ctr"/>
                </a:tc>
                <a:tc>
                  <a:txBody>
                    <a:bodyPr/>
                    <a:lstStyle/>
                    <a:p>
                      <a:pPr>
                        <a:buNone/>
                      </a:pPr>
                      <a:r>
                        <a:rPr lang="fr-FR" sz="900"/>
                        <a:t>Accord</a:t>
                      </a:r>
                    </a:p>
                  </a:txBody>
                  <a:tcPr marL="51585" marR="51585" marT="25792" marB="25792" anchor="ctr"/>
                </a:tc>
                <a:tc>
                  <a:txBody>
                    <a:bodyPr/>
                    <a:lstStyle/>
                    <a:p>
                      <a:pPr>
                        <a:buNone/>
                      </a:pPr>
                      <a:r>
                        <a:rPr lang="fr-FR" sz="900"/>
                        <a:t>NDA, contrat-cadre, contrat fournisseur, avenant</a:t>
                      </a:r>
                    </a:p>
                  </a:txBody>
                  <a:tcPr marL="51585" marR="51585" marT="25792" marB="25792" anchor="ctr"/>
                </a:tc>
                <a:extLst>
                  <a:ext uri="{0D108BD9-81ED-4DB2-BD59-A6C34878D82A}">
                    <a16:rowId xmlns:a16="http://schemas.microsoft.com/office/drawing/2014/main" val="2047065358"/>
                  </a:ext>
                </a:extLst>
              </a:tr>
              <a:tr h="453847">
                <a:tc>
                  <a:txBody>
                    <a:bodyPr/>
                    <a:lstStyle/>
                    <a:p>
                      <a:pPr>
                        <a:buNone/>
                      </a:pPr>
                      <a:r>
                        <a:rPr lang="fr-FR" sz="900"/>
                        <a:t>Contrats &amp; Juridique</a:t>
                      </a:r>
                    </a:p>
                  </a:txBody>
                  <a:tcPr marL="51585" marR="51585" marT="25792" marB="25792" anchor="ctr"/>
                </a:tc>
                <a:tc>
                  <a:txBody>
                    <a:bodyPr/>
                    <a:lstStyle/>
                    <a:p>
                      <a:pPr>
                        <a:buNone/>
                      </a:pPr>
                      <a:r>
                        <a:rPr lang="fr-FR" sz="900"/>
                        <a:t>Acte juridique</a:t>
                      </a:r>
                    </a:p>
                  </a:txBody>
                  <a:tcPr marL="51585" marR="51585" marT="25792" marB="25792" anchor="ctr"/>
                </a:tc>
                <a:tc>
                  <a:txBody>
                    <a:bodyPr/>
                    <a:lstStyle/>
                    <a:p>
                      <a:pPr>
                        <a:buNone/>
                      </a:pPr>
                      <a:r>
                        <a:rPr lang="fr-FR" sz="900"/>
                        <a:t>Conditions générales, avis juridique, notification de réclamation</a:t>
                      </a:r>
                    </a:p>
                  </a:txBody>
                  <a:tcPr marL="51585" marR="51585" marT="25792" marB="25792" anchor="ctr"/>
                </a:tc>
                <a:extLst>
                  <a:ext uri="{0D108BD9-81ED-4DB2-BD59-A6C34878D82A}">
                    <a16:rowId xmlns:a16="http://schemas.microsoft.com/office/drawing/2014/main" val="3657487832"/>
                  </a:ext>
                </a:extLst>
              </a:tr>
              <a:tr h="587934">
                <a:tc>
                  <a:txBody>
                    <a:bodyPr/>
                    <a:lstStyle/>
                    <a:p>
                      <a:pPr>
                        <a:buNone/>
                      </a:pPr>
                      <a:r>
                        <a:rPr lang="fr-FR" sz="900"/>
                        <a:t>Fournisseurs / Fabricants</a:t>
                      </a:r>
                    </a:p>
                  </a:txBody>
                  <a:tcPr marL="51585" marR="51585" marT="25792" marB="25792" anchor="ctr"/>
                </a:tc>
                <a:tc>
                  <a:txBody>
                    <a:bodyPr/>
                    <a:lstStyle/>
                    <a:p>
                      <a:pPr>
                        <a:buNone/>
                      </a:pPr>
                      <a:r>
                        <a:rPr lang="fr-FR" sz="900" dirty="0"/>
                        <a:t>Documentation technique</a:t>
                      </a:r>
                    </a:p>
                  </a:txBody>
                  <a:tcPr marL="51585" marR="51585" marT="25792" marB="25792" anchor="ctr"/>
                </a:tc>
                <a:tc>
                  <a:txBody>
                    <a:bodyPr/>
                    <a:lstStyle/>
                    <a:p>
                      <a:pPr>
                        <a:buNone/>
                      </a:pPr>
                      <a:r>
                        <a:rPr lang="fr-FR" sz="900" dirty="0"/>
                        <a:t>Datasheet, manuel utilisateur, guide d’installation, manuel de maintenance</a:t>
                      </a:r>
                    </a:p>
                  </a:txBody>
                  <a:tcPr marL="51585" marR="51585" marT="25792" marB="25792" anchor="ctr"/>
                </a:tc>
                <a:extLst>
                  <a:ext uri="{0D108BD9-81ED-4DB2-BD59-A6C34878D82A}">
                    <a16:rowId xmlns:a16="http://schemas.microsoft.com/office/drawing/2014/main" val="2149535064"/>
                  </a:ext>
                </a:extLst>
              </a:tr>
            </a:tbl>
          </a:graphicData>
        </a:graphic>
      </p:graphicFrame>
      <p:graphicFrame>
        <p:nvGraphicFramePr>
          <p:cNvPr id="6" name="Tableau 5">
            <a:extLst>
              <a:ext uri="{FF2B5EF4-FFF2-40B4-BE49-F238E27FC236}">
                <a16:creationId xmlns:a16="http://schemas.microsoft.com/office/drawing/2014/main" id="{C31037C0-DA35-A392-6C4B-EFD4996776F8}"/>
              </a:ext>
            </a:extLst>
          </p:cNvPr>
          <p:cNvGraphicFramePr>
            <a:graphicFrameLocks noGrp="1"/>
          </p:cNvGraphicFramePr>
          <p:nvPr>
            <p:extLst>
              <p:ext uri="{D42A27DB-BD31-4B8C-83A1-F6EECF244321}">
                <p14:modId xmlns:p14="http://schemas.microsoft.com/office/powerpoint/2010/main" val="507249216"/>
              </p:ext>
            </p:extLst>
          </p:nvPr>
        </p:nvGraphicFramePr>
        <p:xfrm>
          <a:off x="4602480" y="1580625"/>
          <a:ext cx="3865434" cy="2315320"/>
        </p:xfrm>
        <a:graphic>
          <a:graphicData uri="http://schemas.openxmlformats.org/drawingml/2006/table">
            <a:tbl>
              <a:tblPr>
                <a:tableStyleId>{B301B821-A1FF-4177-AEE7-76D212191A09}</a:tableStyleId>
              </a:tblPr>
              <a:tblGrid>
                <a:gridCol w="1288478">
                  <a:extLst>
                    <a:ext uri="{9D8B030D-6E8A-4147-A177-3AD203B41FA5}">
                      <a16:colId xmlns:a16="http://schemas.microsoft.com/office/drawing/2014/main" val="591471118"/>
                    </a:ext>
                  </a:extLst>
                </a:gridCol>
                <a:gridCol w="1288478">
                  <a:extLst>
                    <a:ext uri="{9D8B030D-6E8A-4147-A177-3AD203B41FA5}">
                      <a16:colId xmlns:a16="http://schemas.microsoft.com/office/drawing/2014/main" val="2435298849"/>
                    </a:ext>
                  </a:extLst>
                </a:gridCol>
                <a:gridCol w="1288478">
                  <a:extLst>
                    <a:ext uri="{9D8B030D-6E8A-4147-A177-3AD203B41FA5}">
                      <a16:colId xmlns:a16="http://schemas.microsoft.com/office/drawing/2014/main" val="2367466443"/>
                    </a:ext>
                  </a:extLst>
                </a:gridCol>
              </a:tblGrid>
              <a:tr h="185672">
                <a:tc>
                  <a:txBody>
                    <a:bodyPr/>
                    <a:lstStyle/>
                    <a:p>
                      <a:pPr>
                        <a:buNone/>
                      </a:pPr>
                      <a:r>
                        <a:rPr lang="fr-FR" sz="900"/>
                        <a:t>Catégorie</a:t>
                      </a:r>
                    </a:p>
                  </a:txBody>
                  <a:tcPr marL="51585" marR="51585" marT="25792" marB="25792" anchor="ctr"/>
                </a:tc>
                <a:tc>
                  <a:txBody>
                    <a:bodyPr/>
                    <a:lstStyle/>
                    <a:p>
                      <a:pPr>
                        <a:buNone/>
                      </a:pPr>
                      <a:r>
                        <a:rPr lang="fr-FR" sz="900"/>
                        <a:t>Type de document</a:t>
                      </a:r>
                    </a:p>
                  </a:txBody>
                  <a:tcPr marL="51585" marR="51585" marT="25792" marB="25792" anchor="ctr"/>
                </a:tc>
                <a:tc>
                  <a:txBody>
                    <a:bodyPr/>
                    <a:lstStyle/>
                    <a:p>
                      <a:pPr>
                        <a:buNone/>
                      </a:pPr>
                      <a:r>
                        <a:rPr lang="fr-FR" sz="900"/>
                        <a:t>Exemples de sous-types</a:t>
                      </a:r>
                    </a:p>
                  </a:txBody>
                  <a:tcPr marL="51585" marR="51585" marT="25792" marB="25792" anchor="ctr"/>
                </a:tc>
                <a:extLst>
                  <a:ext uri="{0D108BD9-81ED-4DB2-BD59-A6C34878D82A}">
                    <a16:rowId xmlns:a16="http://schemas.microsoft.com/office/drawing/2014/main" val="256003870"/>
                  </a:ext>
                </a:extLst>
              </a:tr>
              <a:tr h="453847">
                <a:tc>
                  <a:txBody>
                    <a:bodyPr/>
                    <a:lstStyle/>
                    <a:p>
                      <a:pPr>
                        <a:buNone/>
                      </a:pPr>
                      <a:r>
                        <a:rPr lang="fr-FR" sz="900"/>
                        <a:t>Fournisseurs / Fabricants</a:t>
                      </a:r>
                    </a:p>
                  </a:txBody>
                  <a:tcPr marL="51585" marR="51585" marT="25792" marB="25792" anchor="ctr"/>
                </a:tc>
                <a:tc>
                  <a:txBody>
                    <a:bodyPr/>
                    <a:lstStyle/>
                    <a:p>
                      <a:pPr>
                        <a:buNone/>
                      </a:pPr>
                      <a:r>
                        <a:rPr lang="fr-FR" sz="900"/>
                        <a:t>Documentation qualité</a:t>
                      </a:r>
                    </a:p>
                  </a:txBody>
                  <a:tcPr marL="51585" marR="51585" marT="25792" marB="25792" anchor="ctr"/>
                </a:tc>
                <a:tc>
                  <a:txBody>
                    <a:bodyPr/>
                    <a:lstStyle/>
                    <a:p>
                      <a:pPr>
                        <a:buNone/>
                      </a:pPr>
                      <a:r>
                        <a:rPr lang="fr-FR" sz="900" dirty="0"/>
                        <a:t>Certificat de conformité, certificat d’essai, rapport d’inspection</a:t>
                      </a:r>
                    </a:p>
                  </a:txBody>
                  <a:tcPr marL="51585" marR="51585" marT="25792" marB="25792" anchor="ctr"/>
                </a:tc>
                <a:extLst>
                  <a:ext uri="{0D108BD9-81ED-4DB2-BD59-A6C34878D82A}">
                    <a16:rowId xmlns:a16="http://schemas.microsoft.com/office/drawing/2014/main" val="55710244"/>
                  </a:ext>
                </a:extLst>
              </a:tr>
              <a:tr h="722021">
                <a:tc>
                  <a:txBody>
                    <a:bodyPr/>
                    <a:lstStyle/>
                    <a:p>
                      <a:pPr>
                        <a:buNone/>
                      </a:pPr>
                      <a:r>
                        <a:rPr lang="fr-FR" sz="900"/>
                        <a:t>Clients / Partenaires</a:t>
                      </a:r>
                    </a:p>
                  </a:txBody>
                  <a:tcPr marL="51585" marR="51585" marT="25792" marB="25792" anchor="ctr"/>
                </a:tc>
                <a:tc>
                  <a:txBody>
                    <a:bodyPr/>
                    <a:lstStyle/>
                    <a:p>
                      <a:pPr>
                        <a:buNone/>
                      </a:pPr>
                      <a:r>
                        <a:rPr lang="fr-FR" sz="900"/>
                        <a:t>Correspondance</a:t>
                      </a:r>
                    </a:p>
                  </a:txBody>
                  <a:tcPr marL="51585" marR="51585" marT="25792" marB="25792" anchor="ctr"/>
                </a:tc>
                <a:tc>
                  <a:txBody>
                    <a:bodyPr/>
                    <a:lstStyle/>
                    <a:p>
                      <a:pPr>
                        <a:buNone/>
                      </a:pPr>
                      <a:r>
                        <a:rPr lang="fr-FR" sz="900"/>
                        <a:t>Courrier officiel, bordereau de transmission, email formalisé, note de réunion</a:t>
                      </a:r>
                    </a:p>
                  </a:txBody>
                  <a:tcPr marL="51585" marR="51585" marT="25792" marB="25792" anchor="ctr"/>
                </a:tc>
                <a:extLst>
                  <a:ext uri="{0D108BD9-81ED-4DB2-BD59-A6C34878D82A}">
                    <a16:rowId xmlns:a16="http://schemas.microsoft.com/office/drawing/2014/main" val="983570233"/>
                  </a:ext>
                </a:extLst>
              </a:tr>
              <a:tr h="453847">
                <a:tc>
                  <a:txBody>
                    <a:bodyPr/>
                    <a:lstStyle/>
                    <a:p>
                      <a:pPr>
                        <a:buNone/>
                      </a:pPr>
                      <a:r>
                        <a:rPr lang="fr-FR" sz="900"/>
                        <a:t>Clients / Partenaires</a:t>
                      </a:r>
                    </a:p>
                  </a:txBody>
                  <a:tcPr marL="51585" marR="51585" marT="25792" marB="25792" anchor="ctr"/>
                </a:tc>
                <a:tc>
                  <a:txBody>
                    <a:bodyPr/>
                    <a:lstStyle/>
                    <a:p>
                      <a:pPr>
                        <a:buNone/>
                      </a:pPr>
                      <a:r>
                        <a:rPr lang="fr-FR" sz="900"/>
                        <a:t>Échange commercial</a:t>
                      </a:r>
                    </a:p>
                  </a:txBody>
                  <a:tcPr marL="51585" marR="51585" marT="25792" marB="25792" anchor="ctr"/>
                </a:tc>
                <a:tc>
                  <a:txBody>
                    <a:bodyPr/>
                    <a:lstStyle/>
                    <a:p>
                      <a:pPr>
                        <a:buNone/>
                      </a:pPr>
                      <a:r>
                        <a:rPr lang="fr-FR" sz="900"/>
                        <a:t>RFQ, offre, bon de commande, facture, bon de livraison</a:t>
                      </a:r>
                    </a:p>
                  </a:txBody>
                  <a:tcPr marL="51585" marR="51585" marT="25792" marB="25792" anchor="ctr"/>
                </a:tc>
                <a:extLst>
                  <a:ext uri="{0D108BD9-81ED-4DB2-BD59-A6C34878D82A}">
                    <a16:rowId xmlns:a16="http://schemas.microsoft.com/office/drawing/2014/main" val="3413553211"/>
                  </a:ext>
                </a:extLst>
              </a:tr>
              <a:tr h="453847">
                <a:tc>
                  <a:txBody>
                    <a:bodyPr/>
                    <a:lstStyle/>
                    <a:p>
                      <a:pPr>
                        <a:buNone/>
                      </a:pPr>
                      <a:r>
                        <a:rPr lang="fr-FR" sz="900"/>
                        <a:t>Évaluations tierces</a:t>
                      </a:r>
                    </a:p>
                  </a:txBody>
                  <a:tcPr marL="51585" marR="51585" marT="25792" marB="25792" anchor="ctr"/>
                </a:tc>
                <a:tc>
                  <a:txBody>
                    <a:bodyPr/>
                    <a:lstStyle/>
                    <a:p>
                      <a:pPr>
                        <a:buNone/>
                      </a:pPr>
                      <a:r>
                        <a:rPr lang="fr-FR" sz="900"/>
                        <a:t>Rapport externe</a:t>
                      </a:r>
                    </a:p>
                  </a:txBody>
                  <a:tcPr marL="51585" marR="51585" marT="25792" marB="25792" anchor="ctr"/>
                </a:tc>
                <a:tc>
                  <a:txBody>
                    <a:bodyPr/>
                    <a:lstStyle/>
                    <a:p>
                      <a:pPr>
                        <a:buNone/>
                      </a:pPr>
                      <a:r>
                        <a:rPr lang="fr-FR" sz="900" dirty="0"/>
                        <a:t>Rapport d’audit, rapport laboratoire, expertise, rapport d’enquête</a:t>
                      </a:r>
                    </a:p>
                  </a:txBody>
                  <a:tcPr marL="51585" marR="51585" marT="25792" marB="25792" anchor="ctr"/>
                </a:tc>
                <a:extLst>
                  <a:ext uri="{0D108BD9-81ED-4DB2-BD59-A6C34878D82A}">
                    <a16:rowId xmlns:a16="http://schemas.microsoft.com/office/drawing/2014/main" val="2957872202"/>
                  </a:ext>
                </a:extLst>
              </a:tr>
            </a:tbl>
          </a:graphicData>
        </a:graphic>
      </p:graphicFrame>
    </p:spTree>
    <p:extLst>
      <p:ext uri="{BB962C8B-B14F-4D97-AF65-F5344CB8AC3E}">
        <p14:creationId xmlns:p14="http://schemas.microsoft.com/office/powerpoint/2010/main" val="2322151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2A80F-E410-0432-C110-F644A12F6B3D}"/>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7647536A-7721-7D65-0B4E-D3E71B027027}"/>
              </a:ext>
            </a:extLst>
          </p:cNvPr>
          <p:cNvSpPr>
            <a:spLocks noGrp="1"/>
          </p:cNvSpPr>
          <p:nvPr>
            <p:ph idx="1"/>
          </p:nvPr>
        </p:nvSpPr>
        <p:spPr>
          <a:xfrm>
            <a:off x="1692000" y="1211293"/>
            <a:ext cx="6852030" cy="369332"/>
          </a:xfrm>
        </p:spPr>
        <p:txBody>
          <a:bodyPr/>
          <a:lstStyle/>
          <a:p>
            <a:r>
              <a:rPr lang="fr-FR" dirty="0"/>
              <a:t>Architecture de niveau 3 – La taxonomie des DP</a:t>
            </a:r>
          </a:p>
        </p:txBody>
      </p:sp>
      <p:sp>
        <p:nvSpPr>
          <p:cNvPr id="3" name="Titre 2">
            <a:extLst>
              <a:ext uri="{FF2B5EF4-FFF2-40B4-BE49-F238E27FC236}">
                <a16:creationId xmlns:a16="http://schemas.microsoft.com/office/drawing/2014/main" id="{FD297B38-250F-75F8-0240-4D1CFDE72DBC}"/>
              </a:ext>
            </a:extLst>
          </p:cNvPr>
          <p:cNvSpPr>
            <a:spLocks noGrp="1"/>
          </p:cNvSpPr>
          <p:nvPr>
            <p:ph type="title"/>
          </p:nvPr>
        </p:nvSpPr>
        <p:spPr>
          <a:xfrm>
            <a:off x="1692000" y="468000"/>
            <a:ext cx="6852031" cy="715581"/>
          </a:xfrm>
        </p:spPr>
        <p:txBody>
          <a:bodyPr/>
          <a:lstStyle/>
          <a:p>
            <a:r>
              <a:rPr lang="fr-FR" dirty="0"/>
              <a:t>Les métadonnées</a:t>
            </a:r>
          </a:p>
        </p:txBody>
      </p:sp>
      <p:graphicFrame>
        <p:nvGraphicFramePr>
          <p:cNvPr id="5" name="Tableau 4">
            <a:extLst>
              <a:ext uri="{FF2B5EF4-FFF2-40B4-BE49-F238E27FC236}">
                <a16:creationId xmlns:a16="http://schemas.microsoft.com/office/drawing/2014/main" id="{EDD992FD-2941-60A9-E499-D2B5860469E4}"/>
              </a:ext>
            </a:extLst>
          </p:cNvPr>
          <p:cNvGraphicFramePr>
            <a:graphicFrameLocks noGrp="1"/>
          </p:cNvGraphicFramePr>
          <p:nvPr>
            <p:extLst>
              <p:ext uri="{D42A27DB-BD31-4B8C-83A1-F6EECF244321}">
                <p14:modId xmlns:p14="http://schemas.microsoft.com/office/powerpoint/2010/main" val="636994113"/>
              </p:ext>
            </p:extLst>
          </p:nvPr>
        </p:nvGraphicFramePr>
        <p:xfrm>
          <a:off x="119370" y="1580625"/>
          <a:ext cx="4422150" cy="2880968"/>
        </p:xfrm>
        <a:graphic>
          <a:graphicData uri="http://schemas.openxmlformats.org/drawingml/2006/table">
            <a:tbl>
              <a:tblPr>
                <a:tableStyleId>{B301B821-A1FF-4177-AEE7-76D212191A09}</a:tableStyleId>
              </a:tblPr>
              <a:tblGrid>
                <a:gridCol w="1474050">
                  <a:extLst>
                    <a:ext uri="{9D8B030D-6E8A-4147-A177-3AD203B41FA5}">
                      <a16:colId xmlns:a16="http://schemas.microsoft.com/office/drawing/2014/main" val="1598616908"/>
                    </a:ext>
                  </a:extLst>
                </a:gridCol>
                <a:gridCol w="1474050">
                  <a:extLst>
                    <a:ext uri="{9D8B030D-6E8A-4147-A177-3AD203B41FA5}">
                      <a16:colId xmlns:a16="http://schemas.microsoft.com/office/drawing/2014/main" val="878552348"/>
                    </a:ext>
                  </a:extLst>
                </a:gridCol>
                <a:gridCol w="1474050">
                  <a:extLst>
                    <a:ext uri="{9D8B030D-6E8A-4147-A177-3AD203B41FA5}">
                      <a16:colId xmlns:a16="http://schemas.microsoft.com/office/drawing/2014/main" val="1713100733"/>
                    </a:ext>
                  </a:extLst>
                </a:gridCol>
              </a:tblGrid>
              <a:tr h="210453">
                <a:tc>
                  <a:txBody>
                    <a:bodyPr/>
                    <a:lstStyle/>
                    <a:p>
                      <a:pPr>
                        <a:buNone/>
                      </a:pPr>
                      <a:r>
                        <a:rPr lang="fr-FR" sz="600"/>
                        <a:t>Catégorie</a:t>
                      </a:r>
                    </a:p>
                  </a:txBody>
                  <a:tcPr marL="59019" marR="59019" marT="29507" marB="29507" anchor="ctr"/>
                </a:tc>
                <a:tc>
                  <a:txBody>
                    <a:bodyPr/>
                    <a:lstStyle/>
                    <a:p>
                      <a:pPr>
                        <a:buNone/>
                      </a:pPr>
                      <a:r>
                        <a:rPr lang="fr-FR" sz="600"/>
                        <a:t>Type de document</a:t>
                      </a:r>
                    </a:p>
                  </a:txBody>
                  <a:tcPr marL="59019" marR="59019" marT="29507" marB="29507" anchor="ctr"/>
                </a:tc>
                <a:tc>
                  <a:txBody>
                    <a:bodyPr/>
                    <a:lstStyle/>
                    <a:p>
                      <a:pPr>
                        <a:buNone/>
                      </a:pPr>
                      <a:r>
                        <a:rPr lang="fr-FR" sz="600"/>
                        <a:t>Exemples de sous-types</a:t>
                      </a:r>
                    </a:p>
                  </a:txBody>
                  <a:tcPr marL="59019" marR="59019" marT="29507" marB="29507" anchor="ctr"/>
                </a:tc>
                <a:extLst>
                  <a:ext uri="{0D108BD9-81ED-4DB2-BD59-A6C34878D82A}">
                    <a16:rowId xmlns:a16="http://schemas.microsoft.com/office/drawing/2014/main" val="1162021069"/>
                  </a:ext>
                </a:extLst>
              </a:tr>
              <a:tr h="324593">
                <a:tc>
                  <a:txBody>
                    <a:bodyPr/>
                    <a:lstStyle/>
                    <a:p>
                      <a:pPr>
                        <a:buNone/>
                      </a:pPr>
                      <a:r>
                        <a:rPr lang="fr-FR" sz="600"/>
                        <a:t>Gouvernance projet</a:t>
                      </a:r>
                    </a:p>
                  </a:txBody>
                  <a:tcPr marL="59019" marR="59019" marT="29507" marB="29507" anchor="ctr"/>
                </a:tc>
                <a:tc>
                  <a:txBody>
                    <a:bodyPr/>
                    <a:lstStyle/>
                    <a:p>
                      <a:pPr>
                        <a:buNone/>
                      </a:pPr>
                      <a:r>
                        <a:rPr lang="fr-FR" sz="600"/>
                        <a:t>Définition du projet</a:t>
                      </a:r>
                    </a:p>
                  </a:txBody>
                  <a:tcPr marL="59019" marR="59019" marT="29507" marB="29507" anchor="ctr"/>
                </a:tc>
                <a:tc>
                  <a:txBody>
                    <a:bodyPr/>
                    <a:lstStyle/>
                    <a:p>
                      <a:pPr>
                        <a:buNone/>
                      </a:pPr>
                      <a:r>
                        <a:rPr lang="en-US" sz="600"/>
                        <a:t>Charte projet, business case, PID, plan d’exécution</a:t>
                      </a:r>
                    </a:p>
                  </a:txBody>
                  <a:tcPr marL="59019" marR="59019" marT="29507" marB="29507" anchor="ctr"/>
                </a:tc>
                <a:extLst>
                  <a:ext uri="{0D108BD9-81ED-4DB2-BD59-A6C34878D82A}">
                    <a16:rowId xmlns:a16="http://schemas.microsoft.com/office/drawing/2014/main" val="347600118"/>
                  </a:ext>
                </a:extLst>
              </a:tr>
              <a:tr h="324593">
                <a:tc>
                  <a:txBody>
                    <a:bodyPr/>
                    <a:lstStyle/>
                    <a:p>
                      <a:pPr>
                        <a:buNone/>
                      </a:pPr>
                      <a:r>
                        <a:rPr lang="fr-FR" sz="600"/>
                        <a:t>Gouvernance projet</a:t>
                      </a:r>
                    </a:p>
                  </a:txBody>
                  <a:tcPr marL="59019" marR="59019" marT="29507" marB="29507" anchor="ctr"/>
                </a:tc>
                <a:tc>
                  <a:txBody>
                    <a:bodyPr/>
                    <a:lstStyle/>
                    <a:p>
                      <a:pPr>
                        <a:buNone/>
                      </a:pPr>
                      <a:r>
                        <a:rPr lang="fr-FR" sz="600"/>
                        <a:t>Pilotage &amp; Décisions</a:t>
                      </a:r>
                    </a:p>
                  </a:txBody>
                  <a:tcPr marL="59019" marR="59019" marT="29507" marB="29507" anchor="ctr"/>
                </a:tc>
                <a:tc>
                  <a:txBody>
                    <a:bodyPr/>
                    <a:lstStyle/>
                    <a:p>
                      <a:pPr>
                        <a:buNone/>
                      </a:pPr>
                      <a:r>
                        <a:rPr lang="fr-FR" sz="600"/>
                        <a:t>Dossier comité de pilotage, journal de décisions, RAID log</a:t>
                      </a:r>
                    </a:p>
                  </a:txBody>
                  <a:tcPr marL="59019" marR="59019" marT="29507" marB="29507" anchor="ctr"/>
                </a:tc>
                <a:extLst>
                  <a:ext uri="{0D108BD9-81ED-4DB2-BD59-A6C34878D82A}">
                    <a16:rowId xmlns:a16="http://schemas.microsoft.com/office/drawing/2014/main" val="273999821"/>
                  </a:ext>
                </a:extLst>
              </a:tr>
              <a:tr h="457381">
                <a:tc>
                  <a:txBody>
                    <a:bodyPr/>
                    <a:lstStyle/>
                    <a:p>
                      <a:pPr>
                        <a:buNone/>
                      </a:pPr>
                      <a:r>
                        <a:rPr lang="fr-FR" sz="600"/>
                        <a:t>Planification &amp; Contrôle</a:t>
                      </a:r>
                    </a:p>
                  </a:txBody>
                  <a:tcPr marL="59019" marR="59019" marT="29507" marB="29507" anchor="ctr"/>
                </a:tc>
                <a:tc>
                  <a:txBody>
                    <a:bodyPr/>
                    <a:lstStyle/>
                    <a:p>
                      <a:pPr>
                        <a:buNone/>
                      </a:pPr>
                      <a:r>
                        <a:rPr lang="fr-FR" sz="600"/>
                        <a:t>Planning &amp; Coûts</a:t>
                      </a:r>
                    </a:p>
                  </a:txBody>
                  <a:tcPr marL="59019" marR="59019" marT="29507" marB="29507" anchor="ctr"/>
                </a:tc>
                <a:tc>
                  <a:txBody>
                    <a:bodyPr/>
                    <a:lstStyle/>
                    <a:p>
                      <a:pPr>
                        <a:buNone/>
                      </a:pPr>
                      <a:r>
                        <a:rPr lang="fr-FR" sz="600"/>
                        <a:t>Planning de référence, plan jalons, budget initial, rapport de coûts</a:t>
                      </a:r>
                    </a:p>
                  </a:txBody>
                  <a:tcPr marL="59019" marR="59019" marT="29507" marB="29507" anchor="ctr"/>
                </a:tc>
                <a:extLst>
                  <a:ext uri="{0D108BD9-81ED-4DB2-BD59-A6C34878D82A}">
                    <a16:rowId xmlns:a16="http://schemas.microsoft.com/office/drawing/2014/main" val="231544446"/>
                  </a:ext>
                </a:extLst>
              </a:tr>
              <a:tr h="457381">
                <a:tc>
                  <a:txBody>
                    <a:bodyPr/>
                    <a:lstStyle/>
                    <a:p>
                      <a:pPr>
                        <a:buNone/>
                      </a:pPr>
                      <a:r>
                        <a:rPr lang="fr-FR" sz="600"/>
                        <a:t>Planification &amp; Contrôle</a:t>
                      </a:r>
                    </a:p>
                  </a:txBody>
                  <a:tcPr marL="59019" marR="59019" marT="29507" marB="29507" anchor="ctr"/>
                </a:tc>
                <a:tc>
                  <a:txBody>
                    <a:bodyPr/>
                    <a:lstStyle/>
                    <a:p>
                      <a:pPr>
                        <a:buNone/>
                      </a:pPr>
                      <a:r>
                        <a:rPr lang="fr-FR" sz="600"/>
                        <a:t>Reporting d’avancement</a:t>
                      </a:r>
                    </a:p>
                  </a:txBody>
                  <a:tcPr marL="59019" marR="59019" marT="29507" marB="29507" anchor="ctr"/>
                </a:tc>
                <a:tc>
                  <a:txBody>
                    <a:bodyPr/>
                    <a:lstStyle/>
                    <a:p>
                      <a:pPr>
                        <a:buNone/>
                      </a:pPr>
                      <a:r>
                        <a:rPr lang="fr-FR" sz="600"/>
                        <a:t>Rapport hebdomadaire, rapport mensuel, tableau de bord KPI</a:t>
                      </a:r>
                    </a:p>
                  </a:txBody>
                  <a:tcPr marL="59019" marR="59019" marT="29507" marB="29507" anchor="ctr"/>
                </a:tc>
                <a:extLst>
                  <a:ext uri="{0D108BD9-81ED-4DB2-BD59-A6C34878D82A}">
                    <a16:rowId xmlns:a16="http://schemas.microsoft.com/office/drawing/2014/main" val="1429818097"/>
                  </a:ext>
                </a:extLst>
              </a:tr>
              <a:tr h="457381">
                <a:tc>
                  <a:txBody>
                    <a:bodyPr/>
                    <a:lstStyle/>
                    <a:p>
                      <a:pPr>
                        <a:buNone/>
                      </a:pPr>
                      <a:r>
                        <a:rPr lang="fr-FR" sz="600"/>
                        <a:t>Ingénierie &amp; Conception</a:t>
                      </a:r>
                    </a:p>
                  </a:txBody>
                  <a:tcPr marL="59019" marR="59019" marT="29507" marB="29507" anchor="ctr"/>
                </a:tc>
                <a:tc>
                  <a:txBody>
                    <a:bodyPr/>
                    <a:lstStyle/>
                    <a:p>
                      <a:pPr>
                        <a:buNone/>
                      </a:pPr>
                      <a:r>
                        <a:rPr lang="fr-FR" sz="600"/>
                        <a:t>Exigences</a:t>
                      </a:r>
                    </a:p>
                  </a:txBody>
                  <a:tcPr marL="59019" marR="59019" marT="29507" marB="29507" anchor="ctr"/>
                </a:tc>
                <a:tc>
                  <a:txBody>
                    <a:bodyPr/>
                    <a:lstStyle/>
                    <a:p>
                      <a:pPr>
                        <a:buNone/>
                      </a:pPr>
                      <a:r>
                        <a:rPr lang="fr-FR" sz="600"/>
                        <a:t>Besoin métier, spécification fonctionnelle, spécification technique</a:t>
                      </a:r>
                    </a:p>
                  </a:txBody>
                  <a:tcPr marL="59019" marR="59019" marT="29507" marB="29507" anchor="ctr"/>
                </a:tc>
                <a:extLst>
                  <a:ext uri="{0D108BD9-81ED-4DB2-BD59-A6C34878D82A}">
                    <a16:rowId xmlns:a16="http://schemas.microsoft.com/office/drawing/2014/main" val="4103531820"/>
                  </a:ext>
                </a:extLst>
              </a:tr>
              <a:tr h="324593">
                <a:tc>
                  <a:txBody>
                    <a:bodyPr/>
                    <a:lstStyle/>
                    <a:p>
                      <a:pPr>
                        <a:buNone/>
                      </a:pPr>
                      <a:r>
                        <a:rPr lang="fr-FR" sz="600"/>
                        <a:t>Ingénierie &amp; Conception</a:t>
                      </a:r>
                    </a:p>
                  </a:txBody>
                  <a:tcPr marL="59019" marR="59019" marT="29507" marB="29507" anchor="ctr"/>
                </a:tc>
                <a:tc>
                  <a:txBody>
                    <a:bodyPr/>
                    <a:lstStyle/>
                    <a:p>
                      <a:pPr>
                        <a:buNone/>
                      </a:pPr>
                      <a:r>
                        <a:rPr lang="fr-FR" sz="600"/>
                        <a:t>Livrables de conception</a:t>
                      </a:r>
                    </a:p>
                  </a:txBody>
                  <a:tcPr marL="59019" marR="59019" marT="29507" marB="29507" anchor="ctr"/>
                </a:tc>
                <a:tc>
                  <a:txBody>
                    <a:bodyPr/>
                    <a:lstStyle/>
                    <a:p>
                      <a:pPr>
                        <a:buNone/>
                      </a:pPr>
                      <a:r>
                        <a:rPr lang="fr-FR" sz="600"/>
                        <a:t>Plans, note de calcul, rapport de revue de conception</a:t>
                      </a:r>
                    </a:p>
                  </a:txBody>
                  <a:tcPr marL="59019" marR="59019" marT="29507" marB="29507" anchor="ctr"/>
                </a:tc>
                <a:extLst>
                  <a:ext uri="{0D108BD9-81ED-4DB2-BD59-A6C34878D82A}">
                    <a16:rowId xmlns:a16="http://schemas.microsoft.com/office/drawing/2014/main" val="4267069711"/>
                  </a:ext>
                </a:extLst>
              </a:tr>
              <a:tr h="324593">
                <a:tc>
                  <a:txBody>
                    <a:bodyPr/>
                    <a:lstStyle/>
                    <a:p>
                      <a:pPr>
                        <a:buNone/>
                      </a:pPr>
                      <a:r>
                        <a:rPr lang="fr-FR" sz="600"/>
                        <a:t>Achats &amp; Contrats</a:t>
                      </a:r>
                    </a:p>
                  </a:txBody>
                  <a:tcPr marL="59019" marR="59019" marT="29507" marB="29507" anchor="ctr"/>
                </a:tc>
                <a:tc>
                  <a:txBody>
                    <a:bodyPr/>
                    <a:lstStyle/>
                    <a:p>
                      <a:pPr>
                        <a:buNone/>
                      </a:pPr>
                      <a:r>
                        <a:rPr lang="fr-FR" sz="600"/>
                        <a:t>Consultation</a:t>
                      </a:r>
                    </a:p>
                  </a:txBody>
                  <a:tcPr marL="59019" marR="59019" marT="29507" marB="29507" anchor="ctr"/>
                </a:tc>
                <a:tc>
                  <a:txBody>
                    <a:bodyPr/>
                    <a:lstStyle/>
                    <a:p>
                      <a:pPr>
                        <a:buNone/>
                      </a:pPr>
                      <a:r>
                        <a:rPr lang="fr-FR" sz="600" dirty="0"/>
                        <a:t>RFP, RFQ, évaluation d’offres, recommandation fournisseur</a:t>
                      </a:r>
                    </a:p>
                  </a:txBody>
                  <a:tcPr marL="59019" marR="59019" marT="29507" marB="29507" anchor="ctr"/>
                </a:tc>
                <a:extLst>
                  <a:ext uri="{0D108BD9-81ED-4DB2-BD59-A6C34878D82A}">
                    <a16:rowId xmlns:a16="http://schemas.microsoft.com/office/drawing/2014/main" val="1200649959"/>
                  </a:ext>
                </a:extLst>
              </a:tr>
            </a:tbl>
          </a:graphicData>
        </a:graphic>
      </p:graphicFrame>
      <p:graphicFrame>
        <p:nvGraphicFramePr>
          <p:cNvPr id="7" name="Tableau 6">
            <a:extLst>
              <a:ext uri="{FF2B5EF4-FFF2-40B4-BE49-F238E27FC236}">
                <a16:creationId xmlns:a16="http://schemas.microsoft.com/office/drawing/2014/main" id="{644F16A1-A285-DDFF-EEB4-64DEC7F61AA0}"/>
              </a:ext>
            </a:extLst>
          </p:cNvPr>
          <p:cNvGraphicFramePr>
            <a:graphicFrameLocks noGrp="1"/>
          </p:cNvGraphicFramePr>
          <p:nvPr>
            <p:extLst>
              <p:ext uri="{D42A27DB-BD31-4B8C-83A1-F6EECF244321}">
                <p14:modId xmlns:p14="http://schemas.microsoft.com/office/powerpoint/2010/main" val="4148066387"/>
              </p:ext>
            </p:extLst>
          </p:nvPr>
        </p:nvGraphicFramePr>
        <p:xfrm>
          <a:off x="4602480" y="1580624"/>
          <a:ext cx="4422150" cy="2364570"/>
        </p:xfrm>
        <a:graphic>
          <a:graphicData uri="http://schemas.openxmlformats.org/drawingml/2006/table">
            <a:tbl>
              <a:tblPr>
                <a:tableStyleId>{B301B821-A1FF-4177-AEE7-76D212191A09}</a:tableStyleId>
              </a:tblPr>
              <a:tblGrid>
                <a:gridCol w="1474050">
                  <a:extLst>
                    <a:ext uri="{9D8B030D-6E8A-4147-A177-3AD203B41FA5}">
                      <a16:colId xmlns:a16="http://schemas.microsoft.com/office/drawing/2014/main" val="1598616908"/>
                    </a:ext>
                  </a:extLst>
                </a:gridCol>
                <a:gridCol w="1474050">
                  <a:extLst>
                    <a:ext uri="{9D8B030D-6E8A-4147-A177-3AD203B41FA5}">
                      <a16:colId xmlns:a16="http://schemas.microsoft.com/office/drawing/2014/main" val="878552348"/>
                    </a:ext>
                  </a:extLst>
                </a:gridCol>
                <a:gridCol w="1474050">
                  <a:extLst>
                    <a:ext uri="{9D8B030D-6E8A-4147-A177-3AD203B41FA5}">
                      <a16:colId xmlns:a16="http://schemas.microsoft.com/office/drawing/2014/main" val="1713100733"/>
                    </a:ext>
                  </a:extLst>
                </a:gridCol>
              </a:tblGrid>
              <a:tr h="210453">
                <a:tc>
                  <a:txBody>
                    <a:bodyPr/>
                    <a:lstStyle/>
                    <a:p>
                      <a:pPr>
                        <a:buNone/>
                      </a:pPr>
                      <a:r>
                        <a:rPr lang="fr-FR" sz="600"/>
                        <a:t>Catégorie</a:t>
                      </a:r>
                    </a:p>
                  </a:txBody>
                  <a:tcPr marL="59019" marR="59019" marT="29507" marB="29507" anchor="ctr"/>
                </a:tc>
                <a:tc>
                  <a:txBody>
                    <a:bodyPr/>
                    <a:lstStyle/>
                    <a:p>
                      <a:pPr>
                        <a:buNone/>
                      </a:pPr>
                      <a:r>
                        <a:rPr lang="fr-FR" sz="600"/>
                        <a:t>Type de document</a:t>
                      </a:r>
                    </a:p>
                  </a:txBody>
                  <a:tcPr marL="59019" marR="59019" marT="29507" marB="29507" anchor="ctr"/>
                </a:tc>
                <a:tc>
                  <a:txBody>
                    <a:bodyPr/>
                    <a:lstStyle/>
                    <a:p>
                      <a:pPr>
                        <a:buNone/>
                      </a:pPr>
                      <a:r>
                        <a:rPr lang="fr-FR" sz="600"/>
                        <a:t>Exemples de sous-types</a:t>
                      </a:r>
                    </a:p>
                  </a:txBody>
                  <a:tcPr marL="59019" marR="59019" marT="29507" marB="29507" anchor="ctr"/>
                </a:tc>
                <a:extLst>
                  <a:ext uri="{0D108BD9-81ED-4DB2-BD59-A6C34878D82A}">
                    <a16:rowId xmlns:a16="http://schemas.microsoft.com/office/drawing/2014/main" val="1162021069"/>
                  </a:ext>
                </a:extLst>
              </a:tr>
              <a:tr h="457381">
                <a:tc>
                  <a:txBody>
                    <a:bodyPr/>
                    <a:lstStyle/>
                    <a:p>
                      <a:pPr>
                        <a:buNone/>
                      </a:pPr>
                      <a:r>
                        <a:rPr lang="fr-FR" sz="600"/>
                        <a:t>Achats &amp; Contrats</a:t>
                      </a:r>
                    </a:p>
                  </a:txBody>
                  <a:tcPr marL="59019" marR="59019" marT="29507" marB="29507" anchor="ctr"/>
                </a:tc>
                <a:tc>
                  <a:txBody>
                    <a:bodyPr/>
                    <a:lstStyle/>
                    <a:p>
                      <a:pPr>
                        <a:buNone/>
                      </a:pPr>
                      <a:r>
                        <a:rPr lang="fr-FR" sz="600"/>
                        <a:t>Administration contractuelle</a:t>
                      </a:r>
                    </a:p>
                  </a:txBody>
                  <a:tcPr marL="59019" marR="59019" marT="29507" marB="29507" anchor="ctr"/>
                </a:tc>
                <a:tc>
                  <a:txBody>
                    <a:bodyPr/>
                    <a:lstStyle/>
                    <a:p>
                      <a:pPr>
                        <a:buNone/>
                      </a:pPr>
                      <a:r>
                        <a:rPr lang="fr-FR" sz="600" dirty="0"/>
                        <a:t>Demande d’achat, ordre de changement, dossier fournisseur</a:t>
                      </a:r>
                    </a:p>
                  </a:txBody>
                  <a:tcPr marL="59019" marR="59019" marT="29507" marB="29507" anchor="ctr"/>
                </a:tc>
                <a:extLst>
                  <a:ext uri="{0D108BD9-81ED-4DB2-BD59-A6C34878D82A}">
                    <a16:rowId xmlns:a16="http://schemas.microsoft.com/office/drawing/2014/main" val="3549147872"/>
                  </a:ext>
                </a:extLst>
              </a:tr>
              <a:tr h="457381">
                <a:tc>
                  <a:txBody>
                    <a:bodyPr/>
                    <a:lstStyle/>
                    <a:p>
                      <a:pPr>
                        <a:buNone/>
                      </a:pPr>
                      <a:r>
                        <a:rPr lang="fr-FR" sz="600"/>
                        <a:t>Exécution &amp; Chantier</a:t>
                      </a:r>
                    </a:p>
                  </a:txBody>
                  <a:tcPr marL="59019" marR="59019" marT="29507" marB="29507" anchor="ctr"/>
                </a:tc>
                <a:tc>
                  <a:txBody>
                    <a:bodyPr/>
                    <a:lstStyle/>
                    <a:p>
                      <a:pPr>
                        <a:buNone/>
                      </a:pPr>
                      <a:r>
                        <a:rPr lang="fr-FR" sz="600"/>
                        <a:t>Exécution terrain</a:t>
                      </a:r>
                    </a:p>
                  </a:txBody>
                  <a:tcPr marL="59019" marR="59019" marT="29507" marB="29507" anchor="ctr"/>
                </a:tc>
                <a:tc>
                  <a:txBody>
                    <a:bodyPr/>
                    <a:lstStyle/>
                    <a:p>
                      <a:pPr>
                        <a:buNone/>
                      </a:pPr>
                      <a:r>
                        <a:rPr lang="fr-FR" sz="600"/>
                        <a:t>Méthode, dossier de travaux, instruction chantier, fiche d’installation</a:t>
                      </a:r>
                    </a:p>
                  </a:txBody>
                  <a:tcPr marL="59019" marR="59019" marT="29507" marB="29507" anchor="ctr"/>
                </a:tc>
                <a:extLst>
                  <a:ext uri="{0D108BD9-81ED-4DB2-BD59-A6C34878D82A}">
                    <a16:rowId xmlns:a16="http://schemas.microsoft.com/office/drawing/2014/main" val="2375161049"/>
                  </a:ext>
                </a:extLst>
              </a:tr>
              <a:tr h="457381">
                <a:tc>
                  <a:txBody>
                    <a:bodyPr/>
                    <a:lstStyle/>
                    <a:p>
                      <a:pPr>
                        <a:buNone/>
                      </a:pPr>
                      <a:r>
                        <a:rPr lang="fr-FR" sz="600"/>
                        <a:t>Exécution &amp; Chantier</a:t>
                      </a:r>
                    </a:p>
                  </a:txBody>
                  <a:tcPr marL="59019" marR="59019" marT="29507" marB="29507" anchor="ctr"/>
                </a:tc>
                <a:tc>
                  <a:txBody>
                    <a:bodyPr/>
                    <a:lstStyle/>
                    <a:p>
                      <a:pPr>
                        <a:buNone/>
                      </a:pPr>
                      <a:r>
                        <a:rPr lang="fr-FR" sz="600"/>
                        <a:t>Essais &amp; Mise en service</a:t>
                      </a:r>
                    </a:p>
                  </a:txBody>
                  <a:tcPr marL="59019" marR="59019" marT="29507" marB="29507" anchor="ctr"/>
                </a:tc>
                <a:tc>
                  <a:txBody>
                    <a:bodyPr/>
                    <a:lstStyle/>
                    <a:p>
                      <a:pPr>
                        <a:buNone/>
                      </a:pPr>
                      <a:r>
                        <a:rPr lang="fr-FR" sz="600"/>
                        <a:t>Plan de test, ITP, procédure de commissioning, enregistrement d’essai</a:t>
                      </a:r>
                    </a:p>
                  </a:txBody>
                  <a:tcPr marL="59019" marR="59019" marT="29507" marB="29507" anchor="ctr"/>
                </a:tc>
                <a:extLst>
                  <a:ext uri="{0D108BD9-81ED-4DB2-BD59-A6C34878D82A}">
                    <a16:rowId xmlns:a16="http://schemas.microsoft.com/office/drawing/2014/main" val="2926066244"/>
                  </a:ext>
                </a:extLst>
              </a:tr>
              <a:tr h="457381">
                <a:tc>
                  <a:txBody>
                    <a:bodyPr/>
                    <a:lstStyle/>
                    <a:p>
                      <a:pPr>
                        <a:buNone/>
                      </a:pPr>
                      <a:r>
                        <a:rPr lang="fr-FR" sz="600"/>
                        <a:t>Handover &amp; Clôture</a:t>
                      </a:r>
                    </a:p>
                  </a:txBody>
                  <a:tcPr marL="59019" marR="59019" marT="29507" marB="29507" anchor="ctr"/>
                </a:tc>
                <a:tc>
                  <a:txBody>
                    <a:bodyPr/>
                    <a:lstStyle/>
                    <a:p>
                      <a:pPr>
                        <a:buNone/>
                      </a:pPr>
                      <a:r>
                        <a:rPr lang="fr-FR" sz="600"/>
                        <a:t>Remise / Handover</a:t>
                      </a:r>
                    </a:p>
                  </a:txBody>
                  <a:tcPr marL="59019" marR="59019" marT="29507" marB="29507" anchor="ctr"/>
                </a:tc>
                <a:tc>
                  <a:txBody>
                    <a:bodyPr/>
                    <a:lstStyle/>
                    <a:p>
                      <a:pPr>
                        <a:buNone/>
                      </a:pPr>
                      <a:r>
                        <a:rPr lang="fr-FR" sz="600"/>
                        <a:t>Dossier as-built, punch list, certificat de réception, dossier de transfert</a:t>
                      </a:r>
                    </a:p>
                  </a:txBody>
                  <a:tcPr marL="59019" marR="59019" marT="29507" marB="29507" anchor="ctr"/>
                </a:tc>
                <a:extLst>
                  <a:ext uri="{0D108BD9-81ED-4DB2-BD59-A6C34878D82A}">
                    <a16:rowId xmlns:a16="http://schemas.microsoft.com/office/drawing/2014/main" val="994025772"/>
                  </a:ext>
                </a:extLst>
              </a:tr>
              <a:tr h="324593">
                <a:tc>
                  <a:txBody>
                    <a:bodyPr/>
                    <a:lstStyle/>
                    <a:p>
                      <a:pPr>
                        <a:buNone/>
                      </a:pPr>
                      <a:r>
                        <a:rPr lang="fr-FR" sz="600"/>
                        <a:t>Handover &amp; Clôture</a:t>
                      </a:r>
                    </a:p>
                  </a:txBody>
                  <a:tcPr marL="59019" marR="59019" marT="29507" marB="29507" anchor="ctr"/>
                </a:tc>
                <a:tc>
                  <a:txBody>
                    <a:bodyPr/>
                    <a:lstStyle/>
                    <a:p>
                      <a:pPr>
                        <a:buNone/>
                      </a:pPr>
                      <a:r>
                        <a:rPr lang="fr-FR" sz="600"/>
                        <a:t>Clôture</a:t>
                      </a:r>
                    </a:p>
                  </a:txBody>
                  <a:tcPr marL="59019" marR="59019" marT="29507" marB="29507" anchor="ctr"/>
                </a:tc>
                <a:tc>
                  <a:txBody>
                    <a:bodyPr/>
                    <a:lstStyle/>
                    <a:p>
                      <a:pPr>
                        <a:buNone/>
                      </a:pPr>
                      <a:r>
                        <a:rPr lang="fr-FR" sz="600" dirty="0"/>
                        <a:t>Retour d’expérience, rapport de clôture, index d’archivage</a:t>
                      </a:r>
                    </a:p>
                  </a:txBody>
                  <a:tcPr marL="59019" marR="59019" marT="29507" marB="29507" anchor="ctr"/>
                </a:tc>
                <a:extLst>
                  <a:ext uri="{0D108BD9-81ED-4DB2-BD59-A6C34878D82A}">
                    <a16:rowId xmlns:a16="http://schemas.microsoft.com/office/drawing/2014/main" val="2889393434"/>
                  </a:ext>
                </a:extLst>
              </a:tr>
            </a:tbl>
          </a:graphicData>
        </a:graphic>
      </p:graphicFrame>
    </p:spTree>
    <p:extLst>
      <p:ext uri="{BB962C8B-B14F-4D97-AF65-F5344CB8AC3E}">
        <p14:creationId xmlns:p14="http://schemas.microsoft.com/office/powerpoint/2010/main" val="4049178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00B4B-0447-D6B7-91FD-32B380B0CD25}"/>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52BA6457-DD4B-3277-40D0-DC93E7DF41D3}"/>
              </a:ext>
            </a:extLst>
          </p:cNvPr>
          <p:cNvSpPr>
            <a:spLocks noGrp="1"/>
          </p:cNvSpPr>
          <p:nvPr>
            <p:ph idx="1"/>
          </p:nvPr>
        </p:nvSpPr>
        <p:spPr>
          <a:xfrm>
            <a:off x="1692000" y="1211293"/>
            <a:ext cx="6852030" cy="369332"/>
          </a:xfrm>
        </p:spPr>
        <p:txBody>
          <a:bodyPr/>
          <a:lstStyle/>
          <a:p>
            <a:r>
              <a:rPr lang="fr-FR" dirty="0"/>
              <a:t>Architecture de niveau 3 – La taxonomie des DR</a:t>
            </a:r>
          </a:p>
        </p:txBody>
      </p:sp>
      <p:sp>
        <p:nvSpPr>
          <p:cNvPr id="3" name="Titre 2">
            <a:extLst>
              <a:ext uri="{FF2B5EF4-FFF2-40B4-BE49-F238E27FC236}">
                <a16:creationId xmlns:a16="http://schemas.microsoft.com/office/drawing/2014/main" id="{D4226D0C-AB16-F4FA-76A9-F0FAAF06CF6D}"/>
              </a:ext>
            </a:extLst>
          </p:cNvPr>
          <p:cNvSpPr>
            <a:spLocks noGrp="1"/>
          </p:cNvSpPr>
          <p:nvPr>
            <p:ph type="title"/>
          </p:nvPr>
        </p:nvSpPr>
        <p:spPr>
          <a:xfrm>
            <a:off x="1692000" y="468000"/>
            <a:ext cx="6852031" cy="715581"/>
          </a:xfrm>
        </p:spPr>
        <p:txBody>
          <a:bodyPr/>
          <a:lstStyle/>
          <a:p>
            <a:r>
              <a:rPr lang="fr-FR" dirty="0"/>
              <a:t>Les métadonnées</a:t>
            </a:r>
          </a:p>
        </p:txBody>
      </p:sp>
      <p:graphicFrame>
        <p:nvGraphicFramePr>
          <p:cNvPr id="4" name="Tableau 3">
            <a:extLst>
              <a:ext uri="{FF2B5EF4-FFF2-40B4-BE49-F238E27FC236}">
                <a16:creationId xmlns:a16="http://schemas.microsoft.com/office/drawing/2014/main" id="{C6967EC0-9FC2-A5A7-4ED8-BD025D46847A}"/>
              </a:ext>
            </a:extLst>
          </p:cNvPr>
          <p:cNvGraphicFramePr>
            <a:graphicFrameLocks noGrp="1"/>
          </p:cNvGraphicFramePr>
          <p:nvPr>
            <p:extLst>
              <p:ext uri="{D42A27DB-BD31-4B8C-83A1-F6EECF244321}">
                <p14:modId xmlns:p14="http://schemas.microsoft.com/office/powerpoint/2010/main" val="684633929"/>
              </p:ext>
            </p:extLst>
          </p:nvPr>
        </p:nvGraphicFramePr>
        <p:xfrm>
          <a:off x="411481" y="1580625"/>
          <a:ext cx="4130040" cy="3214585"/>
        </p:xfrm>
        <a:graphic>
          <a:graphicData uri="http://schemas.openxmlformats.org/drawingml/2006/table">
            <a:tbl>
              <a:tblPr>
                <a:tableStyleId>{B301B821-A1FF-4177-AEE7-76D212191A09}</a:tableStyleId>
              </a:tblPr>
              <a:tblGrid>
                <a:gridCol w="1376680">
                  <a:extLst>
                    <a:ext uri="{9D8B030D-6E8A-4147-A177-3AD203B41FA5}">
                      <a16:colId xmlns:a16="http://schemas.microsoft.com/office/drawing/2014/main" val="3842883938"/>
                    </a:ext>
                  </a:extLst>
                </a:gridCol>
                <a:gridCol w="1376680">
                  <a:extLst>
                    <a:ext uri="{9D8B030D-6E8A-4147-A177-3AD203B41FA5}">
                      <a16:colId xmlns:a16="http://schemas.microsoft.com/office/drawing/2014/main" val="4039680468"/>
                    </a:ext>
                  </a:extLst>
                </a:gridCol>
                <a:gridCol w="1376680">
                  <a:extLst>
                    <a:ext uri="{9D8B030D-6E8A-4147-A177-3AD203B41FA5}">
                      <a16:colId xmlns:a16="http://schemas.microsoft.com/office/drawing/2014/main" val="3637175475"/>
                    </a:ext>
                  </a:extLst>
                </a:gridCol>
              </a:tblGrid>
              <a:tr h="224431">
                <a:tc>
                  <a:txBody>
                    <a:bodyPr/>
                    <a:lstStyle/>
                    <a:p>
                      <a:pPr>
                        <a:buNone/>
                      </a:pPr>
                      <a:r>
                        <a:rPr lang="fr-FR" sz="700"/>
                        <a:t>Catégorie</a:t>
                      </a:r>
                    </a:p>
                  </a:txBody>
                  <a:tcPr marL="55118" marR="55118" marT="27562" marB="27562" anchor="ctr"/>
                </a:tc>
                <a:tc>
                  <a:txBody>
                    <a:bodyPr/>
                    <a:lstStyle/>
                    <a:p>
                      <a:pPr>
                        <a:buNone/>
                      </a:pPr>
                      <a:r>
                        <a:rPr lang="fr-FR" sz="700"/>
                        <a:t>Type de document</a:t>
                      </a:r>
                    </a:p>
                  </a:txBody>
                  <a:tcPr marL="55118" marR="55118" marT="27562" marB="27562" anchor="ctr"/>
                </a:tc>
                <a:tc>
                  <a:txBody>
                    <a:bodyPr/>
                    <a:lstStyle/>
                    <a:p>
                      <a:pPr>
                        <a:buNone/>
                      </a:pPr>
                      <a:r>
                        <a:rPr lang="fr-FR" sz="700"/>
                        <a:t>Exemples de sous-types</a:t>
                      </a:r>
                    </a:p>
                  </a:txBody>
                  <a:tcPr marL="55118" marR="55118" marT="27562" marB="27562" anchor="ctr"/>
                </a:tc>
                <a:extLst>
                  <a:ext uri="{0D108BD9-81ED-4DB2-BD59-A6C34878D82A}">
                    <a16:rowId xmlns:a16="http://schemas.microsoft.com/office/drawing/2014/main" val="446326084"/>
                  </a:ext>
                </a:extLst>
              </a:tr>
              <a:tr h="427165">
                <a:tc>
                  <a:txBody>
                    <a:bodyPr/>
                    <a:lstStyle/>
                    <a:p>
                      <a:pPr>
                        <a:buNone/>
                      </a:pPr>
                      <a:r>
                        <a:rPr lang="fr-FR" sz="700"/>
                        <a:t>Gouvernance de la recherche</a:t>
                      </a:r>
                    </a:p>
                  </a:txBody>
                  <a:tcPr marL="55118" marR="55118" marT="27562" marB="27562" anchor="ctr"/>
                </a:tc>
                <a:tc>
                  <a:txBody>
                    <a:bodyPr/>
                    <a:lstStyle/>
                    <a:p>
                      <a:pPr>
                        <a:buNone/>
                      </a:pPr>
                      <a:r>
                        <a:rPr lang="fr-FR" sz="700"/>
                        <a:t>Proposition &amp; Autorisation</a:t>
                      </a:r>
                    </a:p>
                  </a:txBody>
                  <a:tcPr marL="55118" marR="55118" marT="27562" marB="27562" anchor="ctr"/>
                </a:tc>
                <a:tc>
                  <a:txBody>
                    <a:bodyPr/>
                    <a:lstStyle/>
                    <a:p>
                      <a:pPr>
                        <a:buNone/>
                      </a:pPr>
                      <a:r>
                        <a:rPr lang="fr-FR" sz="700"/>
                        <a:t>Proposition de recherche, dossier éthique, demande de financement</a:t>
                      </a:r>
                    </a:p>
                  </a:txBody>
                  <a:tcPr marL="55118" marR="55118" marT="27562" marB="27562" anchor="ctr"/>
                </a:tc>
                <a:extLst>
                  <a:ext uri="{0D108BD9-81ED-4DB2-BD59-A6C34878D82A}">
                    <a16:rowId xmlns:a16="http://schemas.microsoft.com/office/drawing/2014/main" val="513555187"/>
                  </a:ext>
                </a:extLst>
              </a:tr>
              <a:tr h="427165">
                <a:tc>
                  <a:txBody>
                    <a:bodyPr/>
                    <a:lstStyle/>
                    <a:p>
                      <a:pPr>
                        <a:buNone/>
                      </a:pPr>
                      <a:r>
                        <a:rPr lang="fr-FR" sz="700"/>
                        <a:t>Gouvernance de la recherche</a:t>
                      </a:r>
                    </a:p>
                  </a:txBody>
                  <a:tcPr marL="55118" marR="55118" marT="27562" marB="27562" anchor="ctr"/>
                </a:tc>
                <a:tc>
                  <a:txBody>
                    <a:bodyPr/>
                    <a:lstStyle/>
                    <a:p>
                      <a:pPr>
                        <a:buNone/>
                      </a:pPr>
                      <a:r>
                        <a:rPr lang="fr-FR" sz="700"/>
                        <a:t>Pilotage du programme</a:t>
                      </a:r>
                    </a:p>
                  </a:txBody>
                  <a:tcPr marL="55118" marR="55118" marT="27562" marB="27562" anchor="ctr"/>
                </a:tc>
                <a:tc>
                  <a:txBody>
                    <a:bodyPr/>
                    <a:lstStyle/>
                    <a:p>
                      <a:pPr>
                        <a:buNone/>
                      </a:pPr>
                      <a:r>
                        <a:rPr lang="fr-FR" sz="700"/>
                        <a:t>Plan de recherche, revue de jalons, compte rendu de réunion scientifique</a:t>
                      </a:r>
                    </a:p>
                  </a:txBody>
                  <a:tcPr marL="55118" marR="55118" marT="27562" marB="27562" anchor="ctr"/>
                </a:tc>
                <a:extLst>
                  <a:ext uri="{0D108BD9-81ED-4DB2-BD59-A6C34878D82A}">
                    <a16:rowId xmlns:a16="http://schemas.microsoft.com/office/drawing/2014/main" val="3507342977"/>
                  </a:ext>
                </a:extLst>
              </a:tr>
              <a:tr h="303151">
                <a:tc>
                  <a:txBody>
                    <a:bodyPr/>
                    <a:lstStyle/>
                    <a:p>
                      <a:pPr>
                        <a:buNone/>
                      </a:pPr>
                      <a:r>
                        <a:rPr lang="fr-FR" sz="700"/>
                        <a:t>Revue de connaissances</a:t>
                      </a:r>
                    </a:p>
                  </a:txBody>
                  <a:tcPr marL="55118" marR="55118" marT="27562" marB="27562" anchor="ctr"/>
                </a:tc>
                <a:tc>
                  <a:txBody>
                    <a:bodyPr/>
                    <a:lstStyle/>
                    <a:p>
                      <a:pPr>
                        <a:buNone/>
                      </a:pPr>
                      <a:r>
                        <a:rPr lang="fr-FR" sz="700"/>
                        <a:t>Revue bibliographique</a:t>
                      </a:r>
                    </a:p>
                  </a:txBody>
                  <a:tcPr marL="55118" marR="55118" marT="27562" marB="27562" anchor="ctr"/>
                </a:tc>
                <a:tc>
                  <a:txBody>
                    <a:bodyPr/>
                    <a:lstStyle/>
                    <a:p>
                      <a:pPr>
                        <a:buNone/>
                      </a:pPr>
                      <a:r>
                        <a:rPr lang="fr-FR" sz="700"/>
                        <a:t>Bibliographie, revue annotée, état de l’art</a:t>
                      </a:r>
                    </a:p>
                  </a:txBody>
                  <a:tcPr marL="55118" marR="55118" marT="27562" marB="27562" anchor="ctr"/>
                </a:tc>
                <a:extLst>
                  <a:ext uri="{0D108BD9-81ED-4DB2-BD59-A6C34878D82A}">
                    <a16:rowId xmlns:a16="http://schemas.microsoft.com/office/drawing/2014/main" val="3235109800"/>
                  </a:ext>
                </a:extLst>
              </a:tr>
              <a:tr h="427165">
                <a:tc>
                  <a:txBody>
                    <a:bodyPr/>
                    <a:lstStyle/>
                    <a:p>
                      <a:pPr>
                        <a:buNone/>
                      </a:pPr>
                      <a:r>
                        <a:rPr lang="fr-FR" sz="700"/>
                        <a:t>Revue de connaissances</a:t>
                      </a:r>
                    </a:p>
                  </a:txBody>
                  <a:tcPr marL="55118" marR="55118" marT="27562" marB="27562" anchor="ctr"/>
                </a:tc>
                <a:tc>
                  <a:txBody>
                    <a:bodyPr/>
                    <a:lstStyle/>
                    <a:p>
                      <a:pPr>
                        <a:buNone/>
                      </a:pPr>
                      <a:r>
                        <a:rPr lang="fr-FR" sz="700"/>
                        <a:t>Antériorité &amp; Benchmark</a:t>
                      </a:r>
                    </a:p>
                  </a:txBody>
                  <a:tcPr marL="55118" marR="55118" marT="27562" marB="27562" anchor="ctr"/>
                </a:tc>
                <a:tc>
                  <a:txBody>
                    <a:bodyPr/>
                    <a:lstStyle/>
                    <a:p>
                      <a:pPr>
                        <a:buNone/>
                      </a:pPr>
                      <a:r>
                        <a:rPr lang="fr-FR" sz="700"/>
                        <a:t>Revue brevets, étude comparative, veille technologique</a:t>
                      </a:r>
                    </a:p>
                  </a:txBody>
                  <a:tcPr marL="55118" marR="55118" marT="27562" marB="27562" anchor="ctr"/>
                </a:tc>
                <a:extLst>
                  <a:ext uri="{0D108BD9-81ED-4DB2-BD59-A6C34878D82A}">
                    <a16:rowId xmlns:a16="http://schemas.microsoft.com/office/drawing/2014/main" val="2179848284"/>
                  </a:ext>
                </a:extLst>
              </a:tr>
              <a:tr h="427165">
                <a:tc>
                  <a:txBody>
                    <a:bodyPr/>
                    <a:lstStyle/>
                    <a:p>
                      <a:pPr>
                        <a:buNone/>
                      </a:pPr>
                      <a:r>
                        <a:rPr lang="fr-FR" sz="700"/>
                        <a:t>Conception d’étude</a:t>
                      </a:r>
                    </a:p>
                  </a:txBody>
                  <a:tcPr marL="55118" marR="55118" marT="27562" marB="27562" anchor="ctr"/>
                </a:tc>
                <a:tc>
                  <a:txBody>
                    <a:bodyPr/>
                    <a:lstStyle/>
                    <a:p>
                      <a:pPr>
                        <a:buNone/>
                      </a:pPr>
                      <a:r>
                        <a:rPr lang="fr-FR" sz="700"/>
                        <a:t>Protocoles</a:t>
                      </a:r>
                    </a:p>
                  </a:txBody>
                  <a:tcPr marL="55118" marR="55118" marT="27562" marB="27562" anchor="ctr"/>
                </a:tc>
                <a:tc>
                  <a:txBody>
                    <a:bodyPr/>
                    <a:lstStyle/>
                    <a:p>
                      <a:pPr>
                        <a:buNone/>
                      </a:pPr>
                      <a:r>
                        <a:rPr lang="fr-FR" sz="700"/>
                        <a:t>Protocole expérimental, matrice d’essais, plan d’échantillonnage</a:t>
                      </a:r>
                    </a:p>
                  </a:txBody>
                  <a:tcPr marL="55118" marR="55118" marT="27562" marB="27562" anchor="ctr"/>
                </a:tc>
                <a:extLst>
                  <a:ext uri="{0D108BD9-81ED-4DB2-BD59-A6C34878D82A}">
                    <a16:rowId xmlns:a16="http://schemas.microsoft.com/office/drawing/2014/main" val="3458476713"/>
                  </a:ext>
                </a:extLst>
              </a:tr>
              <a:tr h="427165">
                <a:tc>
                  <a:txBody>
                    <a:bodyPr/>
                    <a:lstStyle/>
                    <a:p>
                      <a:pPr>
                        <a:buNone/>
                      </a:pPr>
                      <a:r>
                        <a:rPr lang="fr-FR" sz="700"/>
                        <a:t>Conception d’étude</a:t>
                      </a:r>
                    </a:p>
                  </a:txBody>
                  <a:tcPr marL="55118" marR="55118" marT="27562" marB="27562" anchor="ctr"/>
                </a:tc>
                <a:tc>
                  <a:txBody>
                    <a:bodyPr/>
                    <a:lstStyle/>
                    <a:p>
                      <a:pPr>
                        <a:buNone/>
                      </a:pPr>
                      <a:r>
                        <a:rPr lang="fr-FR" sz="700"/>
                        <a:t>Planification des données</a:t>
                      </a:r>
                    </a:p>
                  </a:txBody>
                  <a:tcPr marL="55118" marR="55118" marT="27562" marB="27562" anchor="ctr"/>
                </a:tc>
                <a:tc>
                  <a:txBody>
                    <a:bodyPr/>
                    <a:lstStyle/>
                    <a:p>
                      <a:pPr>
                        <a:buNone/>
                      </a:pPr>
                      <a:r>
                        <a:rPr lang="fr-FR" sz="700"/>
                        <a:t>Plan de gestion des données, dictionnaire de données, schéma de codification</a:t>
                      </a:r>
                    </a:p>
                  </a:txBody>
                  <a:tcPr marL="55118" marR="55118" marT="27562" marB="27562" anchor="ctr"/>
                </a:tc>
                <a:extLst>
                  <a:ext uri="{0D108BD9-81ED-4DB2-BD59-A6C34878D82A}">
                    <a16:rowId xmlns:a16="http://schemas.microsoft.com/office/drawing/2014/main" val="1511499085"/>
                  </a:ext>
                </a:extLst>
              </a:tr>
              <a:tr h="551178">
                <a:tc>
                  <a:txBody>
                    <a:bodyPr/>
                    <a:lstStyle/>
                    <a:p>
                      <a:pPr>
                        <a:buNone/>
                      </a:pPr>
                      <a:r>
                        <a:rPr lang="fr-FR" sz="700"/>
                        <a:t>Données &amp; Expériences</a:t>
                      </a:r>
                    </a:p>
                  </a:txBody>
                  <a:tcPr marL="55118" marR="55118" marT="27562" marB="27562" anchor="ctr"/>
                </a:tc>
                <a:tc>
                  <a:txBody>
                    <a:bodyPr/>
                    <a:lstStyle/>
                    <a:p>
                      <a:pPr>
                        <a:buNone/>
                      </a:pPr>
                      <a:r>
                        <a:rPr lang="fr-FR" sz="700"/>
                        <a:t>Preuves brutes</a:t>
                      </a:r>
                    </a:p>
                  </a:txBody>
                  <a:tcPr marL="55118" marR="55118" marT="27562" marB="27562" anchor="ctr"/>
                </a:tc>
                <a:tc>
                  <a:txBody>
                    <a:bodyPr/>
                    <a:lstStyle/>
                    <a:p>
                      <a:pPr>
                        <a:buNone/>
                      </a:pPr>
                      <a:r>
                        <a:rPr lang="fr-FR" sz="700" dirty="0"/>
                        <a:t>Jeu de données brut, cahier de laboratoire, journal d’observation, export instrument</a:t>
                      </a:r>
                    </a:p>
                  </a:txBody>
                  <a:tcPr marL="55118" marR="55118" marT="27562" marB="27562" anchor="ctr"/>
                </a:tc>
                <a:extLst>
                  <a:ext uri="{0D108BD9-81ED-4DB2-BD59-A6C34878D82A}">
                    <a16:rowId xmlns:a16="http://schemas.microsoft.com/office/drawing/2014/main" val="746657220"/>
                  </a:ext>
                </a:extLst>
              </a:tr>
            </a:tbl>
          </a:graphicData>
        </a:graphic>
      </p:graphicFrame>
      <p:graphicFrame>
        <p:nvGraphicFramePr>
          <p:cNvPr id="6" name="Tableau 5">
            <a:extLst>
              <a:ext uri="{FF2B5EF4-FFF2-40B4-BE49-F238E27FC236}">
                <a16:creationId xmlns:a16="http://schemas.microsoft.com/office/drawing/2014/main" id="{313A8091-FC3A-AEF4-7470-12041659C313}"/>
              </a:ext>
            </a:extLst>
          </p:cNvPr>
          <p:cNvGraphicFramePr>
            <a:graphicFrameLocks noGrp="1"/>
          </p:cNvGraphicFramePr>
          <p:nvPr>
            <p:extLst>
              <p:ext uri="{D42A27DB-BD31-4B8C-83A1-F6EECF244321}">
                <p14:modId xmlns:p14="http://schemas.microsoft.com/office/powerpoint/2010/main" val="4064588110"/>
              </p:ext>
            </p:extLst>
          </p:nvPr>
        </p:nvGraphicFramePr>
        <p:xfrm>
          <a:off x="4602481" y="1580624"/>
          <a:ext cx="4130040" cy="2663407"/>
        </p:xfrm>
        <a:graphic>
          <a:graphicData uri="http://schemas.openxmlformats.org/drawingml/2006/table">
            <a:tbl>
              <a:tblPr>
                <a:tableStyleId>{B301B821-A1FF-4177-AEE7-76D212191A09}</a:tableStyleId>
              </a:tblPr>
              <a:tblGrid>
                <a:gridCol w="1376680">
                  <a:extLst>
                    <a:ext uri="{9D8B030D-6E8A-4147-A177-3AD203B41FA5}">
                      <a16:colId xmlns:a16="http://schemas.microsoft.com/office/drawing/2014/main" val="3842883938"/>
                    </a:ext>
                  </a:extLst>
                </a:gridCol>
                <a:gridCol w="1376680">
                  <a:extLst>
                    <a:ext uri="{9D8B030D-6E8A-4147-A177-3AD203B41FA5}">
                      <a16:colId xmlns:a16="http://schemas.microsoft.com/office/drawing/2014/main" val="4039680468"/>
                    </a:ext>
                  </a:extLst>
                </a:gridCol>
                <a:gridCol w="1376680">
                  <a:extLst>
                    <a:ext uri="{9D8B030D-6E8A-4147-A177-3AD203B41FA5}">
                      <a16:colId xmlns:a16="http://schemas.microsoft.com/office/drawing/2014/main" val="3637175475"/>
                    </a:ext>
                  </a:extLst>
                </a:gridCol>
              </a:tblGrid>
              <a:tr h="224431">
                <a:tc>
                  <a:txBody>
                    <a:bodyPr/>
                    <a:lstStyle/>
                    <a:p>
                      <a:pPr>
                        <a:buNone/>
                      </a:pPr>
                      <a:r>
                        <a:rPr lang="fr-FR" sz="700"/>
                        <a:t>Catégorie</a:t>
                      </a:r>
                    </a:p>
                  </a:txBody>
                  <a:tcPr marL="55118" marR="55118" marT="27562" marB="27562" anchor="ctr"/>
                </a:tc>
                <a:tc>
                  <a:txBody>
                    <a:bodyPr/>
                    <a:lstStyle/>
                    <a:p>
                      <a:pPr>
                        <a:buNone/>
                      </a:pPr>
                      <a:r>
                        <a:rPr lang="fr-FR" sz="700"/>
                        <a:t>Type de document</a:t>
                      </a:r>
                    </a:p>
                  </a:txBody>
                  <a:tcPr marL="55118" marR="55118" marT="27562" marB="27562" anchor="ctr"/>
                </a:tc>
                <a:tc>
                  <a:txBody>
                    <a:bodyPr/>
                    <a:lstStyle/>
                    <a:p>
                      <a:pPr>
                        <a:buNone/>
                      </a:pPr>
                      <a:r>
                        <a:rPr lang="fr-FR" sz="700"/>
                        <a:t>Exemples de sous-types</a:t>
                      </a:r>
                    </a:p>
                  </a:txBody>
                  <a:tcPr marL="55118" marR="55118" marT="27562" marB="27562" anchor="ctr"/>
                </a:tc>
                <a:extLst>
                  <a:ext uri="{0D108BD9-81ED-4DB2-BD59-A6C34878D82A}">
                    <a16:rowId xmlns:a16="http://schemas.microsoft.com/office/drawing/2014/main" val="446326084"/>
                  </a:ext>
                </a:extLst>
              </a:tr>
              <a:tr h="427165">
                <a:tc>
                  <a:txBody>
                    <a:bodyPr/>
                    <a:lstStyle/>
                    <a:p>
                      <a:pPr>
                        <a:buNone/>
                      </a:pPr>
                      <a:r>
                        <a:rPr lang="fr-FR" sz="700"/>
                        <a:t>Données &amp; Expériences</a:t>
                      </a:r>
                    </a:p>
                  </a:txBody>
                  <a:tcPr marL="55118" marR="55118" marT="27562" marB="27562" anchor="ctr"/>
                </a:tc>
                <a:tc>
                  <a:txBody>
                    <a:bodyPr/>
                    <a:lstStyle/>
                    <a:p>
                      <a:pPr>
                        <a:buNone/>
                      </a:pPr>
                      <a:r>
                        <a:rPr lang="fr-FR" sz="700"/>
                        <a:t>Données préparées</a:t>
                      </a:r>
                    </a:p>
                  </a:txBody>
                  <a:tcPr marL="55118" marR="55118" marT="27562" marB="27562" anchor="ctr"/>
                </a:tc>
                <a:tc>
                  <a:txBody>
                    <a:bodyPr/>
                    <a:lstStyle/>
                    <a:p>
                      <a:pPr>
                        <a:buNone/>
                      </a:pPr>
                      <a:r>
                        <a:rPr lang="fr-FR" sz="700" dirty="0"/>
                        <a:t>Jeu de données nettoyé, </a:t>
                      </a:r>
                      <a:r>
                        <a:rPr lang="fr-FR" sz="700" dirty="0" err="1"/>
                        <a:t>dataset</a:t>
                      </a:r>
                      <a:r>
                        <a:rPr lang="fr-FR" sz="700" dirty="0"/>
                        <a:t> dérivé, base d’images annotées</a:t>
                      </a:r>
                    </a:p>
                  </a:txBody>
                  <a:tcPr marL="55118" marR="55118" marT="27562" marB="27562" anchor="ctr"/>
                </a:tc>
                <a:extLst>
                  <a:ext uri="{0D108BD9-81ED-4DB2-BD59-A6C34878D82A}">
                    <a16:rowId xmlns:a16="http://schemas.microsoft.com/office/drawing/2014/main" val="25995618"/>
                  </a:ext>
                </a:extLst>
              </a:tr>
              <a:tr h="303151">
                <a:tc>
                  <a:txBody>
                    <a:bodyPr/>
                    <a:lstStyle/>
                    <a:p>
                      <a:pPr>
                        <a:buNone/>
                      </a:pPr>
                      <a:r>
                        <a:rPr lang="fr-FR" sz="700"/>
                        <a:t>Analyse &amp; Modélisation</a:t>
                      </a:r>
                    </a:p>
                  </a:txBody>
                  <a:tcPr marL="55118" marR="55118" marT="27562" marB="27562" anchor="ctr"/>
                </a:tc>
                <a:tc>
                  <a:txBody>
                    <a:bodyPr/>
                    <a:lstStyle/>
                    <a:p>
                      <a:pPr>
                        <a:buNone/>
                      </a:pPr>
                      <a:r>
                        <a:rPr lang="fr-FR" sz="700"/>
                        <a:t>Analyse quantitative</a:t>
                      </a:r>
                    </a:p>
                  </a:txBody>
                  <a:tcPr marL="55118" marR="55118" marT="27562" marB="27562" anchor="ctr"/>
                </a:tc>
                <a:tc>
                  <a:txBody>
                    <a:bodyPr/>
                    <a:lstStyle/>
                    <a:p>
                      <a:pPr>
                        <a:buNone/>
                      </a:pPr>
                      <a:r>
                        <a:rPr lang="fr-FR" sz="700"/>
                        <a:t>Analyse statistique, classeur de calcul, étude de sensibilité</a:t>
                      </a:r>
                    </a:p>
                  </a:txBody>
                  <a:tcPr marL="55118" marR="55118" marT="27562" marB="27562" anchor="ctr"/>
                </a:tc>
                <a:extLst>
                  <a:ext uri="{0D108BD9-81ED-4DB2-BD59-A6C34878D82A}">
                    <a16:rowId xmlns:a16="http://schemas.microsoft.com/office/drawing/2014/main" val="4235354871"/>
                  </a:ext>
                </a:extLst>
              </a:tr>
              <a:tr h="427165">
                <a:tc>
                  <a:txBody>
                    <a:bodyPr/>
                    <a:lstStyle/>
                    <a:p>
                      <a:pPr>
                        <a:buNone/>
                      </a:pPr>
                      <a:r>
                        <a:rPr lang="fr-FR" sz="700"/>
                        <a:t>Analyse &amp; Modélisation</a:t>
                      </a:r>
                    </a:p>
                  </a:txBody>
                  <a:tcPr marL="55118" marR="55118" marT="27562" marB="27562" anchor="ctr"/>
                </a:tc>
                <a:tc>
                  <a:txBody>
                    <a:bodyPr/>
                    <a:lstStyle/>
                    <a:p>
                      <a:pPr>
                        <a:buNone/>
                      </a:pPr>
                      <a:r>
                        <a:rPr lang="fr-FR" sz="700"/>
                        <a:t>Simulation &amp; Modélisation</a:t>
                      </a:r>
                    </a:p>
                  </a:txBody>
                  <a:tcPr marL="55118" marR="55118" marT="27562" marB="27562" anchor="ctr"/>
                </a:tc>
                <a:tc>
                  <a:txBody>
                    <a:bodyPr/>
                    <a:lstStyle/>
                    <a:p>
                      <a:pPr>
                        <a:buNone/>
                      </a:pPr>
                      <a:r>
                        <a:rPr lang="fr-FR" sz="700"/>
                        <a:t>Fichier modèle, journal d’hypothèses, rapport de validation</a:t>
                      </a:r>
                    </a:p>
                  </a:txBody>
                  <a:tcPr marL="55118" marR="55118" marT="27562" marB="27562" anchor="ctr"/>
                </a:tc>
                <a:extLst>
                  <a:ext uri="{0D108BD9-81ED-4DB2-BD59-A6C34878D82A}">
                    <a16:rowId xmlns:a16="http://schemas.microsoft.com/office/drawing/2014/main" val="3535237053"/>
                  </a:ext>
                </a:extLst>
              </a:tr>
              <a:tr h="427165">
                <a:tc>
                  <a:txBody>
                    <a:bodyPr/>
                    <a:lstStyle/>
                    <a:p>
                      <a:pPr>
                        <a:buNone/>
                      </a:pPr>
                      <a:r>
                        <a:rPr lang="fr-FR" sz="700"/>
                        <a:t>PI &amp; Savoir confidentiel</a:t>
                      </a:r>
                    </a:p>
                  </a:txBody>
                  <a:tcPr marL="55118" marR="55118" marT="27562" marB="27562" anchor="ctr"/>
                </a:tc>
                <a:tc>
                  <a:txBody>
                    <a:bodyPr/>
                    <a:lstStyle/>
                    <a:p>
                      <a:pPr>
                        <a:buNone/>
                      </a:pPr>
                      <a:r>
                        <a:rPr lang="fr-FR" sz="700"/>
                        <a:t>Protection intellectuelle</a:t>
                      </a:r>
                    </a:p>
                  </a:txBody>
                  <a:tcPr marL="55118" marR="55118" marT="27562" marB="27562" anchor="ctr"/>
                </a:tc>
                <a:tc>
                  <a:txBody>
                    <a:bodyPr/>
                    <a:lstStyle/>
                    <a:p>
                      <a:pPr>
                        <a:buNone/>
                      </a:pPr>
                      <a:r>
                        <a:rPr lang="fr-FR" sz="700"/>
                        <a:t>Déclaration d’invention, brouillon de brevet, note technique confidentielle</a:t>
                      </a:r>
                    </a:p>
                  </a:txBody>
                  <a:tcPr marL="55118" marR="55118" marT="27562" marB="27562" anchor="ctr"/>
                </a:tc>
                <a:extLst>
                  <a:ext uri="{0D108BD9-81ED-4DB2-BD59-A6C34878D82A}">
                    <a16:rowId xmlns:a16="http://schemas.microsoft.com/office/drawing/2014/main" val="2395203223"/>
                  </a:ext>
                </a:extLst>
              </a:tr>
              <a:tr h="427165">
                <a:tc>
                  <a:txBody>
                    <a:bodyPr/>
                    <a:lstStyle/>
                    <a:p>
                      <a:pPr>
                        <a:buNone/>
                      </a:pPr>
                      <a:r>
                        <a:rPr lang="fr-FR" sz="700"/>
                        <a:t>Résultats &amp; Diffusion</a:t>
                      </a:r>
                    </a:p>
                  </a:txBody>
                  <a:tcPr marL="55118" marR="55118" marT="27562" marB="27562" anchor="ctr"/>
                </a:tc>
                <a:tc>
                  <a:txBody>
                    <a:bodyPr/>
                    <a:lstStyle/>
                    <a:p>
                      <a:pPr>
                        <a:buNone/>
                      </a:pPr>
                      <a:r>
                        <a:rPr lang="fr-FR" sz="700"/>
                        <a:t>Publication</a:t>
                      </a:r>
                    </a:p>
                  </a:txBody>
                  <a:tcPr marL="55118" marR="55118" marT="27562" marB="27562" anchor="ctr"/>
                </a:tc>
                <a:tc>
                  <a:txBody>
                    <a:bodyPr/>
                    <a:lstStyle/>
                    <a:p>
                      <a:pPr>
                        <a:buNone/>
                      </a:pPr>
                      <a:r>
                        <a:rPr lang="fr-FR" sz="700"/>
                        <a:t>Résumé, manuscrit, poster, article publié, présentation conférence</a:t>
                      </a:r>
                    </a:p>
                  </a:txBody>
                  <a:tcPr marL="55118" marR="55118" marT="27562" marB="27562" anchor="ctr"/>
                </a:tc>
                <a:extLst>
                  <a:ext uri="{0D108BD9-81ED-4DB2-BD59-A6C34878D82A}">
                    <a16:rowId xmlns:a16="http://schemas.microsoft.com/office/drawing/2014/main" val="4095132938"/>
                  </a:ext>
                </a:extLst>
              </a:tr>
              <a:tr h="427165">
                <a:tc>
                  <a:txBody>
                    <a:bodyPr/>
                    <a:lstStyle/>
                    <a:p>
                      <a:pPr>
                        <a:buNone/>
                      </a:pPr>
                      <a:r>
                        <a:rPr lang="fr-FR" sz="700"/>
                        <a:t>Collaboration externe</a:t>
                      </a:r>
                    </a:p>
                  </a:txBody>
                  <a:tcPr marL="55118" marR="55118" marT="27562" marB="27562" anchor="ctr"/>
                </a:tc>
                <a:tc>
                  <a:txBody>
                    <a:bodyPr/>
                    <a:lstStyle/>
                    <a:p>
                      <a:pPr>
                        <a:buNone/>
                      </a:pPr>
                      <a:r>
                        <a:rPr lang="fr-FR" sz="700"/>
                        <a:t>Collaboration</a:t>
                      </a:r>
                    </a:p>
                  </a:txBody>
                  <a:tcPr marL="55118" marR="55118" marT="27562" marB="27562" anchor="ctr"/>
                </a:tc>
                <a:tc>
                  <a:txBody>
                    <a:bodyPr/>
                    <a:lstStyle/>
                    <a:p>
                      <a:pPr>
                        <a:buNone/>
                      </a:pPr>
                      <a:r>
                        <a:rPr lang="fr-FR" sz="700" dirty="0"/>
                        <a:t>Livrable de consortium, commentaires relecteurs, accord de collaboration</a:t>
                      </a:r>
                    </a:p>
                  </a:txBody>
                  <a:tcPr marL="55118" marR="55118" marT="27562" marB="27562" anchor="ctr"/>
                </a:tc>
                <a:extLst>
                  <a:ext uri="{0D108BD9-81ED-4DB2-BD59-A6C34878D82A}">
                    <a16:rowId xmlns:a16="http://schemas.microsoft.com/office/drawing/2014/main" val="3286891216"/>
                  </a:ext>
                </a:extLst>
              </a:tr>
            </a:tbl>
          </a:graphicData>
        </a:graphic>
      </p:graphicFrame>
    </p:spTree>
    <p:extLst>
      <p:ext uri="{BB962C8B-B14F-4D97-AF65-F5344CB8AC3E}">
        <p14:creationId xmlns:p14="http://schemas.microsoft.com/office/powerpoint/2010/main" val="3227234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1E3C8C-9EAB-80F0-36AF-2A414C2895D1}"/>
            </a:ext>
          </a:extLst>
        </p:cNvPr>
        <p:cNvGrpSpPr/>
        <p:nvPr/>
      </p:nvGrpSpPr>
      <p:grpSpPr>
        <a:xfrm>
          <a:off x="0" y="0"/>
          <a:ext cx="0" cy="0"/>
          <a:chOff x="0" y="0"/>
          <a:chExt cx="0" cy="0"/>
        </a:xfrm>
      </p:grpSpPr>
      <p:sp>
        <p:nvSpPr>
          <p:cNvPr id="2" name="Espace réservé du contenu 1">
            <a:extLst>
              <a:ext uri="{FF2B5EF4-FFF2-40B4-BE49-F238E27FC236}">
                <a16:creationId xmlns:a16="http://schemas.microsoft.com/office/drawing/2014/main" id="{5B4B56D9-43E6-8CFB-7E81-0ED4DBF1BA78}"/>
              </a:ext>
            </a:extLst>
          </p:cNvPr>
          <p:cNvSpPr>
            <a:spLocks noGrp="1"/>
          </p:cNvSpPr>
          <p:nvPr>
            <p:ph idx="1"/>
          </p:nvPr>
        </p:nvSpPr>
        <p:spPr>
          <a:xfrm>
            <a:off x="1692000" y="1211293"/>
            <a:ext cx="6852030" cy="369332"/>
          </a:xfrm>
        </p:spPr>
        <p:txBody>
          <a:bodyPr/>
          <a:lstStyle/>
          <a:p>
            <a:r>
              <a:rPr lang="fr-FR" dirty="0"/>
              <a:t>Architecture de niveau 4 – Champs spécifiques</a:t>
            </a:r>
          </a:p>
        </p:txBody>
      </p:sp>
      <p:sp>
        <p:nvSpPr>
          <p:cNvPr id="3" name="Titre 2">
            <a:extLst>
              <a:ext uri="{FF2B5EF4-FFF2-40B4-BE49-F238E27FC236}">
                <a16:creationId xmlns:a16="http://schemas.microsoft.com/office/drawing/2014/main" id="{68CFE4DB-EC86-B2EA-B042-E8B9E439B1DA}"/>
              </a:ext>
            </a:extLst>
          </p:cNvPr>
          <p:cNvSpPr>
            <a:spLocks noGrp="1"/>
          </p:cNvSpPr>
          <p:nvPr>
            <p:ph type="title"/>
          </p:nvPr>
        </p:nvSpPr>
        <p:spPr>
          <a:xfrm>
            <a:off x="1692000" y="468000"/>
            <a:ext cx="6852031" cy="715581"/>
          </a:xfrm>
        </p:spPr>
        <p:txBody>
          <a:bodyPr/>
          <a:lstStyle/>
          <a:p>
            <a:r>
              <a:rPr lang="fr-FR" dirty="0"/>
              <a:t>Les métadonnées</a:t>
            </a:r>
          </a:p>
        </p:txBody>
      </p:sp>
      <p:graphicFrame>
        <p:nvGraphicFramePr>
          <p:cNvPr id="5" name="Tableau 4">
            <a:extLst>
              <a:ext uri="{FF2B5EF4-FFF2-40B4-BE49-F238E27FC236}">
                <a16:creationId xmlns:a16="http://schemas.microsoft.com/office/drawing/2014/main" id="{65F9F886-F4C6-FA68-C779-CA2E97BC1E51}"/>
              </a:ext>
            </a:extLst>
          </p:cNvPr>
          <p:cNvGraphicFramePr>
            <a:graphicFrameLocks noGrp="1"/>
          </p:cNvGraphicFramePr>
          <p:nvPr>
            <p:extLst>
              <p:ext uri="{D42A27DB-BD31-4B8C-83A1-F6EECF244321}">
                <p14:modId xmlns:p14="http://schemas.microsoft.com/office/powerpoint/2010/main" val="2451572473"/>
              </p:ext>
            </p:extLst>
          </p:nvPr>
        </p:nvGraphicFramePr>
        <p:xfrm>
          <a:off x="1875943" y="1970788"/>
          <a:ext cx="5513140" cy="2414914"/>
        </p:xfrm>
        <a:graphic>
          <a:graphicData uri="http://schemas.openxmlformats.org/drawingml/2006/table">
            <a:tbl>
              <a:tblPr>
                <a:tableStyleId>{B301B821-A1FF-4177-AEE7-76D212191A09}</a:tableStyleId>
              </a:tblPr>
              <a:tblGrid>
                <a:gridCol w="2756570">
                  <a:extLst>
                    <a:ext uri="{9D8B030D-6E8A-4147-A177-3AD203B41FA5}">
                      <a16:colId xmlns:a16="http://schemas.microsoft.com/office/drawing/2014/main" val="2500590756"/>
                    </a:ext>
                  </a:extLst>
                </a:gridCol>
                <a:gridCol w="2756570">
                  <a:extLst>
                    <a:ext uri="{9D8B030D-6E8A-4147-A177-3AD203B41FA5}">
                      <a16:colId xmlns:a16="http://schemas.microsoft.com/office/drawing/2014/main" val="2657621601"/>
                    </a:ext>
                  </a:extLst>
                </a:gridCol>
              </a:tblGrid>
              <a:tr h="244161">
                <a:tc>
                  <a:txBody>
                    <a:bodyPr/>
                    <a:lstStyle/>
                    <a:p>
                      <a:pPr>
                        <a:buNone/>
                      </a:pPr>
                      <a:r>
                        <a:rPr lang="fr-FR" sz="1100"/>
                        <a:t>Domaine</a:t>
                      </a:r>
                    </a:p>
                  </a:txBody>
                  <a:tcPr marL="73577" marR="73577" marT="36787" marB="36787" anchor="ctr"/>
                </a:tc>
                <a:tc>
                  <a:txBody>
                    <a:bodyPr/>
                    <a:lstStyle/>
                    <a:p>
                      <a:pPr>
                        <a:buNone/>
                      </a:pPr>
                      <a:r>
                        <a:rPr lang="fr-FR" sz="1100"/>
                        <a:t>Champs supplémentaires obligatoires</a:t>
                      </a:r>
                    </a:p>
                  </a:txBody>
                  <a:tcPr marL="73577" marR="73577" marT="36787" marB="36787" anchor="ctr"/>
                </a:tc>
                <a:extLst>
                  <a:ext uri="{0D108BD9-81ED-4DB2-BD59-A6C34878D82A}">
                    <a16:rowId xmlns:a16="http://schemas.microsoft.com/office/drawing/2014/main" val="892683982"/>
                  </a:ext>
                </a:extLst>
              </a:tr>
              <a:tr h="585335">
                <a:tc>
                  <a:txBody>
                    <a:bodyPr/>
                    <a:lstStyle/>
                    <a:p>
                      <a:pPr>
                        <a:buNone/>
                      </a:pPr>
                      <a:r>
                        <a:rPr lang="fr-FR" sz="1100"/>
                        <a:t>Interne</a:t>
                      </a:r>
                    </a:p>
                  </a:txBody>
                  <a:tcPr marL="73577" marR="73577" marT="36787" marB="36787" anchor="ctr"/>
                </a:tc>
                <a:tc>
                  <a:txBody>
                    <a:bodyPr/>
                    <a:lstStyle/>
                    <a:p>
                      <a:pPr>
                        <a:buNone/>
                      </a:pPr>
                      <a:r>
                        <a:rPr lang="fr-FR" sz="1100"/>
                        <a:t>Propriétaire de processus, autorité d’approbation, département, niveau de confidentialité</a:t>
                      </a:r>
                    </a:p>
                  </a:txBody>
                  <a:tcPr marL="73577" marR="73577" marT="36787" marB="36787" anchor="ctr"/>
                </a:tc>
                <a:extLst>
                  <a:ext uri="{0D108BD9-81ED-4DB2-BD59-A6C34878D82A}">
                    <a16:rowId xmlns:a16="http://schemas.microsoft.com/office/drawing/2014/main" val="609791949"/>
                  </a:ext>
                </a:extLst>
              </a:tr>
              <a:tr h="585335">
                <a:tc>
                  <a:txBody>
                    <a:bodyPr/>
                    <a:lstStyle/>
                    <a:p>
                      <a:pPr>
                        <a:buNone/>
                      </a:pPr>
                      <a:r>
                        <a:rPr lang="fr-FR" sz="1100"/>
                        <a:t>Externe</a:t>
                      </a:r>
                    </a:p>
                  </a:txBody>
                  <a:tcPr marL="73577" marR="73577" marT="36787" marB="36787" anchor="ctr"/>
                </a:tc>
                <a:tc>
                  <a:txBody>
                    <a:bodyPr/>
                    <a:lstStyle/>
                    <a:p>
                      <a:pPr>
                        <a:buNone/>
                      </a:pPr>
                      <a:r>
                        <a:rPr lang="fr-FR" sz="1100"/>
                        <a:t>Organisme source, référence externe, sens du document (entrant/sortant), date de réception</a:t>
                      </a:r>
                    </a:p>
                  </a:txBody>
                  <a:tcPr marL="73577" marR="73577" marT="36787" marB="36787" anchor="ctr"/>
                </a:tc>
                <a:extLst>
                  <a:ext uri="{0D108BD9-81ED-4DB2-BD59-A6C34878D82A}">
                    <a16:rowId xmlns:a16="http://schemas.microsoft.com/office/drawing/2014/main" val="718562992"/>
                  </a:ext>
                </a:extLst>
              </a:tr>
              <a:tr h="414748">
                <a:tc>
                  <a:txBody>
                    <a:bodyPr/>
                    <a:lstStyle/>
                    <a:p>
                      <a:pPr>
                        <a:buNone/>
                      </a:pPr>
                      <a:r>
                        <a:rPr lang="fr-FR" sz="1100"/>
                        <a:t>Projet</a:t>
                      </a:r>
                    </a:p>
                  </a:txBody>
                  <a:tcPr marL="73577" marR="73577" marT="36787" marB="36787" anchor="ctr"/>
                </a:tc>
                <a:tc>
                  <a:txBody>
                    <a:bodyPr/>
                    <a:lstStyle/>
                    <a:p>
                      <a:pPr>
                        <a:buNone/>
                      </a:pPr>
                      <a:r>
                        <a:rPr lang="fr-FR" sz="1100"/>
                        <a:t>Code projet, phase projet, lot / work package, discipline</a:t>
                      </a:r>
                    </a:p>
                  </a:txBody>
                  <a:tcPr marL="73577" marR="73577" marT="36787" marB="36787" anchor="ctr"/>
                </a:tc>
                <a:extLst>
                  <a:ext uri="{0D108BD9-81ED-4DB2-BD59-A6C34878D82A}">
                    <a16:rowId xmlns:a16="http://schemas.microsoft.com/office/drawing/2014/main" val="1340491183"/>
                  </a:ext>
                </a:extLst>
              </a:tr>
              <a:tr h="585335">
                <a:tc>
                  <a:txBody>
                    <a:bodyPr/>
                    <a:lstStyle/>
                    <a:p>
                      <a:pPr>
                        <a:buNone/>
                      </a:pPr>
                      <a:r>
                        <a:rPr lang="fr-FR" sz="1100"/>
                        <a:t>Recherche</a:t>
                      </a:r>
                    </a:p>
                  </a:txBody>
                  <a:tcPr marL="73577" marR="73577" marT="36787" marB="36787" anchor="ctr"/>
                </a:tc>
                <a:tc>
                  <a:txBody>
                    <a:bodyPr/>
                    <a:lstStyle/>
                    <a:p>
                      <a:pPr>
                        <a:buNone/>
                      </a:pPr>
                      <a:r>
                        <a:rPr lang="fr-FR" sz="1100" dirty="0"/>
                        <a:t>Programme de recherche, thème de recherche, ID étude/essai, statut publication / PI</a:t>
                      </a:r>
                    </a:p>
                  </a:txBody>
                  <a:tcPr marL="73577" marR="73577" marT="36787" marB="36787" anchor="ctr"/>
                </a:tc>
                <a:extLst>
                  <a:ext uri="{0D108BD9-81ED-4DB2-BD59-A6C34878D82A}">
                    <a16:rowId xmlns:a16="http://schemas.microsoft.com/office/drawing/2014/main" val="758088668"/>
                  </a:ext>
                </a:extLst>
              </a:tr>
            </a:tbl>
          </a:graphicData>
        </a:graphic>
      </p:graphicFrame>
    </p:spTree>
    <p:extLst>
      <p:ext uri="{BB962C8B-B14F-4D97-AF65-F5344CB8AC3E}">
        <p14:creationId xmlns:p14="http://schemas.microsoft.com/office/powerpoint/2010/main" val="142169856"/>
      </p:ext>
    </p:extLst>
  </p:cSld>
  <p:clrMapOvr>
    <a:masterClrMapping/>
  </p:clrMapOvr>
</p:sld>
</file>

<file path=ppt/theme/theme1.xml><?xml version="1.0" encoding="utf-8"?>
<a:theme xmlns:a="http://schemas.openxmlformats.org/drawingml/2006/main" name="generique-titre presentation">
  <a:themeElements>
    <a:clrScheme name="GROUPE EPC">
      <a:dk1>
        <a:sysClr val="windowText" lastClr="000000"/>
      </a:dk1>
      <a:lt1>
        <a:sysClr val="window" lastClr="FFFFFF"/>
      </a:lt1>
      <a:dk2>
        <a:srgbClr val="BFBFBF"/>
      </a:dk2>
      <a:lt2>
        <a:srgbClr val="ACAA00"/>
      </a:lt2>
      <a:accent1>
        <a:srgbClr val="7E003F"/>
      </a:accent1>
      <a:accent2>
        <a:srgbClr val="E42313"/>
      </a:accent2>
      <a:accent3>
        <a:srgbClr val="E9500E"/>
      </a:accent3>
      <a:accent4>
        <a:srgbClr val="E0006F"/>
      </a:accent4>
      <a:accent5>
        <a:srgbClr val="3EA8CB"/>
      </a:accent5>
      <a:accent6>
        <a:srgbClr val="D39C0A"/>
      </a:accent6>
      <a:hlink>
        <a:srgbClr val="BFBFBF"/>
      </a:hlink>
      <a:folHlink>
        <a:srgbClr val="BFBFB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EPC 2018" id="{7E26F255-9107-CD46-A755-A9A5AC32CEC0}" vid="{A5CE007D-9776-5C4E-B7D6-E0BAD7AAA026}"/>
    </a:ext>
  </a:extLst>
</a:theme>
</file>

<file path=ppt/theme/theme2.xml><?xml version="1.0" encoding="utf-8"?>
<a:theme xmlns:a="http://schemas.openxmlformats.org/drawingml/2006/main" name="generique-titre de chapitre">
  <a:themeElements>
    <a:clrScheme name="Personnalisée 4">
      <a:dk1>
        <a:sysClr val="windowText" lastClr="000000"/>
      </a:dk1>
      <a:lt1>
        <a:sysClr val="window" lastClr="FFFFFF"/>
      </a:lt1>
      <a:dk2>
        <a:srgbClr val="BFBFBF"/>
      </a:dk2>
      <a:lt2>
        <a:srgbClr val="ACAA00"/>
      </a:lt2>
      <a:accent1>
        <a:srgbClr val="7E003F"/>
      </a:accent1>
      <a:accent2>
        <a:srgbClr val="E42313"/>
      </a:accent2>
      <a:accent3>
        <a:srgbClr val="E9500E"/>
      </a:accent3>
      <a:accent4>
        <a:srgbClr val="E0006F"/>
      </a:accent4>
      <a:accent5>
        <a:srgbClr val="3EA8CB"/>
      </a:accent5>
      <a:accent6>
        <a:srgbClr val="D39C0A"/>
      </a:accent6>
      <a:hlink>
        <a:srgbClr val="BFBFBF"/>
      </a:hlink>
      <a:folHlink>
        <a:srgbClr val="BFBFBF"/>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generique-contenu">
  <a:themeElements>
    <a:clrScheme name="CouleursEpcGroupeMai2016">
      <a:dk1>
        <a:sysClr val="windowText" lastClr="000000"/>
      </a:dk1>
      <a:lt1>
        <a:sysClr val="window" lastClr="FFFFFF"/>
      </a:lt1>
      <a:dk2>
        <a:srgbClr val="BFBFBF"/>
      </a:dk2>
      <a:lt2>
        <a:srgbClr val="EEECE1"/>
      </a:lt2>
      <a:accent1>
        <a:srgbClr val="7E003F"/>
      </a:accent1>
      <a:accent2>
        <a:srgbClr val="E42313"/>
      </a:accent2>
      <a:accent3>
        <a:srgbClr val="E9500E"/>
      </a:accent3>
      <a:accent4>
        <a:srgbClr val="E0006F"/>
      </a:accent4>
      <a:accent5>
        <a:srgbClr val="3EA8CB"/>
      </a:accent5>
      <a:accent6>
        <a:srgbClr val="D39C0A"/>
      </a:accent6>
      <a:hlink>
        <a:srgbClr val="BFBFBF"/>
      </a:hlink>
      <a:folHlink>
        <a:srgbClr val="BFBFBF"/>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c808c9e-e212-41d9-8681-bdf4d3553505">
      <Terms xmlns="http://schemas.microsoft.com/office/infopath/2007/PartnerControls"/>
    </lcf76f155ced4ddcb4097134ff3c332f>
    <TaxCatchAll xmlns="4acdc271-6cfe-498f-9e0d-0eb73d4e100f" xsi:nil="true"/>
    <Datedapprobation xmlns="ec808c9e-e212-41d9-8681-bdf4d3553505" xsi:nil="true"/>
    <_Flow_SignoffStatus xmlns="ec808c9e-e212-41d9-8681-bdf4d3553505" xsi:nil="true"/>
    <Approbateur xmlns="ec808c9e-e212-41d9-8681-bdf4d3553505">
      <UserInfo>
        <DisplayName/>
        <AccountId xsi:nil="true"/>
        <AccountType/>
      </UserInfo>
    </Approbateur>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F3276FBF25D7A49B7D25B473F0D1C4F" ma:contentTypeVersion="23" ma:contentTypeDescription="Crée un document." ma:contentTypeScope="" ma:versionID="f8a6232e5493efbbdb0051231fab0bc7">
  <xsd:schema xmlns:xsd="http://www.w3.org/2001/XMLSchema" xmlns:xs="http://www.w3.org/2001/XMLSchema" xmlns:p="http://schemas.microsoft.com/office/2006/metadata/properties" xmlns:ns2="ec808c9e-e212-41d9-8681-bdf4d3553505" xmlns:ns3="4acdc271-6cfe-498f-9e0d-0eb73d4e100f" targetNamespace="http://schemas.microsoft.com/office/2006/metadata/properties" ma:root="true" ma:fieldsID="c8ed3df42392735e06d208743e20d093" ns2:_="" ns3:_="">
    <xsd:import namespace="ec808c9e-e212-41d9-8681-bdf4d3553505"/>
    <xsd:import namespace="4acdc271-6cfe-498f-9e0d-0eb73d4e100f"/>
    <xsd:element name="properties">
      <xsd:complexType>
        <xsd:sequence>
          <xsd:element name="documentManagement">
            <xsd:complexType>
              <xsd:all>
                <xsd:element ref="ns2:_Flow_SignoffStatus" minOccurs="0"/>
                <xsd:element ref="ns2:Datedapprobation" minOccurs="0"/>
                <xsd:element ref="ns2:Approbateur" minOccurs="0"/>
                <xsd:element ref="ns2:MediaServiceMetadata" minOccurs="0"/>
                <xsd:element ref="ns2:MediaServiceFastMetadata"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MediaServiceAutoKeyPoints" minOccurs="0"/>
                <xsd:element ref="ns2:MediaServiceKeyPoints" minOccurs="0"/>
                <xsd:element ref="ns3:SharedWithUsers" minOccurs="0"/>
                <xsd:element ref="ns3:SharedWithDetail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808c9e-e212-41d9-8681-bdf4d3553505" elementFormDefault="qualified">
    <xsd:import namespace="http://schemas.microsoft.com/office/2006/documentManagement/types"/>
    <xsd:import namespace="http://schemas.microsoft.com/office/infopath/2007/PartnerControls"/>
    <xsd:element name="_Flow_SignoffStatus" ma:index="1" nillable="true" ma:displayName="État d'approbation" ma:format="Dropdown" ma:internalName="_x0024_Resources_x003a_core_x002c_Signoff_Status" ma:readOnly="false">
      <xsd:simpleType>
        <xsd:restriction base="dms:Text">
          <xsd:maxLength value="255"/>
        </xsd:restriction>
      </xsd:simpleType>
    </xsd:element>
    <xsd:element name="Datedapprobation" ma:index="2" nillable="true" ma:displayName="Date d'approbation" ma:format="DateOnly" ma:internalName="Datedapprobation" ma:readOnly="false">
      <xsd:simpleType>
        <xsd:restriction base="dms:DateTime"/>
      </xsd:simpleType>
    </xsd:element>
    <xsd:element name="Approbateur" ma:index="3" nillable="true" ma:displayName="Approbateur" ma:format="Dropdown" ma:list="UserInfo" ma:SharePointGroup="0" ma:internalName="Approbateu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Tags" ma:index="12" nillable="true" ma:displayName="Tags" ma:hidden="true" ma:internalName="MediaServiceAutoTags" ma:readOnly="true">
      <xsd:simpleType>
        <xsd:restriction base="dms:Text"/>
      </xsd:simpleType>
    </xsd:element>
    <xsd:element name="MediaServiceOCR" ma:index="13" nillable="true" ma:displayName="Extracted Text" ma:hidden="true" ma:internalName="MediaServiceOCR"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Location" ma:index="16" nillable="true" ma:displayName="Location" ma:hidden="true"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hidden="true" ma:internalName="MediaServiceKeyPoints" ma:readOnly="true">
      <xsd:simpleType>
        <xsd:restriction base="dms:Note"/>
      </xsd:simpleType>
    </xsd:element>
    <xsd:element name="lcf76f155ced4ddcb4097134ff3c332f" ma:index="22" nillable="true" ma:taxonomy="true" ma:internalName="lcf76f155ced4ddcb4097134ff3c332f" ma:taxonomyFieldName="MediaServiceImageTags" ma:displayName="Balises d’images" ma:readOnly="false" ma:fieldId="{5cf76f15-5ced-4ddc-b409-7134ff3c332f}" ma:taxonomyMulti="true" ma:sspId="ee4ae75d-422f-4001-94c6-8ea41d8ff28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acdc271-6cfe-498f-9e0d-0eb73d4e100f" elementFormDefault="qualified">
    <xsd:import namespace="http://schemas.microsoft.com/office/2006/documentManagement/types"/>
    <xsd:import namespace="http://schemas.microsoft.com/office/infopath/2007/PartnerControls"/>
    <xsd:element name="SharedWithUsers" ma:index="19" nillable="true" ma:displayName="Partagé avec"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Partagé avec détails" ma:hidden="true" ma:internalName="SharedWithDetails" ma:readOnly="true">
      <xsd:simpleType>
        <xsd:restriction base="dms:Note"/>
      </xsd:simpleType>
    </xsd:element>
    <xsd:element name="TaxCatchAll" ma:index="23" nillable="true" ma:displayName="Taxonomy Catch All Column" ma:hidden="true" ma:list="{470b8d8a-162b-42bf-84f2-ac88428ab314}" ma:internalName="TaxCatchAll" ma:readOnly="false" ma:showField="CatchAllData" ma:web="4acdc271-6cfe-498f-9e0d-0eb73d4e10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Type de contenu"/>
        <xsd:element ref="dc:title" minOccurs="0" maxOccurs="1"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B79D517-EA02-4D29-A01F-DA1F21CE5E21}">
  <ds:schemaRefs>
    <ds:schemaRef ds:uri="http://schemas.microsoft.com/sharepoint/v3/contenttype/forms"/>
  </ds:schemaRefs>
</ds:datastoreItem>
</file>

<file path=customXml/itemProps2.xml><?xml version="1.0" encoding="utf-8"?>
<ds:datastoreItem xmlns:ds="http://schemas.openxmlformats.org/officeDocument/2006/customXml" ds:itemID="{6D4B38BE-0411-4A19-BE77-71694B755F26}">
  <ds:schemaRefs>
    <ds:schemaRef ds:uri="http://schemas.microsoft.com/office/2006/metadata/properties"/>
    <ds:schemaRef ds:uri="http://schemas.microsoft.com/office/infopath/2007/PartnerControls"/>
    <ds:schemaRef ds:uri="ec808c9e-e212-41d9-8681-bdf4d3553505"/>
    <ds:schemaRef ds:uri="4acdc271-6cfe-498f-9e0d-0eb73d4e100f"/>
  </ds:schemaRefs>
</ds:datastoreItem>
</file>

<file path=customXml/itemProps3.xml><?xml version="1.0" encoding="utf-8"?>
<ds:datastoreItem xmlns:ds="http://schemas.openxmlformats.org/officeDocument/2006/customXml" ds:itemID="{4EE52011-BCF6-4129-93CA-B47A558099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c808c9e-e212-41d9-8681-bdf4d3553505"/>
    <ds:schemaRef ds:uri="4acdc271-6cfe-498f-9e0d-0eb73d4e10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EPC 2018</Template>
  <TotalTime>0</TotalTime>
  <Words>2181</Words>
  <Application>Microsoft Office PowerPoint</Application>
  <PresentationFormat>Affichage à l'écran (16:9)</PresentationFormat>
  <Paragraphs>386</Paragraphs>
  <Slides>18</Slides>
  <Notes>0</Notes>
  <HiddenSlides>0</HiddenSlides>
  <MMClips>0</MMClips>
  <ScaleCrop>false</ScaleCrop>
  <HeadingPairs>
    <vt:vector size="6" baseType="variant">
      <vt:variant>
        <vt:lpstr>Polices utilisées</vt:lpstr>
      </vt:variant>
      <vt:variant>
        <vt:i4>7</vt:i4>
      </vt:variant>
      <vt:variant>
        <vt:lpstr>Thème</vt:lpstr>
      </vt:variant>
      <vt:variant>
        <vt:i4>3</vt:i4>
      </vt:variant>
      <vt:variant>
        <vt:lpstr>Titres des diapositives</vt:lpstr>
      </vt:variant>
      <vt:variant>
        <vt:i4>18</vt:i4>
      </vt:variant>
    </vt:vector>
  </HeadingPairs>
  <TitlesOfParts>
    <vt:vector size="28" baseType="lpstr">
      <vt:lpstr>Myriad Pro Cond</vt:lpstr>
      <vt:lpstr>Montserrat</vt:lpstr>
      <vt:lpstr>Arial</vt:lpstr>
      <vt:lpstr>Calibri</vt:lpstr>
      <vt:lpstr>Montserrat-Bold</vt:lpstr>
      <vt:lpstr>Montserrat-Regular</vt:lpstr>
      <vt:lpstr>Wingdings</vt:lpstr>
      <vt:lpstr>generique-titre presentation</vt:lpstr>
      <vt:lpstr>generique-titre de chapitre</vt:lpstr>
      <vt:lpstr>generique-contenu</vt:lpstr>
      <vt:lpstr>Création de la GED EPC2I</vt:lpstr>
      <vt:lpstr>Pourquoi ?</vt:lpstr>
      <vt:lpstr>Pourquoi ?</vt:lpstr>
      <vt:lpstr>Comment ?</vt:lpstr>
      <vt:lpstr>Comment ?</vt:lpstr>
      <vt:lpstr>Les étapes ?</vt:lpstr>
      <vt:lpstr>Les étapes ?</vt:lpstr>
      <vt:lpstr>Les étapes ?</vt:lpstr>
      <vt:lpstr>Les étapes ?</vt:lpstr>
      <vt:lpstr>L’usage</vt:lpstr>
      <vt:lpstr>L’usage</vt:lpstr>
      <vt:lpstr>Les métadonnées</vt:lpstr>
      <vt:lpstr>Les métadonnées</vt:lpstr>
      <vt:lpstr>Les métadonnées</vt:lpstr>
      <vt:lpstr>Les métadonnées</vt:lpstr>
      <vt:lpstr>Les métadonnées</vt:lpstr>
      <vt:lpstr>Les métadonnées</vt:lpstr>
      <vt:lpstr>Les métadonnées</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Dozolme Philippe</dc:creator>
  <cp:lastModifiedBy>GARRIGUE Guillaume</cp:lastModifiedBy>
  <cp:revision>92</cp:revision>
  <dcterms:created xsi:type="dcterms:W3CDTF">2018-01-19T12:51:23Z</dcterms:created>
  <dcterms:modified xsi:type="dcterms:W3CDTF">2026-04-14T12:24:43Z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0x010100BF3276FBF25D7A49B7D25B473F0D1C4F</vt:lpwstr>
  </property>
</Properties>
</file>